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5" r:id="rId2"/>
    <p:sldId id="259" r:id="rId3"/>
    <p:sldId id="266" r:id="rId4"/>
    <p:sldId id="257" r:id="rId5"/>
    <p:sldId id="260" r:id="rId6"/>
    <p:sldId id="261" r:id="rId7"/>
    <p:sldId id="270" r:id="rId8"/>
    <p:sldId id="271" r:id="rId9"/>
    <p:sldId id="262" r:id="rId10"/>
    <p:sldId id="272" r:id="rId11"/>
    <p:sldId id="285" r:id="rId12"/>
    <p:sldId id="276" r:id="rId13"/>
    <p:sldId id="274" r:id="rId14"/>
    <p:sldId id="273" r:id="rId15"/>
    <p:sldId id="263" r:id="rId16"/>
    <p:sldId id="258" r:id="rId17"/>
    <p:sldId id="269" r:id="rId18"/>
    <p:sldId id="275" r:id="rId19"/>
    <p:sldId id="277" r:id="rId20"/>
    <p:sldId id="278" r:id="rId21"/>
    <p:sldId id="279" r:id="rId22"/>
    <p:sldId id="281" r:id="rId23"/>
    <p:sldId id="280" r:id="rId24"/>
    <p:sldId id="282" r:id="rId25"/>
    <p:sldId id="283" r:id="rId26"/>
    <p:sldId id="284" r:id="rId27"/>
    <p:sldId id="287" r:id="rId28"/>
    <p:sldId id="286" r:id="rId29"/>
    <p:sldId id="288" r:id="rId30"/>
    <p:sldId id="289" r:id="rId31"/>
    <p:sldId id="264" r:id="rId32"/>
    <p:sldId id="267" r:id="rId33"/>
    <p:sldId id="268" r:id="rId34"/>
    <p:sldId id="290" r:id="rId35"/>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34" autoAdjust="0"/>
    <p:restoredTop sz="94660"/>
  </p:normalViewPr>
  <p:slideViewPr>
    <p:cSldViewPr snapToGrid="0">
      <p:cViewPr varScale="1">
        <p:scale>
          <a:sx n="94" d="100"/>
          <a:sy n="94" d="100"/>
        </p:scale>
        <p:origin x="96" y="6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0B4B53-31C4-4FAA-9FD8-BCFD3EF808BD}"/>
              </a:ext>
            </a:extLst>
          </p:cNvPr>
          <p:cNvSpPr>
            <a:spLocks noGrp="1"/>
          </p:cNvSpPr>
          <p:nvPr>
            <p:ph type="ctrTitle"/>
          </p:nvPr>
        </p:nvSpPr>
        <p:spPr>
          <a:xfrm>
            <a:off x="1524000" y="1122363"/>
            <a:ext cx="9144000" cy="2387600"/>
          </a:xfrm>
        </p:spPr>
        <p:txBody>
          <a:bodyPr anchor="b"/>
          <a:lstStyle>
            <a:lvl1pPr algn="ctr">
              <a:defRPr sz="6000"/>
            </a:lvl1pPr>
          </a:lstStyle>
          <a:p>
            <a:r>
              <a:rPr lang="pl-PL"/>
              <a:t>Kliknij, aby edytować styl</a:t>
            </a:r>
          </a:p>
        </p:txBody>
      </p:sp>
      <p:sp>
        <p:nvSpPr>
          <p:cNvPr id="3" name="Podtytuł 2">
            <a:extLst>
              <a:ext uri="{FF2B5EF4-FFF2-40B4-BE49-F238E27FC236}">
                <a16:creationId xmlns:a16="http://schemas.microsoft.com/office/drawing/2014/main" id="{C9DB8E8E-FEEE-4DEE-8D19-6CB268D7C48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l-PL"/>
              <a:t>Kliknij, aby edytować styl wzorca podtytułu</a:t>
            </a:r>
          </a:p>
        </p:txBody>
      </p:sp>
      <p:sp>
        <p:nvSpPr>
          <p:cNvPr id="4" name="Symbol zastępczy daty 3">
            <a:extLst>
              <a:ext uri="{FF2B5EF4-FFF2-40B4-BE49-F238E27FC236}">
                <a16:creationId xmlns:a16="http://schemas.microsoft.com/office/drawing/2014/main" id="{E4BA2367-45B9-4006-9557-91580960A934}"/>
              </a:ext>
            </a:extLst>
          </p:cNvPr>
          <p:cNvSpPr>
            <a:spLocks noGrp="1"/>
          </p:cNvSpPr>
          <p:nvPr>
            <p:ph type="dt" sz="half" idx="10"/>
          </p:nvPr>
        </p:nvSpPr>
        <p:spPr/>
        <p:txBody>
          <a:bodyPr/>
          <a:lstStyle/>
          <a:p>
            <a:fld id="{C58B34C6-E232-49A8-82BD-EBE327C00AFB}" type="datetimeFigureOut">
              <a:rPr lang="pl-PL" smtClean="0"/>
              <a:t>29.07.2025</a:t>
            </a:fld>
            <a:endParaRPr lang="pl-PL" dirty="0"/>
          </a:p>
        </p:txBody>
      </p:sp>
      <p:sp>
        <p:nvSpPr>
          <p:cNvPr id="5" name="Symbol zastępczy stopki 4">
            <a:extLst>
              <a:ext uri="{FF2B5EF4-FFF2-40B4-BE49-F238E27FC236}">
                <a16:creationId xmlns:a16="http://schemas.microsoft.com/office/drawing/2014/main" id="{410D2C45-774C-4837-BF97-E883B502FF81}"/>
              </a:ext>
            </a:extLst>
          </p:cNvPr>
          <p:cNvSpPr>
            <a:spLocks noGrp="1"/>
          </p:cNvSpPr>
          <p:nvPr>
            <p:ph type="ftr" sz="quarter" idx="11"/>
          </p:nvPr>
        </p:nvSpPr>
        <p:spPr/>
        <p:txBody>
          <a:bodyPr/>
          <a:lstStyle/>
          <a:p>
            <a:endParaRPr lang="pl-PL" dirty="0"/>
          </a:p>
        </p:txBody>
      </p:sp>
      <p:sp>
        <p:nvSpPr>
          <p:cNvPr id="6" name="Symbol zastępczy numeru slajdu 5">
            <a:extLst>
              <a:ext uri="{FF2B5EF4-FFF2-40B4-BE49-F238E27FC236}">
                <a16:creationId xmlns:a16="http://schemas.microsoft.com/office/drawing/2014/main" id="{E1FF4AE2-AABF-49CA-A388-51584B3A4E84}"/>
              </a:ext>
            </a:extLst>
          </p:cNvPr>
          <p:cNvSpPr>
            <a:spLocks noGrp="1"/>
          </p:cNvSpPr>
          <p:nvPr>
            <p:ph type="sldNum" sz="quarter" idx="12"/>
          </p:nvPr>
        </p:nvSpPr>
        <p:spPr/>
        <p:txBody>
          <a:bodyPr/>
          <a:lstStyle/>
          <a:p>
            <a:fld id="{33122ABB-4606-4DA3-B9D7-0A513173BFE3}" type="slidenum">
              <a:rPr lang="pl-PL" smtClean="0"/>
              <a:t>‹#›</a:t>
            </a:fld>
            <a:endParaRPr lang="pl-PL" dirty="0"/>
          </a:p>
        </p:txBody>
      </p:sp>
    </p:spTree>
    <p:extLst>
      <p:ext uri="{BB962C8B-B14F-4D97-AF65-F5344CB8AC3E}">
        <p14:creationId xmlns:p14="http://schemas.microsoft.com/office/powerpoint/2010/main" val="18452174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D43C096-C5CB-4F4A-991D-D9277A59B2FC}"/>
              </a:ext>
            </a:extLst>
          </p:cNvPr>
          <p:cNvSpPr>
            <a:spLocks noGrp="1"/>
          </p:cNvSpPr>
          <p:nvPr>
            <p:ph type="title"/>
          </p:nvPr>
        </p:nvSpPr>
        <p:spPr/>
        <p:txBody>
          <a:bodyPr/>
          <a:lstStyle/>
          <a:p>
            <a:r>
              <a:rPr lang="pl-PL"/>
              <a:t>Kliknij, aby edytować styl</a:t>
            </a:r>
          </a:p>
        </p:txBody>
      </p:sp>
      <p:sp>
        <p:nvSpPr>
          <p:cNvPr id="3" name="Symbol zastępczy zawartości 2">
            <a:extLst>
              <a:ext uri="{FF2B5EF4-FFF2-40B4-BE49-F238E27FC236}">
                <a16:creationId xmlns:a16="http://schemas.microsoft.com/office/drawing/2014/main" id="{75429A76-FAE6-44DA-92EB-A044C75E563D}"/>
              </a:ext>
            </a:extLst>
          </p:cNvPr>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359B8900-0D17-40F6-911D-45DC2FFD4D24}"/>
              </a:ext>
            </a:extLst>
          </p:cNvPr>
          <p:cNvSpPr>
            <a:spLocks noGrp="1"/>
          </p:cNvSpPr>
          <p:nvPr>
            <p:ph type="dt" sz="half" idx="10"/>
          </p:nvPr>
        </p:nvSpPr>
        <p:spPr/>
        <p:txBody>
          <a:bodyPr/>
          <a:lstStyle/>
          <a:p>
            <a:fld id="{C58B34C6-E232-49A8-82BD-EBE327C00AFB}" type="datetimeFigureOut">
              <a:rPr lang="pl-PL" smtClean="0"/>
              <a:t>29.07.2025</a:t>
            </a:fld>
            <a:endParaRPr lang="pl-PL" dirty="0"/>
          </a:p>
        </p:txBody>
      </p:sp>
      <p:sp>
        <p:nvSpPr>
          <p:cNvPr id="5" name="Symbol zastępczy stopki 4">
            <a:extLst>
              <a:ext uri="{FF2B5EF4-FFF2-40B4-BE49-F238E27FC236}">
                <a16:creationId xmlns:a16="http://schemas.microsoft.com/office/drawing/2014/main" id="{4ADE753F-9ABE-403F-9D15-B2FA6F33FEFE}"/>
              </a:ext>
            </a:extLst>
          </p:cNvPr>
          <p:cNvSpPr>
            <a:spLocks noGrp="1"/>
          </p:cNvSpPr>
          <p:nvPr>
            <p:ph type="ftr" sz="quarter" idx="11"/>
          </p:nvPr>
        </p:nvSpPr>
        <p:spPr/>
        <p:txBody>
          <a:bodyPr/>
          <a:lstStyle/>
          <a:p>
            <a:endParaRPr lang="pl-PL" dirty="0"/>
          </a:p>
        </p:txBody>
      </p:sp>
      <p:sp>
        <p:nvSpPr>
          <p:cNvPr id="6" name="Symbol zastępczy numeru slajdu 5">
            <a:extLst>
              <a:ext uri="{FF2B5EF4-FFF2-40B4-BE49-F238E27FC236}">
                <a16:creationId xmlns:a16="http://schemas.microsoft.com/office/drawing/2014/main" id="{5B58A4B0-623C-4A9D-A71A-B3E3578B000B}"/>
              </a:ext>
            </a:extLst>
          </p:cNvPr>
          <p:cNvSpPr>
            <a:spLocks noGrp="1"/>
          </p:cNvSpPr>
          <p:nvPr>
            <p:ph type="sldNum" sz="quarter" idx="12"/>
          </p:nvPr>
        </p:nvSpPr>
        <p:spPr/>
        <p:txBody>
          <a:bodyPr/>
          <a:lstStyle/>
          <a:p>
            <a:fld id="{33122ABB-4606-4DA3-B9D7-0A513173BFE3}" type="slidenum">
              <a:rPr lang="pl-PL" smtClean="0"/>
              <a:t>‹#›</a:t>
            </a:fld>
            <a:endParaRPr lang="pl-PL" dirty="0"/>
          </a:p>
        </p:txBody>
      </p:sp>
    </p:spTree>
    <p:extLst>
      <p:ext uri="{BB962C8B-B14F-4D97-AF65-F5344CB8AC3E}">
        <p14:creationId xmlns:p14="http://schemas.microsoft.com/office/powerpoint/2010/main" val="8454464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A1CF4F8-7C5A-4CF3-93D7-813CC3999092}"/>
              </a:ext>
            </a:extLst>
          </p:cNvPr>
          <p:cNvSpPr>
            <a:spLocks noGrp="1"/>
          </p:cNvSpPr>
          <p:nvPr>
            <p:ph type="title"/>
          </p:nvPr>
        </p:nvSpPr>
        <p:spPr>
          <a:xfrm>
            <a:off x="831850" y="1709738"/>
            <a:ext cx="10515600" cy="2852737"/>
          </a:xfrm>
        </p:spPr>
        <p:txBody>
          <a:bodyPr anchor="b"/>
          <a:lstStyle>
            <a:lvl1pPr>
              <a:defRPr sz="6000"/>
            </a:lvl1pPr>
          </a:lstStyle>
          <a:p>
            <a:r>
              <a:rPr lang="pl-PL"/>
              <a:t>Kliknij, aby edytować styl</a:t>
            </a:r>
          </a:p>
        </p:txBody>
      </p:sp>
      <p:sp>
        <p:nvSpPr>
          <p:cNvPr id="3" name="Symbol zastępczy tekstu 2">
            <a:extLst>
              <a:ext uri="{FF2B5EF4-FFF2-40B4-BE49-F238E27FC236}">
                <a16:creationId xmlns:a16="http://schemas.microsoft.com/office/drawing/2014/main" id="{3CDAADE8-A6C3-4107-800F-1F2D77A0E5B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l-PL"/>
              <a:t>Kliknij, aby edytować style wzorca tekstu</a:t>
            </a:r>
          </a:p>
        </p:txBody>
      </p:sp>
      <p:sp>
        <p:nvSpPr>
          <p:cNvPr id="4" name="Symbol zastępczy daty 3">
            <a:extLst>
              <a:ext uri="{FF2B5EF4-FFF2-40B4-BE49-F238E27FC236}">
                <a16:creationId xmlns:a16="http://schemas.microsoft.com/office/drawing/2014/main" id="{6717434F-D676-4E25-A1F7-EBEE52D07C9D}"/>
              </a:ext>
            </a:extLst>
          </p:cNvPr>
          <p:cNvSpPr>
            <a:spLocks noGrp="1"/>
          </p:cNvSpPr>
          <p:nvPr>
            <p:ph type="dt" sz="half" idx="10"/>
          </p:nvPr>
        </p:nvSpPr>
        <p:spPr/>
        <p:txBody>
          <a:bodyPr/>
          <a:lstStyle/>
          <a:p>
            <a:fld id="{C58B34C6-E232-49A8-82BD-EBE327C00AFB}" type="datetimeFigureOut">
              <a:rPr lang="pl-PL" smtClean="0"/>
              <a:t>29.07.2025</a:t>
            </a:fld>
            <a:endParaRPr lang="pl-PL" dirty="0"/>
          </a:p>
        </p:txBody>
      </p:sp>
      <p:sp>
        <p:nvSpPr>
          <p:cNvPr id="5" name="Symbol zastępczy stopki 4">
            <a:extLst>
              <a:ext uri="{FF2B5EF4-FFF2-40B4-BE49-F238E27FC236}">
                <a16:creationId xmlns:a16="http://schemas.microsoft.com/office/drawing/2014/main" id="{A70442D6-E976-43B5-9DC1-3DAEF03D7039}"/>
              </a:ext>
            </a:extLst>
          </p:cNvPr>
          <p:cNvSpPr>
            <a:spLocks noGrp="1"/>
          </p:cNvSpPr>
          <p:nvPr>
            <p:ph type="ftr" sz="quarter" idx="11"/>
          </p:nvPr>
        </p:nvSpPr>
        <p:spPr/>
        <p:txBody>
          <a:bodyPr/>
          <a:lstStyle/>
          <a:p>
            <a:endParaRPr lang="pl-PL" dirty="0"/>
          </a:p>
        </p:txBody>
      </p:sp>
      <p:sp>
        <p:nvSpPr>
          <p:cNvPr id="6" name="Symbol zastępczy numeru slajdu 5">
            <a:extLst>
              <a:ext uri="{FF2B5EF4-FFF2-40B4-BE49-F238E27FC236}">
                <a16:creationId xmlns:a16="http://schemas.microsoft.com/office/drawing/2014/main" id="{78777D5D-A3B3-43BB-963D-B872A6165D53}"/>
              </a:ext>
            </a:extLst>
          </p:cNvPr>
          <p:cNvSpPr>
            <a:spLocks noGrp="1"/>
          </p:cNvSpPr>
          <p:nvPr>
            <p:ph type="sldNum" sz="quarter" idx="12"/>
          </p:nvPr>
        </p:nvSpPr>
        <p:spPr/>
        <p:txBody>
          <a:bodyPr/>
          <a:lstStyle/>
          <a:p>
            <a:fld id="{33122ABB-4606-4DA3-B9D7-0A513173BFE3}" type="slidenum">
              <a:rPr lang="pl-PL" smtClean="0"/>
              <a:t>‹#›</a:t>
            </a:fld>
            <a:endParaRPr lang="pl-PL" dirty="0"/>
          </a:p>
        </p:txBody>
      </p:sp>
    </p:spTree>
    <p:extLst>
      <p:ext uri="{BB962C8B-B14F-4D97-AF65-F5344CB8AC3E}">
        <p14:creationId xmlns:p14="http://schemas.microsoft.com/office/powerpoint/2010/main" val="1805404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47BC8F5-2A49-49CA-903F-F24F5DC94A4C}"/>
              </a:ext>
            </a:extLst>
          </p:cNvPr>
          <p:cNvSpPr>
            <a:spLocks noGrp="1"/>
          </p:cNvSpPr>
          <p:nvPr>
            <p:ph type="title"/>
          </p:nvPr>
        </p:nvSpPr>
        <p:spPr/>
        <p:txBody>
          <a:bodyPr/>
          <a:lstStyle/>
          <a:p>
            <a:r>
              <a:rPr lang="pl-PL"/>
              <a:t>Kliknij, aby edytować styl</a:t>
            </a:r>
          </a:p>
        </p:txBody>
      </p:sp>
      <p:sp>
        <p:nvSpPr>
          <p:cNvPr id="3" name="Symbol zastępczy zawartości 2">
            <a:extLst>
              <a:ext uri="{FF2B5EF4-FFF2-40B4-BE49-F238E27FC236}">
                <a16:creationId xmlns:a16="http://schemas.microsoft.com/office/drawing/2014/main" id="{887CAA70-CD82-48AD-B17F-FEF81C4AF577}"/>
              </a:ext>
            </a:extLst>
          </p:cNvPr>
          <p:cNvSpPr>
            <a:spLocks noGrp="1"/>
          </p:cNvSpPr>
          <p:nvPr>
            <p:ph sz="half" idx="1"/>
          </p:nvPr>
        </p:nvSpPr>
        <p:spPr>
          <a:xfrm>
            <a:off x="838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a:extLst>
              <a:ext uri="{FF2B5EF4-FFF2-40B4-BE49-F238E27FC236}">
                <a16:creationId xmlns:a16="http://schemas.microsoft.com/office/drawing/2014/main" id="{10842AEE-E039-480B-8AB7-119574093A0D}"/>
              </a:ext>
            </a:extLst>
          </p:cNvPr>
          <p:cNvSpPr>
            <a:spLocks noGrp="1"/>
          </p:cNvSpPr>
          <p:nvPr>
            <p:ph sz="half" idx="2"/>
          </p:nvPr>
        </p:nvSpPr>
        <p:spPr>
          <a:xfrm>
            <a:off x="6172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daty 4">
            <a:extLst>
              <a:ext uri="{FF2B5EF4-FFF2-40B4-BE49-F238E27FC236}">
                <a16:creationId xmlns:a16="http://schemas.microsoft.com/office/drawing/2014/main" id="{801503ED-D907-445C-8182-EB814BC3AE2A}"/>
              </a:ext>
            </a:extLst>
          </p:cNvPr>
          <p:cNvSpPr>
            <a:spLocks noGrp="1"/>
          </p:cNvSpPr>
          <p:nvPr>
            <p:ph type="dt" sz="half" idx="10"/>
          </p:nvPr>
        </p:nvSpPr>
        <p:spPr/>
        <p:txBody>
          <a:bodyPr/>
          <a:lstStyle/>
          <a:p>
            <a:fld id="{C58B34C6-E232-49A8-82BD-EBE327C00AFB}" type="datetimeFigureOut">
              <a:rPr lang="pl-PL" smtClean="0"/>
              <a:t>29.07.2025</a:t>
            </a:fld>
            <a:endParaRPr lang="pl-PL" dirty="0"/>
          </a:p>
        </p:txBody>
      </p:sp>
      <p:sp>
        <p:nvSpPr>
          <p:cNvPr id="6" name="Symbol zastępczy stopki 5">
            <a:extLst>
              <a:ext uri="{FF2B5EF4-FFF2-40B4-BE49-F238E27FC236}">
                <a16:creationId xmlns:a16="http://schemas.microsoft.com/office/drawing/2014/main" id="{C9DD2CF6-E4EA-4913-95FD-BB8072E68AE9}"/>
              </a:ext>
            </a:extLst>
          </p:cNvPr>
          <p:cNvSpPr>
            <a:spLocks noGrp="1"/>
          </p:cNvSpPr>
          <p:nvPr>
            <p:ph type="ftr" sz="quarter" idx="11"/>
          </p:nvPr>
        </p:nvSpPr>
        <p:spPr/>
        <p:txBody>
          <a:bodyPr/>
          <a:lstStyle/>
          <a:p>
            <a:endParaRPr lang="pl-PL" dirty="0"/>
          </a:p>
        </p:txBody>
      </p:sp>
      <p:sp>
        <p:nvSpPr>
          <p:cNvPr id="7" name="Symbol zastępczy numeru slajdu 6">
            <a:extLst>
              <a:ext uri="{FF2B5EF4-FFF2-40B4-BE49-F238E27FC236}">
                <a16:creationId xmlns:a16="http://schemas.microsoft.com/office/drawing/2014/main" id="{E42F9594-B7D1-4DC3-9E8E-BFAC3DC149A0}"/>
              </a:ext>
            </a:extLst>
          </p:cNvPr>
          <p:cNvSpPr>
            <a:spLocks noGrp="1"/>
          </p:cNvSpPr>
          <p:nvPr>
            <p:ph type="sldNum" sz="quarter" idx="12"/>
          </p:nvPr>
        </p:nvSpPr>
        <p:spPr/>
        <p:txBody>
          <a:bodyPr/>
          <a:lstStyle/>
          <a:p>
            <a:fld id="{33122ABB-4606-4DA3-B9D7-0A513173BFE3}" type="slidenum">
              <a:rPr lang="pl-PL" smtClean="0"/>
              <a:t>‹#›</a:t>
            </a:fld>
            <a:endParaRPr lang="pl-PL" dirty="0"/>
          </a:p>
        </p:txBody>
      </p:sp>
    </p:spTree>
    <p:extLst>
      <p:ext uri="{BB962C8B-B14F-4D97-AF65-F5344CB8AC3E}">
        <p14:creationId xmlns:p14="http://schemas.microsoft.com/office/powerpoint/2010/main" val="6432913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BD6854B-7EE6-4077-B568-DE56D5EE0B6C}"/>
              </a:ext>
            </a:extLst>
          </p:cNvPr>
          <p:cNvSpPr>
            <a:spLocks noGrp="1"/>
          </p:cNvSpPr>
          <p:nvPr>
            <p:ph type="title"/>
          </p:nvPr>
        </p:nvSpPr>
        <p:spPr>
          <a:xfrm>
            <a:off x="839788" y="365125"/>
            <a:ext cx="10515600" cy="1325563"/>
          </a:xfrm>
        </p:spPr>
        <p:txBody>
          <a:bodyPr/>
          <a:lstStyle/>
          <a:p>
            <a:r>
              <a:rPr lang="pl-PL"/>
              <a:t>Kliknij, aby edytować styl</a:t>
            </a:r>
          </a:p>
        </p:txBody>
      </p:sp>
      <p:sp>
        <p:nvSpPr>
          <p:cNvPr id="3" name="Symbol zastępczy tekstu 2">
            <a:extLst>
              <a:ext uri="{FF2B5EF4-FFF2-40B4-BE49-F238E27FC236}">
                <a16:creationId xmlns:a16="http://schemas.microsoft.com/office/drawing/2014/main" id="{2987D601-710A-4804-B6C7-64F60E4B85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a:extLst>
              <a:ext uri="{FF2B5EF4-FFF2-40B4-BE49-F238E27FC236}">
                <a16:creationId xmlns:a16="http://schemas.microsoft.com/office/drawing/2014/main" id="{EB1F204F-AB71-415E-9B01-C1D9D6D59259}"/>
              </a:ext>
            </a:extLst>
          </p:cNvPr>
          <p:cNvSpPr>
            <a:spLocks noGrp="1"/>
          </p:cNvSpPr>
          <p:nvPr>
            <p:ph sz="half" idx="2"/>
          </p:nvPr>
        </p:nvSpPr>
        <p:spPr>
          <a:xfrm>
            <a:off x="839788" y="2505075"/>
            <a:ext cx="5157787"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a:extLst>
              <a:ext uri="{FF2B5EF4-FFF2-40B4-BE49-F238E27FC236}">
                <a16:creationId xmlns:a16="http://schemas.microsoft.com/office/drawing/2014/main" id="{E7B35BD2-B321-4543-A0AE-7E9223ACBE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a:extLst>
              <a:ext uri="{FF2B5EF4-FFF2-40B4-BE49-F238E27FC236}">
                <a16:creationId xmlns:a16="http://schemas.microsoft.com/office/drawing/2014/main" id="{F2C6CDE4-984B-4B4B-9713-59B1AD63E939}"/>
              </a:ext>
            </a:extLst>
          </p:cNvPr>
          <p:cNvSpPr>
            <a:spLocks noGrp="1"/>
          </p:cNvSpPr>
          <p:nvPr>
            <p:ph sz="quarter" idx="4"/>
          </p:nvPr>
        </p:nvSpPr>
        <p:spPr>
          <a:xfrm>
            <a:off x="6172200" y="2505075"/>
            <a:ext cx="5183188"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Symbol zastępczy daty 6">
            <a:extLst>
              <a:ext uri="{FF2B5EF4-FFF2-40B4-BE49-F238E27FC236}">
                <a16:creationId xmlns:a16="http://schemas.microsoft.com/office/drawing/2014/main" id="{12EA62E0-BF8A-4766-81B9-2BB13AC757C2}"/>
              </a:ext>
            </a:extLst>
          </p:cNvPr>
          <p:cNvSpPr>
            <a:spLocks noGrp="1"/>
          </p:cNvSpPr>
          <p:nvPr>
            <p:ph type="dt" sz="half" idx="10"/>
          </p:nvPr>
        </p:nvSpPr>
        <p:spPr/>
        <p:txBody>
          <a:bodyPr/>
          <a:lstStyle/>
          <a:p>
            <a:fld id="{C58B34C6-E232-49A8-82BD-EBE327C00AFB}" type="datetimeFigureOut">
              <a:rPr lang="pl-PL" smtClean="0"/>
              <a:t>29.07.2025</a:t>
            </a:fld>
            <a:endParaRPr lang="pl-PL" dirty="0"/>
          </a:p>
        </p:txBody>
      </p:sp>
      <p:sp>
        <p:nvSpPr>
          <p:cNvPr id="8" name="Symbol zastępczy stopki 7">
            <a:extLst>
              <a:ext uri="{FF2B5EF4-FFF2-40B4-BE49-F238E27FC236}">
                <a16:creationId xmlns:a16="http://schemas.microsoft.com/office/drawing/2014/main" id="{620AE80F-2D38-427B-B933-229248E465BD}"/>
              </a:ext>
            </a:extLst>
          </p:cNvPr>
          <p:cNvSpPr>
            <a:spLocks noGrp="1"/>
          </p:cNvSpPr>
          <p:nvPr>
            <p:ph type="ftr" sz="quarter" idx="11"/>
          </p:nvPr>
        </p:nvSpPr>
        <p:spPr/>
        <p:txBody>
          <a:bodyPr/>
          <a:lstStyle/>
          <a:p>
            <a:endParaRPr lang="pl-PL" dirty="0"/>
          </a:p>
        </p:txBody>
      </p:sp>
      <p:sp>
        <p:nvSpPr>
          <p:cNvPr id="9" name="Symbol zastępczy numeru slajdu 8">
            <a:extLst>
              <a:ext uri="{FF2B5EF4-FFF2-40B4-BE49-F238E27FC236}">
                <a16:creationId xmlns:a16="http://schemas.microsoft.com/office/drawing/2014/main" id="{94D3B66E-068B-4B3B-8DB9-EAE0CACD138C}"/>
              </a:ext>
            </a:extLst>
          </p:cNvPr>
          <p:cNvSpPr>
            <a:spLocks noGrp="1"/>
          </p:cNvSpPr>
          <p:nvPr>
            <p:ph type="sldNum" sz="quarter" idx="12"/>
          </p:nvPr>
        </p:nvSpPr>
        <p:spPr/>
        <p:txBody>
          <a:bodyPr/>
          <a:lstStyle/>
          <a:p>
            <a:fld id="{33122ABB-4606-4DA3-B9D7-0A513173BFE3}" type="slidenum">
              <a:rPr lang="pl-PL" smtClean="0"/>
              <a:t>‹#›</a:t>
            </a:fld>
            <a:endParaRPr lang="pl-PL" dirty="0"/>
          </a:p>
        </p:txBody>
      </p:sp>
    </p:spTree>
    <p:extLst>
      <p:ext uri="{BB962C8B-B14F-4D97-AF65-F5344CB8AC3E}">
        <p14:creationId xmlns:p14="http://schemas.microsoft.com/office/powerpoint/2010/main" val="1694862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1661A93-48E4-4DD3-B506-677207B6F870}"/>
              </a:ext>
            </a:extLst>
          </p:cNvPr>
          <p:cNvSpPr>
            <a:spLocks noGrp="1"/>
          </p:cNvSpPr>
          <p:nvPr>
            <p:ph type="title"/>
          </p:nvPr>
        </p:nvSpPr>
        <p:spPr/>
        <p:txBody>
          <a:bodyPr/>
          <a:lstStyle/>
          <a:p>
            <a:r>
              <a:rPr lang="pl-PL"/>
              <a:t>Kliknij, aby edytować styl</a:t>
            </a:r>
          </a:p>
        </p:txBody>
      </p:sp>
      <p:sp>
        <p:nvSpPr>
          <p:cNvPr id="3" name="Symbol zastępczy daty 2">
            <a:extLst>
              <a:ext uri="{FF2B5EF4-FFF2-40B4-BE49-F238E27FC236}">
                <a16:creationId xmlns:a16="http://schemas.microsoft.com/office/drawing/2014/main" id="{A3943CAC-C34E-4AB6-B037-CD3D649149E6}"/>
              </a:ext>
            </a:extLst>
          </p:cNvPr>
          <p:cNvSpPr>
            <a:spLocks noGrp="1"/>
          </p:cNvSpPr>
          <p:nvPr>
            <p:ph type="dt" sz="half" idx="10"/>
          </p:nvPr>
        </p:nvSpPr>
        <p:spPr/>
        <p:txBody>
          <a:bodyPr/>
          <a:lstStyle/>
          <a:p>
            <a:fld id="{C58B34C6-E232-49A8-82BD-EBE327C00AFB}" type="datetimeFigureOut">
              <a:rPr lang="pl-PL" smtClean="0"/>
              <a:t>29.07.2025</a:t>
            </a:fld>
            <a:endParaRPr lang="pl-PL" dirty="0"/>
          </a:p>
        </p:txBody>
      </p:sp>
      <p:sp>
        <p:nvSpPr>
          <p:cNvPr id="4" name="Symbol zastępczy stopki 3">
            <a:extLst>
              <a:ext uri="{FF2B5EF4-FFF2-40B4-BE49-F238E27FC236}">
                <a16:creationId xmlns:a16="http://schemas.microsoft.com/office/drawing/2014/main" id="{E875A375-9CD5-4194-A985-03872FDC1D9B}"/>
              </a:ext>
            </a:extLst>
          </p:cNvPr>
          <p:cNvSpPr>
            <a:spLocks noGrp="1"/>
          </p:cNvSpPr>
          <p:nvPr>
            <p:ph type="ftr" sz="quarter" idx="11"/>
          </p:nvPr>
        </p:nvSpPr>
        <p:spPr/>
        <p:txBody>
          <a:bodyPr/>
          <a:lstStyle/>
          <a:p>
            <a:endParaRPr lang="pl-PL" dirty="0"/>
          </a:p>
        </p:txBody>
      </p:sp>
      <p:sp>
        <p:nvSpPr>
          <p:cNvPr id="5" name="Symbol zastępczy numeru slajdu 4">
            <a:extLst>
              <a:ext uri="{FF2B5EF4-FFF2-40B4-BE49-F238E27FC236}">
                <a16:creationId xmlns:a16="http://schemas.microsoft.com/office/drawing/2014/main" id="{AC5FC55F-B5EC-428C-9DE2-EB88C624761D}"/>
              </a:ext>
            </a:extLst>
          </p:cNvPr>
          <p:cNvSpPr>
            <a:spLocks noGrp="1"/>
          </p:cNvSpPr>
          <p:nvPr>
            <p:ph type="sldNum" sz="quarter" idx="12"/>
          </p:nvPr>
        </p:nvSpPr>
        <p:spPr/>
        <p:txBody>
          <a:bodyPr/>
          <a:lstStyle/>
          <a:p>
            <a:fld id="{33122ABB-4606-4DA3-B9D7-0A513173BFE3}" type="slidenum">
              <a:rPr lang="pl-PL" smtClean="0"/>
              <a:t>‹#›</a:t>
            </a:fld>
            <a:endParaRPr lang="pl-PL" dirty="0"/>
          </a:p>
        </p:txBody>
      </p:sp>
    </p:spTree>
    <p:extLst>
      <p:ext uri="{BB962C8B-B14F-4D97-AF65-F5344CB8AC3E}">
        <p14:creationId xmlns:p14="http://schemas.microsoft.com/office/powerpoint/2010/main" val="32020749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a:extLst>
              <a:ext uri="{FF2B5EF4-FFF2-40B4-BE49-F238E27FC236}">
                <a16:creationId xmlns:a16="http://schemas.microsoft.com/office/drawing/2014/main" id="{2046D793-147A-4B76-9263-856501138ED9}"/>
              </a:ext>
            </a:extLst>
          </p:cNvPr>
          <p:cNvSpPr>
            <a:spLocks noGrp="1"/>
          </p:cNvSpPr>
          <p:nvPr>
            <p:ph type="dt" sz="half" idx="10"/>
          </p:nvPr>
        </p:nvSpPr>
        <p:spPr/>
        <p:txBody>
          <a:bodyPr/>
          <a:lstStyle/>
          <a:p>
            <a:fld id="{C58B34C6-E232-49A8-82BD-EBE327C00AFB}" type="datetimeFigureOut">
              <a:rPr lang="pl-PL" smtClean="0"/>
              <a:t>29.07.2025</a:t>
            </a:fld>
            <a:endParaRPr lang="pl-PL" dirty="0"/>
          </a:p>
        </p:txBody>
      </p:sp>
      <p:sp>
        <p:nvSpPr>
          <p:cNvPr id="3" name="Symbol zastępczy stopki 2">
            <a:extLst>
              <a:ext uri="{FF2B5EF4-FFF2-40B4-BE49-F238E27FC236}">
                <a16:creationId xmlns:a16="http://schemas.microsoft.com/office/drawing/2014/main" id="{9F27DD21-8504-49CC-950D-50895A879A7E}"/>
              </a:ext>
            </a:extLst>
          </p:cNvPr>
          <p:cNvSpPr>
            <a:spLocks noGrp="1"/>
          </p:cNvSpPr>
          <p:nvPr>
            <p:ph type="ftr" sz="quarter" idx="11"/>
          </p:nvPr>
        </p:nvSpPr>
        <p:spPr/>
        <p:txBody>
          <a:bodyPr/>
          <a:lstStyle/>
          <a:p>
            <a:endParaRPr lang="pl-PL" dirty="0"/>
          </a:p>
        </p:txBody>
      </p:sp>
      <p:sp>
        <p:nvSpPr>
          <p:cNvPr id="4" name="Symbol zastępczy numeru slajdu 3">
            <a:extLst>
              <a:ext uri="{FF2B5EF4-FFF2-40B4-BE49-F238E27FC236}">
                <a16:creationId xmlns:a16="http://schemas.microsoft.com/office/drawing/2014/main" id="{539E5C28-FB2D-4342-80D3-D0F6E9C675A2}"/>
              </a:ext>
            </a:extLst>
          </p:cNvPr>
          <p:cNvSpPr>
            <a:spLocks noGrp="1"/>
          </p:cNvSpPr>
          <p:nvPr>
            <p:ph type="sldNum" sz="quarter" idx="12"/>
          </p:nvPr>
        </p:nvSpPr>
        <p:spPr/>
        <p:txBody>
          <a:bodyPr/>
          <a:lstStyle/>
          <a:p>
            <a:fld id="{33122ABB-4606-4DA3-B9D7-0A513173BFE3}" type="slidenum">
              <a:rPr lang="pl-PL" smtClean="0"/>
              <a:t>‹#›</a:t>
            </a:fld>
            <a:endParaRPr lang="pl-PL" dirty="0"/>
          </a:p>
        </p:txBody>
      </p:sp>
    </p:spTree>
    <p:extLst>
      <p:ext uri="{BB962C8B-B14F-4D97-AF65-F5344CB8AC3E}">
        <p14:creationId xmlns:p14="http://schemas.microsoft.com/office/powerpoint/2010/main" val="9080407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94011D3-9D1A-476F-A865-7D1C566E05E4}"/>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p>
        </p:txBody>
      </p:sp>
      <p:sp>
        <p:nvSpPr>
          <p:cNvPr id="3" name="Symbol zastępczy zawartości 2">
            <a:extLst>
              <a:ext uri="{FF2B5EF4-FFF2-40B4-BE49-F238E27FC236}">
                <a16:creationId xmlns:a16="http://schemas.microsoft.com/office/drawing/2014/main" id="{6EFD0015-474D-4B53-B4D5-7540D99487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a:extLst>
              <a:ext uri="{FF2B5EF4-FFF2-40B4-BE49-F238E27FC236}">
                <a16:creationId xmlns:a16="http://schemas.microsoft.com/office/drawing/2014/main" id="{A2FDBA50-DD07-4276-86C2-2B2B0837E4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48ACC091-D60E-4240-84CF-C0C45274EE6E}"/>
              </a:ext>
            </a:extLst>
          </p:cNvPr>
          <p:cNvSpPr>
            <a:spLocks noGrp="1"/>
          </p:cNvSpPr>
          <p:nvPr>
            <p:ph type="dt" sz="half" idx="10"/>
          </p:nvPr>
        </p:nvSpPr>
        <p:spPr/>
        <p:txBody>
          <a:bodyPr/>
          <a:lstStyle/>
          <a:p>
            <a:fld id="{C58B34C6-E232-49A8-82BD-EBE327C00AFB}" type="datetimeFigureOut">
              <a:rPr lang="pl-PL" smtClean="0"/>
              <a:t>29.07.2025</a:t>
            </a:fld>
            <a:endParaRPr lang="pl-PL" dirty="0"/>
          </a:p>
        </p:txBody>
      </p:sp>
      <p:sp>
        <p:nvSpPr>
          <p:cNvPr id="6" name="Symbol zastępczy stopki 5">
            <a:extLst>
              <a:ext uri="{FF2B5EF4-FFF2-40B4-BE49-F238E27FC236}">
                <a16:creationId xmlns:a16="http://schemas.microsoft.com/office/drawing/2014/main" id="{04BD6F0B-228F-4511-9CB0-8C1382153204}"/>
              </a:ext>
            </a:extLst>
          </p:cNvPr>
          <p:cNvSpPr>
            <a:spLocks noGrp="1"/>
          </p:cNvSpPr>
          <p:nvPr>
            <p:ph type="ftr" sz="quarter" idx="11"/>
          </p:nvPr>
        </p:nvSpPr>
        <p:spPr/>
        <p:txBody>
          <a:bodyPr/>
          <a:lstStyle/>
          <a:p>
            <a:endParaRPr lang="pl-PL" dirty="0"/>
          </a:p>
        </p:txBody>
      </p:sp>
      <p:sp>
        <p:nvSpPr>
          <p:cNvPr id="7" name="Symbol zastępczy numeru slajdu 6">
            <a:extLst>
              <a:ext uri="{FF2B5EF4-FFF2-40B4-BE49-F238E27FC236}">
                <a16:creationId xmlns:a16="http://schemas.microsoft.com/office/drawing/2014/main" id="{7F041599-C229-41A7-AE45-13EC852D0C3C}"/>
              </a:ext>
            </a:extLst>
          </p:cNvPr>
          <p:cNvSpPr>
            <a:spLocks noGrp="1"/>
          </p:cNvSpPr>
          <p:nvPr>
            <p:ph type="sldNum" sz="quarter" idx="12"/>
          </p:nvPr>
        </p:nvSpPr>
        <p:spPr/>
        <p:txBody>
          <a:bodyPr/>
          <a:lstStyle/>
          <a:p>
            <a:fld id="{33122ABB-4606-4DA3-B9D7-0A513173BFE3}" type="slidenum">
              <a:rPr lang="pl-PL" smtClean="0"/>
              <a:t>‹#›</a:t>
            </a:fld>
            <a:endParaRPr lang="pl-PL" dirty="0"/>
          </a:p>
        </p:txBody>
      </p:sp>
    </p:spTree>
    <p:extLst>
      <p:ext uri="{BB962C8B-B14F-4D97-AF65-F5344CB8AC3E}">
        <p14:creationId xmlns:p14="http://schemas.microsoft.com/office/powerpoint/2010/main" val="3504361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9FB1B43-472A-4CF2-8E02-B371E85624FA}"/>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p>
        </p:txBody>
      </p:sp>
      <p:sp>
        <p:nvSpPr>
          <p:cNvPr id="3" name="Symbol zastępczy obrazu 2">
            <a:extLst>
              <a:ext uri="{FF2B5EF4-FFF2-40B4-BE49-F238E27FC236}">
                <a16:creationId xmlns:a16="http://schemas.microsoft.com/office/drawing/2014/main" id="{1701C93C-93AE-4C84-BE19-F2E2DFAC67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l-PL" dirty="0"/>
          </a:p>
        </p:txBody>
      </p:sp>
      <p:sp>
        <p:nvSpPr>
          <p:cNvPr id="4" name="Symbol zastępczy tekstu 3">
            <a:extLst>
              <a:ext uri="{FF2B5EF4-FFF2-40B4-BE49-F238E27FC236}">
                <a16:creationId xmlns:a16="http://schemas.microsoft.com/office/drawing/2014/main" id="{3C9A2E63-9483-47E3-8001-314642058B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9DA75929-1855-4C16-94B7-9326C20B7C25}"/>
              </a:ext>
            </a:extLst>
          </p:cNvPr>
          <p:cNvSpPr>
            <a:spLocks noGrp="1"/>
          </p:cNvSpPr>
          <p:nvPr>
            <p:ph type="dt" sz="half" idx="10"/>
          </p:nvPr>
        </p:nvSpPr>
        <p:spPr/>
        <p:txBody>
          <a:bodyPr/>
          <a:lstStyle/>
          <a:p>
            <a:fld id="{C58B34C6-E232-49A8-82BD-EBE327C00AFB}" type="datetimeFigureOut">
              <a:rPr lang="pl-PL" smtClean="0"/>
              <a:t>29.07.2025</a:t>
            </a:fld>
            <a:endParaRPr lang="pl-PL" dirty="0"/>
          </a:p>
        </p:txBody>
      </p:sp>
      <p:sp>
        <p:nvSpPr>
          <p:cNvPr id="6" name="Symbol zastępczy stopki 5">
            <a:extLst>
              <a:ext uri="{FF2B5EF4-FFF2-40B4-BE49-F238E27FC236}">
                <a16:creationId xmlns:a16="http://schemas.microsoft.com/office/drawing/2014/main" id="{46541D19-F9D3-44B9-A7F7-814E6576002F}"/>
              </a:ext>
            </a:extLst>
          </p:cNvPr>
          <p:cNvSpPr>
            <a:spLocks noGrp="1"/>
          </p:cNvSpPr>
          <p:nvPr>
            <p:ph type="ftr" sz="quarter" idx="11"/>
          </p:nvPr>
        </p:nvSpPr>
        <p:spPr/>
        <p:txBody>
          <a:bodyPr/>
          <a:lstStyle/>
          <a:p>
            <a:endParaRPr lang="pl-PL" dirty="0"/>
          </a:p>
        </p:txBody>
      </p:sp>
      <p:sp>
        <p:nvSpPr>
          <p:cNvPr id="7" name="Symbol zastępczy numeru slajdu 6">
            <a:extLst>
              <a:ext uri="{FF2B5EF4-FFF2-40B4-BE49-F238E27FC236}">
                <a16:creationId xmlns:a16="http://schemas.microsoft.com/office/drawing/2014/main" id="{BC5AD584-0ED2-45CB-AB07-3FD90CF9F091}"/>
              </a:ext>
            </a:extLst>
          </p:cNvPr>
          <p:cNvSpPr>
            <a:spLocks noGrp="1"/>
          </p:cNvSpPr>
          <p:nvPr>
            <p:ph type="sldNum" sz="quarter" idx="12"/>
          </p:nvPr>
        </p:nvSpPr>
        <p:spPr/>
        <p:txBody>
          <a:bodyPr/>
          <a:lstStyle/>
          <a:p>
            <a:fld id="{33122ABB-4606-4DA3-B9D7-0A513173BFE3}" type="slidenum">
              <a:rPr lang="pl-PL" smtClean="0"/>
              <a:t>‹#›</a:t>
            </a:fld>
            <a:endParaRPr lang="pl-PL" dirty="0"/>
          </a:p>
        </p:txBody>
      </p:sp>
    </p:spTree>
    <p:extLst>
      <p:ext uri="{BB962C8B-B14F-4D97-AF65-F5344CB8AC3E}">
        <p14:creationId xmlns:p14="http://schemas.microsoft.com/office/powerpoint/2010/main" val="4054618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8C1DABB-923C-404D-81E5-E43F2FD4DFC8}"/>
              </a:ext>
            </a:extLst>
          </p:cNvPr>
          <p:cNvSpPr>
            <a:spLocks noGrp="1"/>
          </p:cNvSpPr>
          <p:nvPr>
            <p:ph type="title"/>
          </p:nvPr>
        </p:nvSpPr>
        <p:spPr/>
        <p:txBody>
          <a:bodyPr/>
          <a:lstStyle/>
          <a:p>
            <a:r>
              <a:rPr lang="pl-PL"/>
              <a:t>Kliknij, aby edytować styl</a:t>
            </a:r>
          </a:p>
        </p:txBody>
      </p:sp>
      <p:sp>
        <p:nvSpPr>
          <p:cNvPr id="3" name="Symbol zastępczy tytułu pionowego 2">
            <a:extLst>
              <a:ext uri="{FF2B5EF4-FFF2-40B4-BE49-F238E27FC236}">
                <a16:creationId xmlns:a16="http://schemas.microsoft.com/office/drawing/2014/main" id="{F3101102-8883-4A99-848B-78001F9AC490}"/>
              </a:ext>
            </a:extLst>
          </p:cNvPr>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7A4F1BF2-88C6-4453-BD18-A2FA48DDDB27}"/>
              </a:ext>
            </a:extLst>
          </p:cNvPr>
          <p:cNvSpPr>
            <a:spLocks noGrp="1"/>
          </p:cNvSpPr>
          <p:nvPr>
            <p:ph type="dt" sz="half" idx="10"/>
          </p:nvPr>
        </p:nvSpPr>
        <p:spPr/>
        <p:txBody>
          <a:bodyPr/>
          <a:lstStyle/>
          <a:p>
            <a:fld id="{C58B34C6-E232-49A8-82BD-EBE327C00AFB}" type="datetimeFigureOut">
              <a:rPr lang="pl-PL" smtClean="0"/>
              <a:t>29.07.2025</a:t>
            </a:fld>
            <a:endParaRPr lang="pl-PL" dirty="0"/>
          </a:p>
        </p:txBody>
      </p:sp>
      <p:sp>
        <p:nvSpPr>
          <p:cNvPr id="5" name="Symbol zastępczy stopki 4">
            <a:extLst>
              <a:ext uri="{FF2B5EF4-FFF2-40B4-BE49-F238E27FC236}">
                <a16:creationId xmlns:a16="http://schemas.microsoft.com/office/drawing/2014/main" id="{D5DEF8CA-A7FA-47D6-87C9-338D5F368D73}"/>
              </a:ext>
            </a:extLst>
          </p:cNvPr>
          <p:cNvSpPr>
            <a:spLocks noGrp="1"/>
          </p:cNvSpPr>
          <p:nvPr>
            <p:ph type="ftr" sz="quarter" idx="11"/>
          </p:nvPr>
        </p:nvSpPr>
        <p:spPr/>
        <p:txBody>
          <a:bodyPr/>
          <a:lstStyle/>
          <a:p>
            <a:endParaRPr lang="pl-PL" dirty="0"/>
          </a:p>
        </p:txBody>
      </p:sp>
      <p:sp>
        <p:nvSpPr>
          <p:cNvPr id="6" name="Symbol zastępczy numeru slajdu 5">
            <a:extLst>
              <a:ext uri="{FF2B5EF4-FFF2-40B4-BE49-F238E27FC236}">
                <a16:creationId xmlns:a16="http://schemas.microsoft.com/office/drawing/2014/main" id="{FCCA6743-2031-4A73-8170-83457518C423}"/>
              </a:ext>
            </a:extLst>
          </p:cNvPr>
          <p:cNvSpPr>
            <a:spLocks noGrp="1"/>
          </p:cNvSpPr>
          <p:nvPr>
            <p:ph type="sldNum" sz="quarter" idx="12"/>
          </p:nvPr>
        </p:nvSpPr>
        <p:spPr/>
        <p:txBody>
          <a:bodyPr/>
          <a:lstStyle/>
          <a:p>
            <a:fld id="{33122ABB-4606-4DA3-B9D7-0A513173BFE3}" type="slidenum">
              <a:rPr lang="pl-PL" smtClean="0"/>
              <a:t>‹#›</a:t>
            </a:fld>
            <a:endParaRPr lang="pl-PL" dirty="0"/>
          </a:p>
        </p:txBody>
      </p:sp>
    </p:spTree>
    <p:extLst>
      <p:ext uri="{BB962C8B-B14F-4D97-AF65-F5344CB8AC3E}">
        <p14:creationId xmlns:p14="http://schemas.microsoft.com/office/powerpoint/2010/main" val="31821308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a:extLst>
              <a:ext uri="{FF2B5EF4-FFF2-40B4-BE49-F238E27FC236}">
                <a16:creationId xmlns:a16="http://schemas.microsoft.com/office/drawing/2014/main" id="{B5C8BE98-B97B-42B3-8B03-6006B1BAC6A9}"/>
              </a:ext>
            </a:extLst>
          </p:cNvPr>
          <p:cNvSpPr>
            <a:spLocks noGrp="1"/>
          </p:cNvSpPr>
          <p:nvPr>
            <p:ph type="title" orient="vert"/>
          </p:nvPr>
        </p:nvSpPr>
        <p:spPr>
          <a:xfrm>
            <a:off x="8724900" y="365125"/>
            <a:ext cx="2628900" cy="5811838"/>
          </a:xfrm>
        </p:spPr>
        <p:txBody>
          <a:bodyPr vert="eaVert"/>
          <a:lstStyle/>
          <a:p>
            <a:r>
              <a:rPr lang="pl-PL"/>
              <a:t>Kliknij, aby edytować styl</a:t>
            </a:r>
          </a:p>
        </p:txBody>
      </p:sp>
      <p:sp>
        <p:nvSpPr>
          <p:cNvPr id="3" name="Symbol zastępczy tytułu pionowego 2">
            <a:extLst>
              <a:ext uri="{FF2B5EF4-FFF2-40B4-BE49-F238E27FC236}">
                <a16:creationId xmlns:a16="http://schemas.microsoft.com/office/drawing/2014/main" id="{0AEDA031-B9D6-401F-A7AD-FF53C73B8EE2}"/>
              </a:ext>
            </a:extLst>
          </p:cNvPr>
          <p:cNvSpPr>
            <a:spLocks noGrp="1"/>
          </p:cNvSpPr>
          <p:nvPr>
            <p:ph type="body" orient="vert" idx="1"/>
          </p:nvPr>
        </p:nvSpPr>
        <p:spPr>
          <a:xfrm>
            <a:off x="838200" y="365125"/>
            <a:ext cx="7734300" cy="5811838"/>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09F961CF-AEDB-4C2E-AAA9-EF2D111BDCD9}"/>
              </a:ext>
            </a:extLst>
          </p:cNvPr>
          <p:cNvSpPr>
            <a:spLocks noGrp="1"/>
          </p:cNvSpPr>
          <p:nvPr>
            <p:ph type="dt" sz="half" idx="10"/>
          </p:nvPr>
        </p:nvSpPr>
        <p:spPr/>
        <p:txBody>
          <a:bodyPr/>
          <a:lstStyle/>
          <a:p>
            <a:fld id="{C58B34C6-E232-49A8-82BD-EBE327C00AFB}" type="datetimeFigureOut">
              <a:rPr lang="pl-PL" smtClean="0"/>
              <a:t>29.07.2025</a:t>
            </a:fld>
            <a:endParaRPr lang="pl-PL" dirty="0"/>
          </a:p>
        </p:txBody>
      </p:sp>
      <p:sp>
        <p:nvSpPr>
          <p:cNvPr id="5" name="Symbol zastępczy stopki 4">
            <a:extLst>
              <a:ext uri="{FF2B5EF4-FFF2-40B4-BE49-F238E27FC236}">
                <a16:creationId xmlns:a16="http://schemas.microsoft.com/office/drawing/2014/main" id="{C6AC6FEB-7633-4225-9C47-DD0F9887BA07}"/>
              </a:ext>
            </a:extLst>
          </p:cNvPr>
          <p:cNvSpPr>
            <a:spLocks noGrp="1"/>
          </p:cNvSpPr>
          <p:nvPr>
            <p:ph type="ftr" sz="quarter" idx="11"/>
          </p:nvPr>
        </p:nvSpPr>
        <p:spPr/>
        <p:txBody>
          <a:bodyPr/>
          <a:lstStyle/>
          <a:p>
            <a:endParaRPr lang="pl-PL" dirty="0"/>
          </a:p>
        </p:txBody>
      </p:sp>
      <p:sp>
        <p:nvSpPr>
          <p:cNvPr id="6" name="Symbol zastępczy numeru slajdu 5">
            <a:extLst>
              <a:ext uri="{FF2B5EF4-FFF2-40B4-BE49-F238E27FC236}">
                <a16:creationId xmlns:a16="http://schemas.microsoft.com/office/drawing/2014/main" id="{5B7A8FF4-23DB-4C6F-85C0-DFFD4AC2816B}"/>
              </a:ext>
            </a:extLst>
          </p:cNvPr>
          <p:cNvSpPr>
            <a:spLocks noGrp="1"/>
          </p:cNvSpPr>
          <p:nvPr>
            <p:ph type="sldNum" sz="quarter" idx="12"/>
          </p:nvPr>
        </p:nvSpPr>
        <p:spPr/>
        <p:txBody>
          <a:bodyPr/>
          <a:lstStyle/>
          <a:p>
            <a:fld id="{33122ABB-4606-4DA3-B9D7-0A513173BFE3}" type="slidenum">
              <a:rPr lang="pl-PL" smtClean="0"/>
              <a:t>‹#›</a:t>
            </a:fld>
            <a:endParaRPr lang="pl-PL" dirty="0"/>
          </a:p>
        </p:txBody>
      </p:sp>
    </p:spTree>
    <p:extLst>
      <p:ext uri="{BB962C8B-B14F-4D97-AF65-F5344CB8AC3E}">
        <p14:creationId xmlns:p14="http://schemas.microsoft.com/office/powerpoint/2010/main" val="20763405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tytułu 1">
            <a:extLst>
              <a:ext uri="{FF2B5EF4-FFF2-40B4-BE49-F238E27FC236}">
                <a16:creationId xmlns:a16="http://schemas.microsoft.com/office/drawing/2014/main" id="{7D39A184-3E93-41B0-B099-0E90581669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l-PL"/>
              <a:t>Kliknij, aby edytować styl</a:t>
            </a:r>
          </a:p>
        </p:txBody>
      </p:sp>
      <p:sp>
        <p:nvSpPr>
          <p:cNvPr id="3" name="Symbol zastępczy tekstu 2">
            <a:extLst>
              <a:ext uri="{FF2B5EF4-FFF2-40B4-BE49-F238E27FC236}">
                <a16:creationId xmlns:a16="http://schemas.microsoft.com/office/drawing/2014/main" id="{3CB4D14A-9531-4CBB-8D65-9FBB16551B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D6D0A507-F983-450A-9653-8E50B97976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8B34C6-E232-49A8-82BD-EBE327C00AFB}" type="datetimeFigureOut">
              <a:rPr lang="pl-PL" smtClean="0"/>
              <a:t>29.07.2025</a:t>
            </a:fld>
            <a:endParaRPr lang="pl-PL" dirty="0"/>
          </a:p>
        </p:txBody>
      </p:sp>
      <p:sp>
        <p:nvSpPr>
          <p:cNvPr id="5" name="Symbol zastępczy stopki 4">
            <a:extLst>
              <a:ext uri="{FF2B5EF4-FFF2-40B4-BE49-F238E27FC236}">
                <a16:creationId xmlns:a16="http://schemas.microsoft.com/office/drawing/2014/main" id="{ECE78DD8-130C-43DB-98B4-2BC23E796B7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l-PL" dirty="0"/>
          </a:p>
        </p:txBody>
      </p:sp>
      <p:sp>
        <p:nvSpPr>
          <p:cNvPr id="6" name="Symbol zastępczy numeru slajdu 5">
            <a:extLst>
              <a:ext uri="{FF2B5EF4-FFF2-40B4-BE49-F238E27FC236}">
                <a16:creationId xmlns:a16="http://schemas.microsoft.com/office/drawing/2014/main" id="{C33BD982-B07F-4DF6-BDB9-E0EFCC1D32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122ABB-4606-4DA3-B9D7-0A513173BFE3}" type="slidenum">
              <a:rPr lang="pl-PL" smtClean="0"/>
              <a:t>‹#›</a:t>
            </a:fld>
            <a:endParaRPr lang="pl-PL" dirty="0"/>
          </a:p>
        </p:txBody>
      </p:sp>
    </p:spTree>
    <p:extLst>
      <p:ext uri="{BB962C8B-B14F-4D97-AF65-F5344CB8AC3E}">
        <p14:creationId xmlns:p14="http://schemas.microsoft.com/office/powerpoint/2010/main" val="22676921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ytuł 1">
            <a:extLst>
              <a:ext uri="{FF2B5EF4-FFF2-40B4-BE49-F238E27FC236}">
                <a16:creationId xmlns:a16="http://schemas.microsoft.com/office/drawing/2014/main" id="{497475DF-14E5-4063-A814-641F64357193}"/>
              </a:ext>
            </a:extLst>
          </p:cNvPr>
          <p:cNvSpPr>
            <a:spLocks noGrp="1"/>
          </p:cNvSpPr>
          <p:nvPr>
            <p:ph type="title"/>
          </p:nvPr>
        </p:nvSpPr>
        <p:spPr>
          <a:xfrm>
            <a:off x="470019" y="252909"/>
            <a:ext cx="11177899" cy="6506813"/>
          </a:xfrm>
        </p:spPr>
        <p:txBody>
          <a:bodyPr>
            <a:normAutofit/>
          </a:bodyPr>
          <a:lstStyle/>
          <a:p>
            <a:pPr algn="ctr"/>
            <a:r>
              <a:rPr lang="pl-PL" sz="4400" b="1" i="0" u="none" strike="noStrike" dirty="0">
                <a:solidFill>
                  <a:srgbClr val="1B1C1D"/>
                </a:solidFill>
                <a:effectLst/>
                <a:latin typeface="Google Sans"/>
              </a:rPr>
              <a:t>AIDA – AI-</a:t>
            </a:r>
            <a:r>
              <a:rPr lang="pl-PL" sz="4400" b="1" i="0" u="none" strike="noStrike" dirty="0" err="1">
                <a:solidFill>
                  <a:srgbClr val="1B1C1D"/>
                </a:solidFill>
                <a:effectLst/>
                <a:latin typeface="Google Sans"/>
              </a:rPr>
              <a:t>Driven</a:t>
            </a:r>
            <a:r>
              <a:rPr lang="en-US" sz="4400" b="1" i="0" u="none" strike="noStrike" dirty="0">
                <a:solidFill>
                  <a:srgbClr val="1B1C1D"/>
                </a:solidFill>
                <a:effectLst/>
                <a:latin typeface="Google Sans"/>
              </a:rPr>
              <a:t> </a:t>
            </a:r>
            <a:r>
              <a:rPr lang="en-US" sz="4400" b="1" i="0" u="none" strike="noStrike" dirty="0" err="1">
                <a:solidFill>
                  <a:srgbClr val="1B1C1D"/>
                </a:solidFill>
                <a:effectLst/>
                <a:latin typeface="Google Sans"/>
              </a:rPr>
              <a:t>Analy</a:t>
            </a:r>
            <a:r>
              <a:rPr lang="pl-PL" sz="4400" b="1" i="0" u="none" strike="noStrike" dirty="0">
                <a:solidFill>
                  <a:srgbClr val="1B1C1D"/>
                </a:solidFill>
                <a:effectLst/>
                <a:latin typeface="Google Sans"/>
              </a:rPr>
              <a:t>zer</a:t>
            </a:r>
            <a:br>
              <a:rPr lang="pl-PL" sz="4400" b="1" i="0" u="none" strike="noStrike" dirty="0">
                <a:solidFill>
                  <a:srgbClr val="1B1C1D"/>
                </a:solidFill>
                <a:effectLst/>
                <a:latin typeface="Google Sans"/>
              </a:rPr>
            </a:br>
            <a:br>
              <a:rPr lang="pl-PL" sz="2800" i="1" u="none" strike="noStrike" dirty="0">
                <a:solidFill>
                  <a:srgbClr val="1B1C1D"/>
                </a:solidFill>
                <a:effectLst/>
                <a:latin typeface="Google Sans"/>
              </a:rPr>
            </a:br>
            <a:br>
              <a:rPr lang="pl-PL" sz="3200" i="1" u="none" strike="noStrike" dirty="0">
                <a:solidFill>
                  <a:srgbClr val="1B1C1D"/>
                </a:solidFill>
                <a:effectLst/>
                <a:latin typeface="Google Sans"/>
              </a:rPr>
            </a:br>
            <a:r>
              <a:rPr lang="pl-PL" sz="2800" b="1" u="none" strike="noStrike" dirty="0" err="1">
                <a:solidFill>
                  <a:srgbClr val="1B1C1D"/>
                </a:solidFill>
                <a:effectLst/>
                <a:latin typeface="Google Sans"/>
              </a:rPr>
              <a:t>Alternative</a:t>
            </a:r>
            <a:r>
              <a:rPr lang="pl-PL" sz="2800" b="1" u="none" strike="noStrike" dirty="0">
                <a:solidFill>
                  <a:srgbClr val="1B1C1D"/>
                </a:solidFill>
                <a:effectLst/>
                <a:latin typeface="Google Sans"/>
              </a:rPr>
              <a:t> </a:t>
            </a:r>
            <a:r>
              <a:rPr lang="pl-PL" sz="2800" b="1" u="none" strike="noStrike" dirty="0" err="1">
                <a:solidFill>
                  <a:srgbClr val="1B1C1D"/>
                </a:solidFill>
                <a:effectLst/>
                <a:latin typeface="Google Sans"/>
              </a:rPr>
              <a:t>titles</a:t>
            </a:r>
            <a:r>
              <a:rPr lang="pl-PL" sz="2800" b="1" u="none" strike="noStrike" dirty="0">
                <a:solidFill>
                  <a:srgbClr val="1B1C1D"/>
                </a:solidFill>
                <a:effectLst/>
                <a:latin typeface="Google Sans"/>
              </a:rPr>
              <a:t>:</a:t>
            </a:r>
            <a:br>
              <a:rPr lang="pl-PL" sz="2800" b="1" u="none" strike="noStrike" dirty="0">
                <a:solidFill>
                  <a:srgbClr val="1B1C1D"/>
                </a:solidFill>
                <a:effectLst/>
                <a:latin typeface="Google Sans"/>
              </a:rPr>
            </a:br>
            <a:r>
              <a:rPr lang="pl-PL" sz="2400" b="1" u="sng" strike="noStrike" dirty="0">
                <a:solidFill>
                  <a:srgbClr val="1B1C1D"/>
                </a:solidFill>
                <a:effectLst/>
              </a:rPr>
              <a:t>LORA</a:t>
            </a:r>
            <a:r>
              <a:rPr lang="pl-PL" sz="2400" b="1" u="none" strike="noStrike" dirty="0">
                <a:solidFill>
                  <a:srgbClr val="1B1C1D"/>
                </a:solidFill>
                <a:effectLst/>
              </a:rPr>
              <a:t> – LLM-</a:t>
            </a:r>
            <a:r>
              <a:rPr lang="pl-PL" sz="2400" b="1" u="none" strike="noStrike" dirty="0" err="1">
                <a:solidFill>
                  <a:srgbClr val="1B1C1D"/>
                </a:solidFill>
                <a:effectLst/>
              </a:rPr>
              <a:t>Orchestrated</a:t>
            </a:r>
            <a:r>
              <a:rPr lang="pl-PL" sz="2400" b="1" u="none" strike="noStrike" dirty="0">
                <a:solidFill>
                  <a:srgbClr val="1B1C1D"/>
                </a:solidFill>
                <a:effectLst/>
              </a:rPr>
              <a:t> </a:t>
            </a:r>
            <a:r>
              <a:rPr lang="pl-PL" sz="2400" b="1" u="none" strike="noStrike" dirty="0" err="1">
                <a:solidFill>
                  <a:srgbClr val="1B1C1D"/>
                </a:solidFill>
                <a:effectLst/>
              </a:rPr>
              <a:t>Research</a:t>
            </a:r>
            <a:r>
              <a:rPr lang="pl-PL" sz="2400" b="1" u="none" strike="noStrike" dirty="0">
                <a:solidFill>
                  <a:srgbClr val="1B1C1D"/>
                </a:solidFill>
                <a:effectLst/>
              </a:rPr>
              <a:t> Agent</a:t>
            </a:r>
            <a:br>
              <a:rPr lang="pl-PL" sz="2800" b="1" u="none" strike="noStrike" dirty="0">
                <a:solidFill>
                  <a:srgbClr val="1B1C1D"/>
                </a:solidFill>
                <a:effectLst/>
                <a:latin typeface="Google Sans"/>
              </a:rPr>
            </a:br>
            <a:r>
              <a:rPr lang="en-US" sz="2400" b="1" u="sng" strike="noStrike" dirty="0">
                <a:solidFill>
                  <a:srgbClr val="1B1C1D"/>
                </a:solidFill>
                <a:effectLst/>
              </a:rPr>
              <a:t>ALOHA</a:t>
            </a:r>
            <a:r>
              <a:rPr lang="en-US" sz="2400" b="1" u="none" strike="noStrike" dirty="0">
                <a:solidFill>
                  <a:srgbClr val="1B1C1D"/>
                </a:solidFill>
                <a:effectLst/>
              </a:rPr>
              <a:t> - Autonomous LRM-Orchestrated Heuristic Analyzer</a:t>
            </a:r>
            <a:br>
              <a:rPr lang="pl-PL" sz="2800" b="1" u="none" strike="noStrike" dirty="0">
                <a:solidFill>
                  <a:srgbClr val="1B1C1D"/>
                </a:solidFill>
                <a:effectLst/>
                <a:latin typeface="Google Sans"/>
              </a:rPr>
            </a:br>
            <a:r>
              <a:rPr lang="en-US" sz="2400" b="1" u="sng" dirty="0"/>
              <a:t>DUMBASS</a:t>
            </a:r>
            <a:r>
              <a:rPr lang="en-US" sz="2400" dirty="0"/>
              <a:t> – </a:t>
            </a:r>
            <a:r>
              <a:rPr lang="en-US" sz="2400" b="1" dirty="0"/>
              <a:t>Data Understanding &amp; Modeling By Autonomous Script Synthesizer</a:t>
            </a:r>
            <a:br>
              <a:rPr lang="pl-PL" sz="2400" i="1" dirty="0"/>
            </a:br>
            <a:r>
              <a:rPr lang="en-US" sz="2400" b="1" u="sng" dirty="0"/>
              <a:t>LOOPER</a:t>
            </a:r>
            <a:r>
              <a:rPr lang="en-US" sz="2400" b="1" dirty="0"/>
              <a:t> – L</a:t>
            </a:r>
            <a:r>
              <a:rPr lang="pl-PL" sz="2400" b="1" dirty="0"/>
              <a:t>R</a:t>
            </a:r>
            <a:r>
              <a:rPr lang="en-US" sz="2400" b="1" dirty="0"/>
              <a:t>M-Orchestrated Pipeline Execution and Refinement</a:t>
            </a:r>
            <a:br>
              <a:rPr lang="pl-PL" sz="2400" i="1" dirty="0"/>
            </a:br>
            <a:r>
              <a:rPr lang="en-US" sz="2400" b="1" u="sng" dirty="0"/>
              <a:t>TIDAL-WAVE</a:t>
            </a:r>
            <a:r>
              <a:rPr lang="en-US" sz="2400" b="1" dirty="0"/>
              <a:t> </a:t>
            </a:r>
            <a:r>
              <a:rPr lang="pl-PL" sz="2400" b="1" dirty="0"/>
              <a:t>- </a:t>
            </a:r>
            <a:r>
              <a:rPr lang="en-US" sz="2400" b="1" dirty="0"/>
              <a:t>The Iterative Data </a:t>
            </a:r>
            <a:r>
              <a:rPr lang="en-US" sz="2400" b="1" dirty="0" err="1"/>
              <a:t>Analys</a:t>
            </a:r>
            <a:r>
              <a:rPr lang="pl-PL" sz="2400" b="1" dirty="0" err="1"/>
              <a:t>is</a:t>
            </a:r>
            <a:r>
              <a:rPr lang="en-US" sz="2400" b="1" dirty="0"/>
              <a:t> Workflow </a:t>
            </a:r>
            <a:r>
              <a:rPr lang="pl-PL" sz="2400" b="1" dirty="0"/>
              <a:t>with</a:t>
            </a:r>
            <a:r>
              <a:rPr lang="en-US" sz="2400" b="1" dirty="0"/>
              <a:t> Automated Validation &amp; Evaluation</a:t>
            </a:r>
            <a:br>
              <a:rPr lang="pl-PL" sz="2400" b="1" dirty="0"/>
            </a:br>
            <a:r>
              <a:rPr lang="en-US" sz="2400" b="1" u="sng" dirty="0"/>
              <a:t>STUPID</a:t>
            </a:r>
            <a:r>
              <a:rPr lang="en-US" sz="2400" b="1" dirty="0"/>
              <a:t> – Self-Tuning Unsupervised Pipeline with Iterative Decisions</a:t>
            </a:r>
            <a:br>
              <a:rPr lang="pl-PL" sz="2400" b="1" dirty="0"/>
            </a:br>
            <a:r>
              <a:rPr lang="en-US" sz="2400" b="1" u="sng" dirty="0"/>
              <a:t>CRINGE</a:t>
            </a:r>
            <a:r>
              <a:rPr lang="en-US" sz="2400" b="1" dirty="0"/>
              <a:t> – Contextual Reasoning for Iterative Next-step Generation and Evaluation</a:t>
            </a:r>
            <a:endParaRPr lang="pl-PL" b="1" dirty="0"/>
          </a:p>
        </p:txBody>
      </p:sp>
    </p:spTree>
    <p:extLst>
      <p:ext uri="{BB962C8B-B14F-4D97-AF65-F5344CB8AC3E}">
        <p14:creationId xmlns:p14="http://schemas.microsoft.com/office/powerpoint/2010/main" val="325635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F854FB2-A59A-46D1-9FAD-88D3078A9B92}"/>
              </a:ext>
            </a:extLst>
          </p:cNvPr>
          <p:cNvSpPr>
            <a:spLocks noGrp="1"/>
          </p:cNvSpPr>
          <p:nvPr>
            <p:ph type="title"/>
          </p:nvPr>
        </p:nvSpPr>
        <p:spPr/>
        <p:txBody>
          <a:bodyPr>
            <a:normAutofit/>
          </a:bodyPr>
          <a:lstStyle/>
          <a:p>
            <a:pPr>
              <a:spcBef>
                <a:spcPts val="0"/>
              </a:spcBef>
              <a:spcAft>
                <a:spcPts val="600"/>
              </a:spcAft>
            </a:pPr>
            <a:r>
              <a:rPr lang="pl-PL" sz="4800" b="1" dirty="0">
                <a:solidFill>
                  <a:srgbClr val="1B1C1D"/>
                </a:solidFill>
                <a:latin typeface="Google Sans"/>
                <a:ea typeface="+mn-ea"/>
                <a:cs typeface="+mn-cs"/>
              </a:rPr>
              <a:t>Agenda</a:t>
            </a:r>
          </a:p>
        </p:txBody>
      </p:sp>
      <p:sp>
        <p:nvSpPr>
          <p:cNvPr id="3" name="Symbol zastępczy zawartości 2">
            <a:extLst>
              <a:ext uri="{FF2B5EF4-FFF2-40B4-BE49-F238E27FC236}">
                <a16:creationId xmlns:a16="http://schemas.microsoft.com/office/drawing/2014/main" id="{64F919BA-809A-4348-BEB4-8F417C5A64E7}"/>
              </a:ext>
            </a:extLst>
          </p:cNvPr>
          <p:cNvSpPr>
            <a:spLocks noGrp="1"/>
          </p:cNvSpPr>
          <p:nvPr>
            <p:ph idx="1"/>
          </p:nvPr>
        </p:nvSpPr>
        <p:spPr>
          <a:xfrm>
            <a:off x="838200" y="1609964"/>
            <a:ext cx="10515600" cy="4351338"/>
          </a:xfrm>
        </p:spPr>
        <p:txBody>
          <a:bodyPr>
            <a:normAutofit/>
          </a:bodyPr>
          <a:lstStyle/>
          <a:p>
            <a:r>
              <a:rPr lang="pl-PL" sz="3200" dirty="0" err="1"/>
              <a:t>Main</a:t>
            </a:r>
            <a:r>
              <a:rPr lang="pl-PL" sz="3200" dirty="0"/>
              <a:t> idea</a:t>
            </a:r>
          </a:p>
          <a:p>
            <a:r>
              <a:rPr lang="pl-PL" sz="3200" dirty="0"/>
              <a:t>System </a:t>
            </a:r>
            <a:r>
              <a:rPr lang="pl-PL" sz="3200" dirty="0" err="1"/>
              <a:t>architecture</a:t>
            </a:r>
            <a:endParaRPr lang="pl-PL" sz="3200" dirty="0"/>
          </a:p>
          <a:p>
            <a:r>
              <a:rPr lang="pl-PL" sz="3200" dirty="0"/>
              <a:t>In-</a:t>
            </a:r>
            <a:r>
              <a:rPr lang="pl-PL" sz="3200" dirty="0" err="1"/>
              <a:t>depth</a:t>
            </a:r>
            <a:r>
              <a:rPr lang="pl-PL" sz="3200" dirty="0"/>
              <a:t> </a:t>
            </a:r>
            <a:r>
              <a:rPr lang="pl-PL" sz="3200" dirty="0" err="1"/>
              <a:t>description</a:t>
            </a:r>
            <a:endParaRPr lang="pl-PL" sz="3200" dirty="0"/>
          </a:p>
          <a:p>
            <a:r>
              <a:rPr lang="pl-PL" sz="3200" dirty="0" err="1"/>
              <a:t>Flowchart</a:t>
            </a:r>
            <a:endParaRPr lang="pl-PL" sz="3200" dirty="0"/>
          </a:p>
          <a:p>
            <a:r>
              <a:rPr lang="pl-PL" sz="3200" dirty="0" err="1"/>
              <a:t>Research</a:t>
            </a:r>
            <a:r>
              <a:rPr lang="pl-PL" sz="3200" dirty="0"/>
              <a:t> plan</a:t>
            </a:r>
          </a:p>
          <a:p>
            <a:r>
              <a:rPr lang="pl-PL" sz="3200" dirty="0" err="1"/>
              <a:t>Challenges</a:t>
            </a:r>
            <a:endParaRPr lang="pl-PL" sz="3200" dirty="0"/>
          </a:p>
        </p:txBody>
      </p:sp>
    </p:spTree>
    <p:extLst>
      <p:ext uri="{BB962C8B-B14F-4D97-AF65-F5344CB8AC3E}">
        <p14:creationId xmlns:p14="http://schemas.microsoft.com/office/powerpoint/2010/main" val="27756344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F854FB2-A59A-46D1-9FAD-88D3078A9B92}"/>
              </a:ext>
            </a:extLst>
          </p:cNvPr>
          <p:cNvSpPr>
            <a:spLocks noGrp="1"/>
          </p:cNvSpPr>
          <p:nvPr>
            <p:ph type="title"/>
          </p:nvPr>
        </p:nvSpPr>
        <p:spPr/>
        <p:txBody>
          <a:bodyPr>
            <a:normAutofit/>
          </a:bodyPr>
          <a:lstStyle/>
          <a:p>
            <a:pPr>
              <a:spcBef>
                <a:spcPts val="0"/>
              </a:spcBef>
              <a:spcAft>
                <a:spcPts val="600"/>
              </a:spcAft>
            </a:pPr>
            <a:r>
              <a:rPr lang="pl-PL" sz="4800" b="1" dirty="0">
                <a:solidFill>
                  <a:srgbClr val="1B1C1D"/>
                </a:solidFill>
                <a:latin typeface="Google Sans"/>
                <a:ea typeface="+mn-ea"/>
                <a:cs typeface="+mn-cs"/>
              </a:rPr>
              <a:t>Main idea</a:t>
            </a:r>
          </a:p>
        </p:txBody>
      </p:sp>
      <p:sp>
        <p:nvSpPr>
          <p:cNvPr id="3" name="Symbol zastępczy zawartości 2">
            <a:extLst>
              <a:ext uri="{FF2B5EF4-FFF2-40B4-BE49-F238E27FC236}">
                <a16:creationId xmlns:a16="http://schemas.microsoft.com/office/drawing/2014/main" id="{64F919BA-809A-4348-BEB4-8F417C5A64E7}"/>
              </a:ext>
            </a:extLst>
          </p:cNvPr>
          <p:cNvSpPr>
            <a:spLocks noGrp="1"/>
          </p:cNvSpPr>
          <p:nvPr>
            <p:ph idx="1"/>
          </p:nvPr>
        </p:nvSpPr>
        <p:spPr>
          <a:xfrm>
            <a:off x="838200" y="1609964"/>
            <a:ext cx="10515600" cy="4351338"/>
          </a:xfrm>
        </p:spPr>
        <p:txBody>
          <a:bodyPr/>
          <a:lstStyle/>
          <a:p>
            <a:r>
              <a:rPr lang="pl-PL" dirty="0"/>
              <a:t>Algorithm design system orchestrated by a </a:t>
            </a:r>
            <a:r>
              <a:rPr lang="pl-PL" dirty="0" err="1"/>
              <a:t>reasoning</a:t>
            </a:r>
            <a:r>
              <a:rPr lang="pl-PL" dirty="0"/>
              <a:t> LLM (LRM).</a:t>
            </a:r>
          </a:p>
          <a:p>
            <a:r>
              <a:rPr lang="pl-PL" dirty="0"/>
              <a:t>LRM builds a data analysis script step by step </a:t>
            </a:r>
            <a:r>
              <a:rPr lang="pl-PL" dirty="0" err="1"/>
              <a:t>using</a:t>
            </a:r>
            <a:r>
              <a:rPr lang="pl-PL" dirty="0"/>
              <a:t> </a:t>
            </a:r>
            <a:r>
              <a:rPr lang="pl-PL" dirty="0" err="1"/>
              <a:t>our</a:t>
            </a:r>
            <a:r>
              <a:rPr lang="pl-PL" dirty="0"/>
              <a:t> tools or external libraries.</a:t>
            </a:r>
          </a:p>
          <a:p>
            <a:r>
              <a:rPr lang="pl-PL" dirty="0"/>
              <a:t>Each step is proposed, implemented and executed, and the result is evaluated using human-like judgement based on two approaches:</a:t>
            </a:r>
          </a:p>
          <a:p>
            <a:pPr lvl="1"/>
            <a:r>
              <a:rPr lang="pl-PL" dirty="0"/>
              <a:t>Visual evaluation of relevant figures,</a:t>
            </a:r>
          </a:p>
          <a:p>
            <a:pPr lvl="1"/>
            <a:r>
              <a:rPr lang="pl-PL" dirty="0"/>
              <a:t>Parameterization using statistics, features etc. </a:t>
            </a:r>
          </a:p>
          <a:p>
            <a:r>
              <a:rPr lang="pl-PL" dirty="0"/>
              <a:t>After each step, LRM decides if it was useful or not. If not, it is removed from the pipeline. If yes, it is retained and the next step is proposed. </a:t>
            </a:r>
          </a:p>
        </p:txBody>
      </p:sp>
    </p:spTree>
    <p:extLst>
      <p:ext uri="{BB962C8B-B14F-4D97-AF65-F5344CB8AC3E}">
        <p14:creationId xmlns:p14="http://schemas.microsoft.com/office/powerpoint/2010/main" val="829698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rostokąt 4">
            <a:extLst>
              <a:ext uri="{FF2B5EF4-FFF2-40B4-BE49-F238E27FC236}">
                <a16:creationId xmlns:a16="http://schemas.microsoft.com/office/drawing/2014/main" id="{6C025950-7EBF-4C42-B7A8-2748E02E8D96}"/>
              </a:ext>
            </a:extLst>
          </p:cNvPr>
          <p:cNvSpPr/>
          <p:nvPr/>
        </p:nvSpPr>
        <p:spPr>
          <a:xfrm>
            <a:off x="4584205" y="3142200"/>
            <a:ext cx="1809000" cy="58282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pl-PL" sz="2000" dirty="0"/>
              <a:t>LRM Reasoning Orchestrator</a:t>
            </a:r>
          </a:p>
        </p:txBody>
      </p:sp>
      <p:sp>
        <p:nvSpPr>
          <p:cNvPr id="6" name="Prostokąt 5">
            <a:extLst>
              <a:ext uri="{FF2B5EF4-FFF2-40B4-BE49-F238E27FC236}">
                <a16:creationId xmlns:a16="http://schemas.microsoft.com/office/drawing/2014/main" id="{0CF80E04-A42D-4D2C-87CD-5FF7A7200236}"/>
              </a:ext>
            </a:extLst>
          </p:cNvPr>
          <p:cNvSpPr/>
          <p:nvPr/>
        </p:nvSpPr>
        <p:spPr>
          <a:xfrm>
            <a:off x="3389141" y="1622386"/>
            <a:ext cx="1867057" cy="2989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sz="2000" dirty="0"/>
              <a:t>Knowledge base</a:t>
            </a:r>
          </a:p>
        </p:txBody>
      </p:sp>
      <p:sp>
        <p:nvSpPr>
          <p:cNvPr id="8" name="Prostokąt 7">
            <a:extLst>
              <a:ext uri="{FF2B5EF4-FFF2-40B4-BE49-F238E27FC236}">
                <a16:creationId xmlns:a16="http://schemas.microsoft.com/office/drawing/2014/main" id="{6A8B31AB-B552-42AF-AEF5-99A8B14641C5}"/>
              </a:ext>
            </a:extLst>
          </p:cNvPr>
          <p:cNvSpPr/>
          <p:nvPr/>
        </p:nvSpPr>
        <p:spPr>
          <a:xfrm>
            <a:off x="5463604" y="1618144"/>
            <a:ext cx="1507476" cy="3106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sz="2000" dirty="0"/>
              <a:t>Tool registry</a:t>
            </a:r>
          </a:p>
        </p:txBody>
      </p:sp>
      <p:sp>
        <p:nvSpPr>
          <p:cNvPr id="10" name="Prostokąt 9">
            <a:extLst>
              <a:ext uri="{FF2B5EF4-FFF2-40B4-BE49-F238E27FC236}">
                <a16:creationId xmlns:a16="http://schemas.microsoft.com/office/drawing/2014/main" id="{DFDD7643-E9B4-4ABF-9CFD-30B010E2C5C1}"/>
              </a:ext>
            </a:extLst>
          </p:cNvPr>
          <p:cNvSpPr/>
          <p:nvPr/>
        </p:nvSpPr>
        <p:spPr>
          <a:xfrm>
            <a:off x="6715706" y="4193766"/>
            <a:ext cx="1695858" cy="5828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dirty="0"/>
              <a:t>Data </a:t>
            </a:r>
            <a:r>
              <a:rPr lang="en-US" dirty="0"/>
              <a:t>processing</a:t>
            </a:r>
            <a:r>
              <a:rPr lang="pl-PL" dirty="0"/>
              <a:t> script</a:t>
            </a:r>
          </a:p>
        </p:txBody>
      </p:sp>
      <p:sp>
        <p:nvSpPr>
          <p:cNvPr id="14" name="Prostokąt 13">
            <a:extLst>
              <a:ext uri="{FF2B5EF4-FFF2-40B4-BE49-F238E27FC236}">
                <a16:creationId xmlns:a16="http://schemas.microsoft.com/office/drawing/2014/main" id="{A5B36775-3F52-4330-9240-4E3393E4BD2C}"/>
              </a:ext>
            </a:extLst>
          </p:cNvPr>
          <p:cNvSpPr/>
          <p:nvPr/>
        </p:nvSpPr>
        <p:spPr>
          <a:xfrm>
            <a:off x="4463097" y="4063261"/>
            <a:ext cx="2051216" cy="8327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Quantitative parameterization module</a:t>
            </a:r>
          </a:p>
        </p:txBody>
      </p:sp>
      <p:cxnSp>
        <p:nvCxnSpPr>
          <p:cNvPr id="18" name="Łącznik prosty ze strzałką 17">
            <a:extLst>
              <a:ext uri="{FF2B5EF4-FFF2-40B4-BE49-F238E27FC236}">
                <a16:creationId xmlns:a16="http://schemas.microsoft.com/office/drawing/2014/main" id="{1C007711-63BF-4E84-A0A1-B16004E3B271}"/>
              </a:ext>
            </a:extLst>
          </p:cNvPr>
          <p:cNvCxnSpPr>
            <a:cxnSpLocks/>
            <a:stCxn id="80" idx="2"/>
            <a:endCxn id="5" idx="1"/>
          </p:cNvCxnSpPr>
          <p:nvPr/>
        </p:nvCxnSpPr>
        <p:spPr>
          <a:xfrm flipV="1">
            <a:off x="2944883" y="3433614"/>
            <a:ext cx="1639322" cy="761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80" name="Równoległobok 79">
            <a:extLst>
              <a:ext uri="{FF2B5EF4-FFF2-40B4-BE49-F238E27FC236}">
                <a16:creationId xmlns:a16="http://schemas.microsoft.com/office/drawing/2014/main" id="{DAC9CECC-FB53-44B2-91C9-A1F2AA686AED}"/>
              </a:ext>
            </a:extLst>
          </p:cNvPr>
          <p:cNvSpPr/>
          <p:nvPr/>
        </p:nvSpPr>
        <p:spPr>
          <a:xfrm>
            <a:off x="1904570" y="3149810"/>
            <a:ext cx="1113166" cy="582827"/>
          </a:xfrm>
          <a:prstGeom prst="parallelogram">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sz="2000" dirty="0"/>
              <a:t>Input data</a:t>
            </a:r>
          </a:p>
        </p:txBody>
      </p:sp>
      <p:cxnSp>
        <p:nvCxnSpPr>
          <p:cNvPr id="161" name="Łącznik prosty ze strzałką 41">
            <a:extLst>
              <a:ext uri="{FF2B5EF4-FFF2-40B4-BE49-F238E27FC236}">
                <a16:creationId xmlns:a16="http://schemas.microsoft.com/office/drawing/2014/main" id="{EC74290A-2FDE-46F0-9657-3FE559B4B297}"/>
              </a:ext>
            </a:extLst>
          </p:cNvPr>
          <p:cNvCxnSpPr>
            <a:cxnSpLocks/>
            <a:stCxn id="6" idx="2"/>
            <a:endCxn id="33" idx="0"/>
          </p:cNvCxnSpPr>
          <p:nvPr/>
        </p:nvCxnSpPr>
        <p:spPr>
          <a:xfrm rot="16200000" flipH="1">
            <a:off x="4703754" y="1540212"/>
            <a:ext cx="403866" cy="1166035"/>
          </a:xfrm>
          <a:prstGeom prst="bent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2" name="Łącznik prosty ze strzałką 41">
            <a:extLst>
              <a:ext uri="{FF2B5EF4-FFF2-40B4-BE49-F238E27FC236}">
                <a16:creationId xmlns:a16="http://schemas.microsoft.com/office/drawing/2014/main" id="{74EBD585-FD19-45BC-A9F7-43A2D812112D}"/>
              </a:ext>
            </a:extLst>
          </p:cNvPr>
          <p:cNvCxnSpPr>
            <a:cxnSpLocks/>
            <a:stCxn id="8" idx="2"/>
            <a:endCxn id="33" idx="0"/>
          </p:cNvCxnSpPr>
          <p:nvPr/>
        </p:nvCxnSpPr>
        <p:spPr>
          <a:xfrm rot="5400000">
            <a:off x="5654839" y="1762660"/>
            <a:ext cx="396370" cy="728637"/>
          </a:xfrm>
          <a:prstGeom prst="bent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3" name="Prostokąt 32">
            <a:extLst>
              <a:ext uri="{FF2B5EF4-FFF2-40B4-BE49-F238E27FC236}">
                <a16:creationId xmlns:a16="http://schemas.microsoft.com/office/drawing/2014/main" id="{6D56D311-9FC7-4785-B736-9E4745F5F508}"/>
              </a:ext>
            </a:extLst>
          </p:cNvPr>
          <p:cNvSpPr/>
          <p:nvPr/>
        </p:nvSpPr>
        <p:spPr>
          <a:xfrm>
            <a:off x="5061428" y="2325163"/>
            <a:ext cx="854553" cy="5828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sz="2000" dirty="0"/>
              <a:t>RAG index</a:t>
            </a:r>
          </a:p>
        </p:txBody>
      </p:sp>
      <p:sp>
        <p:nvSpPr>
          <p:cNvPr id="34" name="Prostokąt 33">
            <a:extLst>
              <a:ext uri="{FF2B5EF4-FFF2-40B4-BE49-F238E27FC236}">
                <a16:creationId xmlns:a16="http://schemas.microsoft.com/office/drawing/2014/main" id="{0CB19740-0828-4A81-85B5-BBEFE3ACFF22}"/>
              </a:ext>
            </a:extLst>
          </p:cNvPr>
          <p:cNvSpPr/>
          <p:nvPr/>
        </p:nvSpPr>
        <p:spPr>
          <a:xfrm>
            <a:off x="3319097" y="2325163"/>
            <a:ext cx="1569839" cy="58282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pl-PL" sz="2000" dirty="0"/>
              <a:t>LRM </a:t>
            </a:r>
            <a:r>
              <a:rPr lang="pl-PL" sz="2000" dirty="0" err="1"/>
              <a:t>Domain</a:t>
            </a:r>
            <a:r>
              <a:rPr lang="pl-PL" sz="2000" dirty="0"/>
              <a:t> expert</a:t>
            </a:r>
          </a:p>
        </p:txBody>
      </p:sp>
      <p:cxnSp>
        <p:nvCxnSpPr>
          <p:cNvPr id="55" name="Łącznik prosty ze strzałką 41">
            <a:extLst>
              <a:ext uri="{FF2B5EF4-FFF2-40B4-BE49-F238E27FC236}">
                <a16:creationId xmlns:a16="http://schemas.microsoft.com/office/drawing/2014/main" id="{925BF647-EBAF-4227-93BA-4716F9208C23}"/>
              </a:ext>
            </a:extLst>
          </p:cNvPr>
          <p:cNvCxnSpPr>
            <a:cxnSpLocks/>
            <a:stCxn id="80" idx="2"/>
            <a:endCxn id="34" idx="1"/>
          </p:cNvCxnSpPr>
          <p:nvPr/>
        </p:nvCxnSpPr>
        <p:spPr>
          <a:xfrm flipV="1">
            <a:off x="2944883" y="2616577"/>
            <a:ext cx="374214" cy="824647"/>
          </a:xfrm>
          <a:prstGeom prst="bent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74" name="Łącznik prosty ze strzałką 41">
            <a:extLst>
              <a:ext uri="{FF2B5EF4-FFF2-40B4-BE49-F238E27FC236}">
                <a16:creationId xmlns:a16="http://schemas.microsoft.com/office/drawing/2014/main" id="{D2F377DF-5F64-45BF-B2C2-ACFD7F0DA8FE}"/>
              </a:ext>
            </a:extLst>
          </p:cNvPr>
          <p:cNvCxnSpPr>
            <a:cxnSpLocks/>
            <a:stCxn id="8" idx="2"/>
            <a:endCxn id="25" idx="0"/>
          </p:cNvCxnSpPr>
          <p:nvPr/>
        </p:nvCxnSpPr>
        <p:spPr>
          <a:xfrm rot="16200000" flipH="1">
            <a:off x="6281013" y="1865121"/>
            <a:ext cx="1218951" cy="1346293"/>
          </a:xfrm>
          <a:prstGeom prst="bent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11" name="pole tekstowe 110">
            <a:extLst>
              <a:ext uri="{FF2B5EF4-FFF2-40B4-BE49-F238E27FC236}">
                <a16:creationId xmlns:a16="http://schemas.microsoft.com/office/drawing/2014/main" id="{64FEF66C-83E9-4A22-B6E4-9E7B4386514E}"/>
              </a:ext>
            </a:extLst>
          </p:cNvPr>
          <p:cNvSpPr txBox="1"/>
          <p:nvPr/>
        </p:nvSpPr>
        <p:spPr>
          <a:xfrm>
            <a:off x="4542852" y="216333"/>
            <a:ext cx="3276600" cy="584775"/>
          </a:xfrm>
          <a:prstGeom prst="rect">
            <a:avLst/>
          </a:prstGeom>
          <a:noFill/>
        </p:spPr>
        <p:txBody>
          <a:bodyPr wrap="square" rtlCol="0">
            <a:spAutoFit/>
          </a:bodyPr>
          <a:lstStyle/>
          <a:p>
            <a:r>
              <a:rPr lang="pl-PL" sz="3200" dirty="0"/>
              <a:t>Architecture</a:t>
            </a:r>
          </a:p>
        </p:txBody>
      </p:sp>
      <p:cxnSp>
        <p:nvCxnSpPr>
          <p:cNvPr id="206" name="Łącznik prosty ze strzałką 41">
            <a:extLst>
              <a:ext uri="{FF2B5EF4-FFF2-40B4-BE49-F238E27FC236}">
                <a16:creationId xmlns:a16="http://schemas.microsoft.com/office/drawing/2014/main" id="{C4A06520-5F0F-4100-8049-5624570B79C4}"/>
              </a:ext>
            </a:extLst>
          </p:cNvPr>
          <p:cNvCxnSpPr>
            <a:cxnSpLocks/>
            <a:stCxn id="10" idx="0"/>
            <a:endCxn id="5" idx="2"/>
          </p:cNvCxnSpPr>
          <p:nvPr/>
        </p:nvCxnSpPr>
        <p:spPr>
          <a:xfrm rot="16200000" flipV="1">
            <a:off x="6291801" y="2921932"/>
            <a:ext cx="468739" cy="2074930"/>
          </a:xfrm>
          <a:prstGeom prst="bent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13" name="Łącznik prosty ze strzałką 212">
            <a:extLst>
              <a:ext uri="{FF2B5EF4-FFF2-40B4-BE49-F238E27FC236}">
                <a16:creationId xmlns:a16="http://schemas.microsoft.com/office/drawing/2014/main" id="{95CBE476-DD9A-46A2-A1A6-27A9D67F59D6}"/>
              </a:ext>
            </a:extLst>
          </p:cNvPr>
          <p:cNvCxnSpPr>
            <a:cxnSpLocks/>
            <a:stCxn id="5" idx="0"/>
            <a:endCxn id="33" idx="2"/>
          </p:cNvCxnSpPr>
          <p:nvPr/>
        </p:nvCxnSpPr>
        <p:spPr>
          <a:xfrm flipV="1">
            <a:off x="5488705" y="2907990"/>
            <a:ext cx="0" cy="23421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4" name="Łącznik prosty ze strzałką 43">
            <a:extLst>
              <a:ext uri="{FF2B5EF4-FFF2-40B4-BE49-F238E27FC236}">
                <a16:creationId xmlns:a16="http://schemas.microsoft.com/office/drawing/2014/main" id="{8ACEE5FE-C20E-4619-A313-25709A69A1BB}"/>
              </a:ext>
            </a:extLst>
          </p:cNvPr>
          <p:cNvCxnSpPr>
            <a:cxnSpLocks/>
            <a:stCxn id="34" idx="3"/>
            <a:endCxn id="33" idx="1"/>
          </p:cNvCxnSpPr>
          <p:nvPr/>
        </p:nvCxnSpPr>
        <p:spPr>
          <a:xfrm>
            <a:off x="4888936" y="2616577"/>
            <a:ext cx="172492"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5" name="Prostokąt 24">
            <a:extLst>
              <a:ext uri="{FF2B5EF4-FFF2-40B4-BE49-F238E27FC236}">
                <a16:creationId xmlns:a16="http://schemas.microsoft.com/office/drawing/2014/main" id="{E379D4FF-FDC3-4B4B-BCCC-7C7F423B3423}"/>
              </a:ext>
            </a:extLst>
          </p:cNvPr>
          <p:cNvSpPr/>
          <p:nvPr/>
        </p:nvSpPr>
        <p:spPr>
          <a:xfrm>
            <a:off x="6715706" y="3147744"/>
            <a:ext cx="1695858" cy="5828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dirty="0" err="1"/>
              <a:t>Sequence</a:t>
            </a:r>
            <a:r>
              <a:rPr lang="pl-PL" dirty="0"/>
              <a:t>-to-</a:t>
            </a:r>
            <a:r>
              <a:rPr lang="pl-PL" dirty="0" err="1"/>
              <a:t>script</a:t>
            </a:r>
            <a:r>
              <a:rPr lang="pl-PL" dirty="0"/>
              <a:t> translator</a:t>
            </a:r>
          </a:p>
        </p:txBody>
      </p:sp>
      <p:cxnSp>
        <p:nvCxnSpPr>
          <p:cNvPr id="35" name="Łącznik prosty ze strzałką 34">
            <a:extLst>
              <a:ext uri="{FF2B5EF4-FFF2-40B4-BE49-F238E27FC236}">
                <a16:creationId xmlns:a16="http://schemas.microsoft.com/office/drawing/2014/main" id="{8E3FA5FB-73DC-4457-9A49-1B05F6B0DB7B}"/>
              </a:ext>
            </a:extLst>
          </p:cNvPr>
          <p:cNvCxnSpPr>
            <a:cxnSpLocks/>
            <a:stCxn id="10" idx="1"/>
            <a:endCxn id="14" idx="3"/>
          </p:cNvCxnSpPr>
          <p:nvPr/>
        </p:nvCxnSpPr>
        <p:spPr>
          <a:xfrm flipH="1" flipV="1">
            <a:off x="6514313" y="4479636"/>
            <a:ext cx="201393" cy="554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8" name="Łącznik prosty ze strzałką 37">
            <a:extLst>
              <a:ext uri="{FF2B5EF4-FFF2-40B4-BE49-F238E27FC236}">
                <a16:creationId xmlns:a16="http://schemas.microsoft.com/office/drawing/2014/main" id="{4758273B-8AED-4DFC-A10D-C28446F4888C}"/>
              </a:ext>
            </a:extLst>
          </p:cNvPr>
          <p:cNvCxnSpPr>
            <a:cxnSpLocks/>
            <a:stCxn id="5" idx="3"/>
            <a:endCxn id="25" idx="1"/>
          </p:cNvCxnSpPr>
          <p:nvPr/>
        </p:nvCxnSpPr>
        <p:spPr>
          <a:xfrm>
            <a:off x="6393205" y="3433614"/>
            <a:ext cx="322501" cy="554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3" name="Łącznik prosty ze strzałką 42">
            <a:extLst>
              <a:ext uri="{FF2B5EF4-FFF2-40B4-BE49-F238E27FC236}">
                <a16:creationId xmlns:a16="http://schemas.microsoft.com/office/drawing/2014/main" id="{A3599F56-87C9-4380-A395-1753C6405AFC}"/>
              </a:ext>
            </a:extLst>
          </p:cNvPr>
          <p:cNvCxnSpPr>
            <a:cxnSpLocks/>
            <a:stCxn id="14" idx="0"/>
            <a:endCxn id="5" idx="2"/>
          </p:cNvCxnSpPr>
          <p:nvPr/>
        </p:nvCxnSpPr>
        <p:spPr>
          <a:xfrm flipV="1">
            <a:off x="5488705" y="3725027"/>
            <a:ext cx="0" cy="33823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1" name="Łącznik prosty ze strzałką 41">
            <a:extLst>
              <a:ext uri="{FF2B5EF4-FFF2-40B4-BE49-F238E27FC236}">
                <a16:creationId xmlns:a16="http://schemas.microsoft.com/office/drawing/2014/main" id="{2FEE5C76-65C5-4FC7-B1E5-0E5724B87922}"/>
              </a:ext>
            </a:extLst>
          </p:cNvPr>
          <p:cNvCxnSpPr>
            <a:cxnSpLocks/>
            <a:stCxn id="25" idx="3"/>
            <a:endCxn id="10" idx="3"/>
          </p:cNvCxnSpPr>
          <p:nvPr/>
        </p:nvCxnSpPr>
        <p:spPr>
          <a:xfrm>
            <a:off x="8411564" y="3439158"/>
            <a:ext cx="12700" cy="1046022"/>
          </a:xfrm>
          <a:prstGeom prst="bentConnector3">
            <a:avLst>
              <a:gd name="adj1" fmla="val 1800000"/>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72994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ole tekstowe 4">
            <a:extLst>
              <a:ext uri="{FF2B5EF4-FFF2-40B4-BE49-F238E27FC236}">
                <a16:creationId xmlns:a16="http://schemas.microsoft.com/office/drawing/2014/main" id="{D9BA5117-2E56-4296-891D-3BD2BB7AA4BA}"/>
              </a:ext>
            </a:extLst>
          </p:cNvPr>
          <p:cNvSpPr txBox="1"/>
          <p:nvPr/>
        </p:nvSpPr>
        <p:spPr>
          <a:xfrm>
            <a:off x="136733" y="151243"/>
            <a:ext cx="11844471" cy="5986254"/>
          </a:xfrm>
          <a:prstGeom prst="rect">
            <a:avLst/>
          </a:prstGeom>
          <a:noFill/>
        </p:spPr>
        <p:txBody>
          <a:bodyPr wrap="square">
            <a:spAutoFit/>
          </a:bodyPr>
          <a:lstStyle/>
          <a:p>
            <a:pPr algn="just" rtl="0">
              <a:spcBef>
                <a:spcPts val="0"/>
              </a:spcBef>
              <a:spcAft>
                <a:spcPts val="600"/>
              </a:spcAft>
            </a:pPr>
            <a:r>
              <a:rPr lang="en-US" sz="3200" b="1" i="0" u="none" strike="noStrike" dirty="0">
                <a:solidFill>
                  <a:srgbClr val="1B1C1D"/>
                </a:solidFill>
                <a:effectLst/>
                <a:latin typeface="Google Sans"/>
              </a:rPr>
              <a:t>Project Brief:</a:t>
            </a:r>
            <a:endParaRPr lang="en-US" sz="2000" b="1" dirty="0">
              <a:effectLst/>
            </a:endParaRPr>
          </a:p>
          <a:p>
            <a:pPr algn="just" rtl="0">
              <a:spcBef>
                <a:spcPts val="0"/>
              </a:spcBef>
              <a:spcAft>
                <a:spcPts val="600"/>
              </a:spcAft>
            </a:pPr>
            <a:r>
              <a:rPr lang="en-US" sz="2400" b="1" i="0" u="none" strike="noStrike" dirty="0">
                <a:solidFill>
                  <a:srgbClr val="1B1C1D"/>
                </a:solidFill>
                <a:effectLst/>
                <a:latin typeface="Google Sans"/>
              </a:rPr>
              <a:t>1. Project Vision &amp; Core Concept</a:t>
            </a:r>
            <a:endParaRPr lang="en-US" b="1" dirty="0">
              <a:effectLst/>
            </a:endParaRPr>
          </a:p>
          <a:p>
            <a:pPr algn="just" rtl="0">
              <a:spcBef>
                <a:spcPts val="0"/>
              </a:spcBef>
            </a:pPr>
            <a:r>
              <a:rPr lang="en-US" b="1" i="0" u="none" strike="noStrike" dirty="0">
                <a:solidFill>
                  <a:srgbClr val="1B1C1D"/>
                </a:solidFill>
                <a:effectLst/>
                <a:latin typeface="Google Sans Text"/>
              </a:rPr>
              <a:t>Goal:</a:t>
            </a:r>
            <a:r>
              <a:rPr lang="en-US" b="0" i="0" u="none" strike="noStrike" dirty="0">
                <a:solidFill>
                  <a:srgbClr val="1B1C1D"/>
                </a:solidFill>
                <a:effectLst/>
                <a:latin typeface="Google Sans Text"/>
              </a:rPr>
              <a:t> To develop a system that autonomously designs a data analysis pipeline.</a:t>
            </a:r>
            <a:endParaRPr lang="en-US" b="0" dirty="0">
              <a:effectLst/>
            </a:endParaRPr>
          </a:p>
          <a:p>
            <a:pPr algn="just" rtl="0">
              <a:spcBef>
                <a:spcPts val="0"/>
              </a:spcBef>
            </a:pPr>
            <a:r>
              <a:rPr lang="en-US" b="1" i="0" u="none" strike="noStrike" dirty="0">
                <a:solidFill>
                  <a:srgbClr val="1B1C1D"/>
                </a:solidFill>
                <a:effectLst/>
                <a:latin typeface="Google Sans Text"/>
              </a:rPr>
              <a:t>Core Concept:</a:t>
            </a:r>
            <a:r>
              <a:rPr lang="en-US" b="0" i="0" u="none" strike="noStrike" dirty="0">
                <a:solidFill>
                  <a:srgbClr val="1B1C1D"/>
                </a:solidFill>
                <a:effectLst/>
                <a:latin typeface="Google Sans Text"/>
              </a:rPr>
              <a:t> The system will be orchestrated by a Large </a:t>
            </a:r>
            <a:r>
              <a:rPr lang="pl-PL" b="0" i="0" u="none" strike="noStrike" dirty="0" err="1">
                <a:solidFill>
                  <a:srgbClr val="1B1C1D"/>
                </a:solidFill>
                <a:effectLst/>
                <a:latin typeface="Google Sans Text"/>
              </a:rPr>
              <a:t>Reasoning</a:t>
            </a:r>
            <a:r>
              <a:rPr lang="en-US" b="0" i="0" u="none" strike="noStrike" dirty="0">
                <a:solidFill>
                  <a:srgbClr val="1B1C1D"/>
                </a:solidFill>
                <a:effectLst/>
                <a:latin typeface="Google Sans Text"/>
              </a:rPr>
              <a:t> Model (L</a:t>
            </a:r>
            <a:r>
              <a:rPr lang="pl-PL" b="0" i="0" u="none" strike="noStrike" dirty="0">
                <a:solidFill>
                  <a:srgbClr val="1B1C1D"/>
                </a:solidFill>
                <a:effectLst/>
                <a:latin typeface="Google Sans Text"/>
              </a:rPr>
              <a:t>R</a:t>
            </a:r>
            <a:r>
              <a:rPr lang="en-US" b="0" i="0" u="none" strike="noStrike" dirty="0">
                <a:solidFill>
                  <a:srgbClr val="1B1C1D"/>
                </a:solidFill>
                <a:effectLst/>
                <a:latin typeface="Google Sans Text"/>
              </a:rPr>
              <a:t>M). Instead of a human manually selecting tools and parameters, the L</a:t>
            </a:r>
            <a:r>
              <a:rPr lang="pl-PL" b="0" i="0" u="none" strike="noStrike" dirty="0">
                <a:solidFill>
                  <a:srgbClr val="1B1C1D"/>
                </a:solidFill>
                <a:effectLst/>
                <a:latin typeface="Google Sans Text"/>
              </a:rPr>
              <a:t>R</a:t>
            </a:r>
            <a:r>
              <a:rPr lang="en-US" b="0" i="0" u="none" strike="noStrike" dirty="0">
                <a:solidFill>
                  <a:srgbClr val="1B1C1D"/>
                </a:solidFill>
                <a:effectLst/>
                <a:latin typeface="Google Sans Text"/>
              </a:rPr>
              <a:t>M will iteratively plan, execute, and evaluate analysis steps to achieve a user-defined objective. The final output is a complete, validated data processing script.</a:t>
            </a:r>
            <a:endParaRPr lang="pl-PL" b="0" i="0" u="none" strike="noStrike" dirty="0">
              <a:solidFill>
                <a:srgbClr val="1B1C1D"/>
              </a:solidFill>
              <a:effectLst/>
              <a:latin typeface="Google Sans Text"/>
            </a:endParaRPr>
          </a:p>
          <a:p>
            <a:pPr algn="just" rtl="0">
              <a:spcBef>
                <a:spcPts val="0"/>
              </a:spcBef>
            </a:pPr>
            <a:endParaRPr lang="en-US" b="0" dirty="0">
              <a:effectLst/>
            </a:endParaRPr>
          </a:p>
          <a:p>
            <a:pPr algn="just" rtl="0">
              <a:spcBef>
                <a:spcPts val="0"/>
              </a:spcBef>
              <a:spcAft>
                <a:spcPts val="600"/>
              </a:spcAft>
            </a:pPr>
            <a:r>
              <a:rPr lang="en-US" sz="2400" b="1" i="0" u="none" strike="noStrike" dirty="0">
                <a:solidFill>
                  <a:srgbClr val="1B1C1D"/>
                </a:solidFill>
                <a:effectLst/>
                <a:latin typeface="Google Sans"/>
              </a:rPr>
              <a:t>2. Key Technologies &amp; Models</a:t>
            </a:r>
            <a:endParaRPr lang="en-US" b="1" dirty="0">
              <a:effectLst/>
            </a:endParaRPr>
          </a:p>
          <a:p>
            <a:pPr marL="180975" indent="-180975" algn="just" rtl="0" fontAlgn="base">
              <a:spcBef>
                <a:spcPts val="0"/>
              </a:spcBef>
              <a:spcAft>
                <a:spcPts val="0"/>
              </a:spcAft>
              <a:buFont typeface="Arial" panose="020B0604020202020204" pitchFamily="34" charset="0"/>
              <a:buChar char="•"/>
            </a:pPr>
            <a:r>
              <a:rPr lang="en-US" b="1" i="0" u="none" strike="noStrike" dirty="0">
                <a:solidFill>
                  <a:srgbClr val="1B1C1D"/>
                </a:solidFill>
                <a:effectLst/>
                <a:latin typeface="Google Sans Text"/>
              </a:rPr>
              <a:t>L</a:t>
            </a:r>
            <a:r>
              <a:rPr lang="pl-PL" b="1" i="0" u="none" strike="noStrike" dirty="0">
                <a:solidFill>
                  <a:srgbClr val="1B1C1D"/>
                </a:solidFill>
                <a:effectLst/>
                <a:latin typeface="Google Sans Text"/>
              </a:rPr>
              <a:t>R</a:t>
            </a:r>
            <a:r>
              <a:rPr lang="en-US" b="1" i="0" u="none" strike="noStrike" dirty="0">
                <a:solidFill>
                  <a:srgbClr val="1B1C1D"/>
                </a:solidFill>
                <a:effectLst/>
                <a:latin typeface="Google Sans Text"/>
              </a:rPr>
              <a:t>M:</a:t>
            </a:r>
            <a:r>
              <a:rPr lang="en-US" b="0" i="0" u="none" strike="noStrike" dirty="0">
                <a:solidFill>
                  <a:srgbClr val="1B1C1D"/>
                </a:solidFill>
                <a:effectLst/>
                <a:latin typeface="Google Sans Text"/>
              </a:rPr>
              <a:t> Google Gemini </a:t>
            </a:r>
            <a:r>
              <a:rPr lang="pl-PL" b="0" i="0" u="none" strike="noStrike" dirty="0">
                <a:solidFill>
                  <a:srgbClr val="1B1C1D"/>
                </a:solidFill>
                <a:effectLst/>
                <a:latin typeface="Google Sans Text"/>
              </a:rPr>
              <a:t>2</a:t>
            </a:r>
            <a:r>
              <a:rPr lang="en-US" b="0" i="0" u="none" strike="noStrike" dirty="0">
                <a:solidFill>
                  <a:srgbClr val="1B1C1D"/>
                </a:solidFill>
                <a:effectLst/>
                <a:latin typeface="Google Sans Text"/>
              </a:rPr>
              <a:t>.</a:t>
            </a:r>
            <a:r>
              <a:rPr lang="pl-PL" b="0" i="0" u="none" strike="noStrike" dirty="0">
                <a:solidFill>
                  <a:srgbClr val="1B1C1D"/>
                </a:solidFill>
                <a:effectLst/>
                <a:latin typeface="Google Sans Text"/>
              </a:rPr>
              <a:t>0 / 2.5</a:t>
            </a:r>
            <a:r>
              <a:rPr lang="en-US" b="0" i="0" u="none" strike="noStrike" dirty="0">
                <a:solidFill>
                  <a:srgbClr val="1B1C1D"/>
                </a:solidFill>
                <a:effectLst/>
                <a:latin typeface="Google Sans Text"/>
              </a:rPr>
              <a:t> Flash </a:t>
            </a:r>
            <a:r>
              <a:rPr lang="pl-PL" b="0" i="0" u="none" strike="noStrike" dirty="0" err="1">
                <a:solidFill>
                  <a:srgbClr val="1B1C1D"/>
                </a:solidFill>
                <a:effectLst/>
                <a:latin typeface="Google Sans Text"/>
              </a:rPr>
              <a:t>authenticated</a:t>
            </a:r>
            <a:r>
              <a:rPr lang="pl-PL" b="0" i="0" u="none" strike="noStrike" dirty="0">
                <a:solidFill>
                  <a:srgbClr val="1B1C1D"/>
                </a:solidFill>
                <a:effectLst/>
                <a:latin typeface="Google Sans Text"/>
              </a:rPr>
              <a:t> </a:t>
            </a:r>
            <a:r>
              <a:rPr lang="pl-PL" b="0" i="0" u="none" strike="noStrike" dirty="0" err="1">
                <a:solidFill>
                  <a:srgbClr val="1B1C1D"/>
                </a:solidFill>
                <a:effectLst/>
                <a:latin typeface="Google Sans Text"/>
              </a:rPr>
              <a:t>using</a:t>
            </a:r>
            <a:r>
              <a:rPr lang="pl-PL" b="0" i="0" u="none" strike="noStrike" dirty="0">
                <a:solidFill>
                  <a:srgbClr val="1B1C1D"/>
                </a:solidFill>
                <a:effectLst/>
                <a:latin typeface="Google Sans Text"/>
              </a:rPr>
              <a:t> </a:t>
            </a:r>
            <a:r>
              <a:rPr lang="pl-PL" b="0" i="0" u="none" strike="noStrike" dirty="0" err="1">
                <a:solidFill>
                  <a:srgbClr val="1B1C1D"/>
                </a:solidFill>
                <a:effectLst/>
                <a:latin typeface="Google Sans Text"/>
              </a:rPr>
              <a:t>Gemini</a:t>
            </a:r>
            <a:r>
              <a:rPr lang="pl-PL" b="0" i="0" u="none" strike="noStrike" dirty="0">
                <a:solidFill>
                  <a:srgbClr val="1B1C1D"/>
                </a:solidFill>
                <a:effectLst/>
                <a:latin typeface="Google Sans Text"/>
              </a:rPr>
              <a:t> CLI (no API </a:t>
            </a:r>
            <a:r>
              <a:rPr lang="pl-PL" b="0" i="0" u="none" strike="noStrike" dirty="0" err="1">
                <a:solidFill>
                  <a:srgbClr val="1B1C1D"/>
                </a:solidFill>
                <a:effectLst/>
                <a:latin typeface="Google Sans Text"/>
              </a:rPr>
              <a:t>key</a:t>
            </a:r>
            <a:r>
              <a:rPr lang="pl-PL" b="0" i="0" u="none" strike="noStrike" dirty="0">
                <a:solidFill>
                  <a:srgbClr val="1B1C1D"/>
                </a:solidFill>
                <a:effectLst/>
                <a:latin typeface="Google Sans Text"/>
              </a:rPr>
              <a:t>) for </a:t>
            </a:r>
            <a:r>
              <a:rPr lang="pl-PL" b="0" i="0" u="none" strike="noStrike" dirty="0" err="1">
                <a:solidFill>
                  <a:srgbClr val="1B1C1D"/>
                </a:solidFill>
                <a:effectLst/>
                <a:latin typeface="Google Sans Text"/>
              </a:rPr>
              <a:t>higher</a:t>
            </a:r>
            <a:r>
              <a:rPr lang="pl-PL" b="0" i="0" u="none" strike="noStrike" dirty="0">
                <a:solidFill>
                  <a:srgbClr val="1B1C1D"/>
                </a:solidFill>
                <a:effectLst/>
                <a:latin typeface="Google Sans Text"/>
              </a:rPr>
              <a:t> </a:t>
            </a:r>
            <a:r>
              <a:rPr lang="pl-PL" b="0" i="0" u="none" strike="noStrike" dirty="0" err="1">
                <a:solidFill>
                  <a:srgbClr val="1B1C1D"/>
                </a:solidFill>
                <a:effectLst/>
                <a:latin typeface="Google Sans Text"/>
              </a:rPr>
              <a:t>rates</a:t>
            </a:r>
            <a:r>
              <a:rPr lang="en-US" b="0" i="0" u="none" strike="noStrike" dirty="0">
                <a:solidFill>
                  <a:srgbClr val="1B1C1D"/>
                </a:solidFill>
                <a:effectLst/>
                <a:latin typeface="Google Sans Text"/>
              </a:rPr>
              <a:t>.</a:t>
            </a:r>
            <a:endParaRPr lang="en-US" sz="1600" b="0" i="0" u="none" strike="noStrike" dirty="0">
              <a:solidFill>
                <a:srgbClr val="000000"/>
              </a:solidFill>
              <a:effectLst/>
              <a:latin typeface="Arial" panose="020B0604020202020204" pitchFamily="34" charset="0"/>
            </a:endParaRPr>
          </a:p>
          <a:p>
            <a:pPr marL="449263" indent="-182563" algn="just" rtl="0" fontAlgn="base">
              <a:spcBef>
                <a:spcPts val="0"/>
              </a:spcBef>
              <a:spcAft>
                <a:spcPts val="0"/>
              </a:spcAft>
              <a:buFont typeface="Arial" panose="020B0604020202020204" pitchFamily="34" charset="0"/>
              <a:buChar char="•"/>
            </a:pPr>
            <a:r>
              <a:rPr lang="pl-PL" b="1" i="0" u="none" strike="noStrike" dirty="0" err="1">
                <a:solidFill>
                  <a:srgbClr val="1B1C1D"/>
                </a:solidFill>
                <a:effectLst/>
                <a:latin typeface="Google Sans Text"/>
              </a:rPr>
              <a:t>Justification</a:t>
            </a:r>
            <a:r>
              <a:rPr lang="en-US" b="1" i="0" u="none" strike="noStrike" dirty="0">
                <a:solidFill>
                  <a:srgbClr val="1B1C1D"/>
                </a:solidFill>
                <a:effectLst/>
                <a:latin typeface="Google Sans Text"/>
              </a:rPr>
              <a:t>:</a:t>
            </a:r>
            <a:r>
              <a:rPr lang="en-US" b="0" i="0" u="none" strike="noStrike" dirty="0">
                <a:solidFill>
                  <a:srgbClr val="1B1C1D"/>
                </a:solidFill>
                <a:effectLst/>
                <a:latin typeface="Google Sans Text"/>
              </a:rPr>
              <a:t> </a:t>
            </a:r>
            <a:r>
              <a:rPr lang="pl-PL" dirty="0">
                <a:solidFill>
                  <a:srgbClr val="1B1C1D"/>
                </a:solidFill>
                <a:latin typeface="Google Sans Text"/>
              </a:rPr>
              <a:t>Model c</a:t>
            </a:r>
            <a:r>
              <a:rPr lang="en-US" b="0" i="0" u="none" strike="noStrike" dirty="0">
                <a:solidFill>
                  <a:srgbClr val="1B1C1D"/>
                </a:solidFill>
                <a:effectLst/>
                <a:latin typeface="Google Sans Text"/>
              </a:rPr>
              <a:t>hosen for its powerful reasoning, large context window, native multimodal capabilities (visual analysis), and availability through a free, </a:t>
            </a:r>
            <a:r>
              <a:rPr lang="pl-PL" b="0" i="0" u="none" strike="noStrike" dirty="0">
                <a:solidFill>
                  <a:srgbClr val="1B1C1D"/>
                </a:solidFill>
                <a:effectLst/>
                <a:latin typeface="Google Sans Text"/>
              </a:rPr>
              <a:t>but </a:t>
            </a:r>
            <a:r>
              <a:rPr lang="en-US" b="0" i="0" u="none" strike="noStrike" dirty="0">
                <a:solidFill>
                  <a:srgbClr val="1B1C1D"/>
                </a:solidFill>
                <a:effectLst/>
                <a:latin typeface="Google Sans Text"/>
              </a:rPr>
              <a:t>rate-limited API.</a:t>
            </a:r>
            <a:endParaRPr lang="en-US" sz="1600" b="0" i="0" u="none" strike="noStrike" dirty="0">
              <a:solidFill>
                <a:srgbClr val="000000"/>
              </a:solidFill>
              <a:effectLst/>
              <a:latin typeface="Arial" panose="020B0604020202020204" pitchFamily="34" charset="0"/>
            </a:endParaRPr>
          </a:p>
          <a:p>
            <a:pPr marL="180975" indent="-180975" algn="just" rtl="0" fontAlgn="base">
              <a:spcBef>
                <a:spcPts val="0"/>
              </a:spcBef>
              <a:spcAft>
                <a:spcPts val="0"/>
              </a:spcAft>
              <a:buFont typeface="Arial" panose="020B0604020202020204" pitchFamily="34" charset="0"/>
              <a:buChar char="•"/>
            </a:pPr>
            <a:r>
              <a:rPr lang="en-US" b="1" i="0" u="none" strike="noStrike" dirty="0">
                <a:solidFill>
                  <a:srgbClr val="1B1C1D"/>
                </a:solidFill>
                <a:effectLst/>
                <a:latin typeface="Google Sans Text"/>
              </a:rPr>
              <a:t>Knowledge Integration:</a:t>
            </a:r>
            <a:r>
              <a:rPr lang="en-US" b="0" i="0" u="none" strike="noStrike" dirty="0">
                <a:solidFill>
                  <a:srgbClr val="1B1C1D"/>
                </a:solidFill>
                <a:effectLst/>
                <a:latin typeface="Google Sans Text"/>
              </a:rPr>
              <a:t> Retrieval-Augmented Generation (RAG).</a:t>
            </a:r>
            <a:endParaRPr lang="en-US" sz="1600" b="0" i="0" u="none" strike="noStrike" dirty="0">
              <a:solidFill>
                <a:srgbClr val="000000"/>
              </a:solidFill>
              <a:effectLst/>
              <a:latin typeface="Arial" panose="020B0604020202020204" pitchFamily="34" charset="0"/>
            </a:endParaRPr>
          </a:p>
          <a:p>
            <a:pPr marL="449263" indent="-182563" algn="just" rtl="0" fontAlgn="base">
              <a:spcBef>
                <a:spcPts val="0"/>
              </a:spcBef>
              <a:spcAft>
                <a:spcPts val="0"/>
              </a:spcAft>
              <a:buFont typeface="Arial" panose="020B0604020202020204" pitchFamily="34" charset="0"/>
              <a:buChar char="•"/>
            </a:pPr>
            <a:r>
              <a:rPr lang="pl-PL" b="1" i="0" u="none" strike="noStrike" dirty="0" err="1">
                <a:solidFill>
                  <a:srgbClr val="1B1C1D"/>
                </a:solidFill>
                <a:effectLst/>
                <a:latin typeface="Google Sans Text"/>
              </a:rPr>
              <a:t>Justification</a:t>
            </a:r>
            <a:r>
              <a:rPr lang="en-US" b="1" i="0" u="none" strike="noStrike" dirty="0">
                <a:solidFill>
                  <a:srgbClr val="1B1C1D"/>
                </a:solidFill>
                <a:effectLst/>
                <a:latin typeface="Google Sans Text"/>
              </a:rPr>
              <a:t>:</a:t>
            </a:r>
            <a:r>
              <a:rPr lang="en-US" b="0" i="0" u="none" strike="noStrike" dirty="0">
                <a:solidFill>
                  <a:srgbClr val="1B1C1D"/>
                </a:solidFill>
                <a:effectLst/>
                <a:latin typeface="Google Sans Text"/>
              </a:rPr>
              <a:t> To provide the L</a:t>
            </a:r>
            <a:r>
              <a:rPr lang="pl-PL" b="0" i="0" u="none" strike="noStrike" dirty="0">
                <a:solidFill>
                  <a:srgbClr val="1B1C1D"/>
                </a:solidFill>
                <a:effectLst/>
                <a:latin typeface="Google Sans Text"/>
              </a:rPr>
              <a:t>R</a:t>
            </a:r>
            <a:r>
              <a:rPr lang="en-US" b="0" i="0" u="none" strike="noStrike" dirty="0">
                <a:solidFill>
                  <a:srgbClr val="1B1C1D"/>
                </a:solidFill>
                <a:effectLst/>
                <a:latin typeface="Google Sans Text"/>
              </a:rPr>
              <a:t>M with specialized, domain-specific knowledge without the need for expensive fine-tuning. This allows for a flexible and updatable knowledge base.</a:t>
            </a:r>
            <a:endParaRPr lang="pl-PL" b="0" i="0" u="none" strike="noStrike" dirty="0">
              <a:solidFill>
                <a:srgbClr val="1B1C1D"/>
              </a:solidFill>
              <a:effectLst/>
              <a:latin typeface="Google Sans Text"/>
            </a:endParaRPr>
          </a:p>
          <a:p>
            <a:pPr marL="449263" indent="-182563" algn="just" rtl="0" fontAlgn="base">
              <a:spcBef>
                <a:spcPts val="0"/>
              </a:spcBef>
              <a:spcAft>
                <a:spcPts val="0"/>
              </a:spcAft>
              <a:buFont typeface="Arial" panose="020B0604020202020204" pitchFamily="34" charset="0"/>
              <a:buChar char="•"/>
            </a:pPr>
            <a:r>
              <a:rPr lang="pl-PL" b="1" dirty="0" err="1">
                <a:solidFill>
                  <a:srgbClr val="1B1C1D"/>
                </a:solidFill>
                <a:latin typeface="Google Sans Text"/>
              </a:rPr>
              <a:t>Analogy</a:t>
            </a:r>
            <a:r>
              <a:rPr lang="pl-PL" b="1" dirty="0">
                <a:solidFill>
                  <a:srgbClr val="1B1C1D"/>
                </a:solidFill>
                <a:latin typeface="Google Sans Text"/>
              </a:rPr>
              <a:t>: </a:t>
            </a:r>
            <a:r>
              <a:rPr lang="en-US" dirty="0">
                <a:solidFill>
                  <a:srgbClr val="1B1C1D"/>
                </a:solidFill>
                <a:latin typeface="Google Sans Text"/>
              </a:rPr>
              <a:t>RAG is like giving the model an open-book exam. The model doesn't have to memorize </a:t>
            </a:r>
            <a:r>
              <a:rPr lang="pl-PL" dirty="0">
                <a:solidFill>
                  <a:srgbClr val="1B1C1D"/>
                </a:solidFill>
                <a:latin typeface="Google Sans Text"/>
              </a:rPr>
              <a:t>the</a:t>
            </a:r>
            <a:r>
              <a:rPr lang="en-US" dirty="0">
                <a:solidFill>
                  <a:srgbClr val="1B1C1D"/>
                </a:solidFill>
                <a:latin typeface="Google Sans Text"/>
              </a:rPr>
              <a:t> </a:t>
            </a:r>
            <a:r>
              <a:rPr lang="pl-PL" dirty="0" err="1">
                <a:solidFill>
                  <a:srgbClr val="1B1C1D"/>
                </a:solidFill>
                <a:latin typeface="Google Sans Text"/>
              </a:rPr>
              <a:t>entire</a:t>
            </a:r>
            <a:r>
              <a:rPr lang="pl-PL" dirty="0">
                <a:solidFill>
                  <a:srgbClr val="1B1C1D"/>
                </a:solidFill>
                <a:latin typeface="Google Sans Text"/>
              </a:rPr>
              <a:t> </a:t>
            </a:r>
            <a:r>
              <a:rPr lang="pl-PL" dirty="0" err="1">
                <a:solidFill>
                  <a:srgbClr val="1B1C1D"/>
                </a:solidFill>
                <a:latin typeface="Google Sans Text"/>
              </a:rPr>
              <a:t>knowledge</a:t>
            </a:r>
            <a:r>
              <a:rPr lang="pl-PL" dirty="0">
                <a:solidFill>
                  <a:srgbClr val="1B1C1D"/>
                </a:solidFill>
                <a:latin typeface="Google Sans Text"/>
              </a:rPr>
              <a:t> </a:t>
            </a:r>
            <a:r>
              <a:rPr lang="en-US" dirty="0">
                <a:solidFill>
                  <a:srgbClr val="1B1C1D"/>
                </a:solidFill>
                <a:latin typeface="Google Sans Text"/>
              </a:rPr>
              <a:t>beforehand; it just needs to be good at quickly reading and understanding the specific pages you hand it when you ask a question.</a:t>
            </a:r>
            <a:endParaRPr lang="en-US" sz="1600" b="0" i="0" u="none" strike="noStrike" dirty="0">
              <a:solidFill>
                <a:srgbClr val="000000"/>
              </a:solidFill>
              <a:effectLst/>
              <a:latin typeface="Arial" panose="020B0604020202020204" pitchFamily="34" charset="0"/>
            </a:endParaRPr>
          </a:p>
          <a:p>
            <a:pPr marL="180975" indent="-180975" algn="just" rtl="0" fontAlgn="base">
              <a:spcBef>
                <a:spcPts val="0"/>
              </a:spcBef>
              <a:spcAft>
                <a:spcPts val="600"/>
              </a:spcAft>
              <a:buFont typeface="Arial" panose="020B0604020202020204" pitchFamily="34" charset="0"/>
              <a:buChar char="•"/>
            </a:pPr>
            <a:r>
              <a:rPr lang="en-US" b="1" i="0" u="none" strike="noStrike" dirty="0">
                <a:solidFill>
                  <a:srgbClr val="1B1C1D"/>
                </a:solidFill>
                <a:effectLst/>
                <a:latin typeface="Google Sans Text"/>
              </a:rPr>
              <a:t>Development </a:t>
            </a:r>
            <a:r>
              <a:rPr lang="pl-PL" b="1" i="0" u="none" strike="noStrike" dirty="0" err="1">
                <a:solidFill>
                  <a:srgbClr val="1B1C1D"/>
                </a:solidFill>
                <a:effectLst/>
                <a:latin typeface="Google Sans Text"/>
              </a:rPr>
              <a:t>Stack</a:t>
            </a:r>
            <a:r>
              <a:rPr lang="en-US" b="1" i="0" u="none" strike="noStrike" dirty="0">
                <a:solidFill>
                  <a:srgbClr val="1B1C1D"/>
                </a:solidFill>
                <a:effectLst/>
                <a:latin typeface="Google Sans Text"/>
              </a:rPr>
              <a:t>:</a:t>
            </a:r>
            <a:r>
              <a:rPr lang="en-US" b="0" i="0" u="none" strike="noStrike" dirty="0">
                <a:solidFill>
                  <a:srgbClr val="1B1C1D"/>
                </a:solidFill>
                <a:effectLst/>
                <a:latin typeface="Google Sans Text"/>
              </a:rPr>
              <a:t> Python, utilizing libraries for data science (pandas, </a:t>
            </a:r>
            <a:r>
              <a:rPr lang="en-US" b="0" i="0" u="none" strike="noStrike" dirty="0" err="1">
                <a:solidFill>
                  <a:srgbClr val="1B1C1D"/>
                </a:solidFill>
                <a:effectLst/>
                <a:latin typeface="Google Sans Text"/>
              </a:rPr>
              <a:t>numpy</a:t>
            </a:r>
            <a:r>
              <a:rPr lang="en-US" b="0" i="0" u="none" strike="noStrike" dirty="0">
                <a:solidFill>
                  <a:srgbClr val="1B1C1D"/>
                </a:solidFill>
                <a:effectLst/>
                <a:latin typeface="Google Sans Text"/>
              </a:rPr>
              <a:t>, </a:t>
            </a:r>
            <a:r>
              <a:rPr lang="en-US" b="0" i="0" u="none" strike="noStrike" dirty="0" err="1">
                <a:solidFill>
                  <a:srgbClr val="1B1C1D"/>
                </a:solidFill>
                <a:effectLst/>
                <a:latin typeface="Google Sans Text"/>
              </a:rPr>
              <a:t>scipy</a:t>
            </a:r>
            <a:r>
              <a:rPr lang="en-US" b="0" i="0" u="none" strike="noStrike" dirty="0">
                <a:solidFill>
                  <a:srgbClr val="1B1C1D"/>
                </a:solidFill>
                <a:effectLst/>
                <a:latin typeface="Google Sans Text"/>
              </a:rPr>
              <a:t>), </a:t>
            </a:r>
            <a:r>
              <a:rPr lang="pl-PL" b="0" i="0" u="none" strike="noStrike" dirty="0">
                <a:solidFill>
                  <a:srgbClr val="1B1C1D"/>
                </a:solidFill>
                <a:effectLst/>
                <a:latin typeface="Google Sans Text"/>
              </a:rPr>
              <a:t>RAG </a:t>
            </a:r>
            <a:r>
              <a:rPr lang="pl-PL" b="0" i="0" u="none" strike="noStrike" dirty="0" err="1">
                <a:solidFill>
                  <a:srgbClr val="1B1C1D"/>
                </a:solidFill>
                <a:effectLst/>
                <a:latin typeface="Google Sans Text"/>
              </a:rPr>
              <a:t>indexing</a:t>
            </a:r>
            <a:r>
              <a:rPr lang="pl-PL" b="0" i="0" u="none" strike="noStrike" dirty="0">
                <a:solidFill>
                  <a:srgbClr val="1B1C1D"/>
                </a:solidFill>
                <a:effectLst/>
                <a:latin typeface="Google Sans Text"/>
              </a:rPr>
              <a:t> (</a:t>
            </a:r>
            <a:r>
              <a:rPr lang="pl-PL" b="0" i="0" u="none" strike="noStrike" dirty="0" err="1">
                <a:solidFill>
                  <a:srgbClr val="1B1C1D"/>
                </a:solidFill>
                <a:effectLst/>
                <a:latin typeface="Google Sans Text"/>
              </a:rPr>
              <a:t>LangChain</a:t>
            </a:r>
            <a:r>
              <a:rPr lang="pl-PL" b="0" i="0" u="none" strike="noStrike" dirty="0">
                <a:solidFill>
                  <a:srgbClr val="1B1C1D"/>
                </a:solidFill>
                <a:effectLst/>
                <a:latin typeface="Google Sans Text"/>
              </a:rPr>
              <a:t>), </a:t>
            </a:r>
            <a:r>
              <a:rPr lang="en-US" b="0" i="0" u="none" strike="noStrike" dirty="0">
                <a:solidFill>
                  <a:srgbClr val="1B1C1D"/>
                </a:solidFill>
                <a:effectLst/>
                <a:latin typeface="Google Sans Text"/>
              </a:rPr>
              <a:t>PDF processing (</a:t>
            </a:r>
            <a:r>
              <a:rPr lang="en-US" b="0" i="0" u="none" strike="noStrike" dirty="0" err="1">
                <a:solidFill>
                  <a:srgbClr val="1B1C1D"/>
                </a:solidFill>
                <a:effectLst/>
                <a:latin typeface="Google Sans Text"/>
              </a:rPr>
              <a:t>PyMuPDF</a:t>
            </a:r>
            <a:r>
              <a:rPr lang="en-US" b="0" i="0" u="none" strike="noStrike" dirty="0">
                <a:solidFill>
                  <a:srgbClr val="1B1C1D"/>
                </a:solidFill>
                <a:effectLst/>
                <a:latin typeface="Google Sans Text"/>
              </a:rPr>
              <a:t>), vector database (</a:t>
            </a:r>
            <a:r>
              <a:rPr lang="en-US" b="0" i="0" u="none" strike="noStrike" dirty="0" err="1">
                <a:solidFill>
                  <a:srgbClr val="1B1C1D"/>
                </a:solidFill>
                <a:effectLst/>
                <a:latin typeface="Google Sans Text"/>
              </a:rPr>
              <a:t>ChromaDB</a:t>
            </a:r>
            <a:r>
              <a:rPr lang="en-US" b="0" i="0" u="none" strike="noStrike" dirty="0">
                <a:solidFill>
                  <a:srgbClr val="1B1C1D"/>
                </a:solidFill>
                <a:effectLst/>
                <a:latin typeface="Google Sans Text"/>
              </a:rPr>
              <a:t>), and API interaction (google-</a:t>
            </a:r>
            <a:r>
              <a:rPr lang="en-US" b="0" i="0" u="none" strike="noStrike" dirty="0" err="1">
                <a:solidFill>
                  <a:srgbClr val="1B1C1D"/>
                </a:solidFill>
                <a:effectLst/>
                <a:latin typeface="Google Sans Text"/>
              </a:rPr>
              <a:t>generativeai</a:t>
            </a:r>
            <a:r>
              <a:rPr lang="en-US" b="0" i="0" u="none" strike="noStrike" dirty="0">
                <a:solidFill>
                  <a:srgbClr val="1B1C1D"/>
                </a:solidFill>
                <a:effectLst/>
                <a:latin typeface="Google Sans Text"/>
              </a:rPr>
              <a:t>).</a:t>
            </a:r>
            <a:endParaRPr lang="en-US" sz="1600" b="0" i="0" u="none" strike="noStrike"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6453252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ole tekstowe 4">
            <a:extLst>
              <a:ext uri="{FF2B5EF4-FFF2-40B4-BE49-F238E27FC236}">
                <a16:creationId xmlns:a16="http://schemas.microsoft.com/office/drawing/2014/main" id="{84CE6A10-5921-4DA0-A762-66C4D5582C42}"/>
              </a:ext>
            </a:extLst>
          </p:cNvPr>
          <p:cNvSpPr txBox="1"/>
          <p:nvPr/>
        </p:nvSpPr>
        <p:spPr>
          <a:xfrm>
            <a:off x="136733" y="320456"/>
            <a:ext cx="11905742" cy="6217087"/>
          </a:xfrm>
          <a:prstGeom prst="rect">
            <a:avLst/>
          </a:prstGeom>
          <a:noFill/>
        </p:spPr>
        <p:txBody>
          <a:bodyPr wrap="square">
            <a:spAutoFit/>
          </a:bodyPr>
          <a:lstStyle/>
          <a:p>
            <a:pPr rtl="0">
              <a:spcBef>
                <a:spcPts val="600"/>
              </a:spcBef>
              <a:spcAft>
                <a:spcPts val="600"/>
              </a:spcAft>
            </a:pPr>
            <a:r>
              <a:rPr lang="en-US" sz="2800" b="1" i="0" u="none" strike="noStrike" dirty="0">
                <a:solidFill>
                  <a:srgbClr val="1B1C1D"/>
                </a:solidFill>
                <a:effectLst/>
                <a:latin typeface="Google Sans"/>
              </a:rPr>
              <a:t>3. System Architecture</a:t>
            </a:r>
            <a:endParaRPr lang="en-US" sz="2000" b="1" dirty="0">
              <a:effectLst/>
            </a:endParaRPr>
          </a:p>
          <a:p>
            <a:pPr rtl="0">
              <a:spcBef>
                <a:spcPts val="0"/>
              </a:spcBef>
              <a:spcAft>
                <a:spcPts val="600"/>
              </a:spcAft>
            </a:pPr>
            <a:r>
              <a:rPr lang="en-US" sz="2000" b="0" i="0" u="none" strike="noStrike" dirty="0">
                <a:solidFill>
                  <a:srgbClr val="1B1C1D"/>
                </a:solidFill>
                <a:effectLst/>
                <a:latin typeface="Google Sans Text"/>
              </a:rPr>
              <a:t>The system is composed of several key modules:</a:t>
            </a:r>
            <a:endParaRPr lang="en-US" sz="2000" b="0" dirty="0">
              <a:effectLst/>
            </a:endParaRPr>
          </a:p>
          <a:p>
            <a:pPr marL="180975" indent="-180975" rtl="0" fontAlgn="base">
              <a:spcBef>
                <a:spcPts val="0"/>
              </a:spcBef>
              <a:spcAft>
                <a:spcPts val="0"/>
              </a:spcAft>
              <a:buFont typeface="Arial" panose="020B0604020202020204" pitchFamily="34" charset="0"/>
              <a:buChar char="•"/>
            </a:pPr>
            <a:r>
              <a:rPr lang="en-US" sz="2000" b="1" i="0" u="none" strike="noStrike" dirty="0">
                <a:solidFill>
                  <a:srgbClr val="1B1C1D"/>
                </a:solidFill>
                <a:effectLst/>
                <a:latin typeface="Google Sans Text"/>
              </a:rPr>
              <a:t>L</a:t>
            </a:r>
            <a:r>
              <a:rPr lang="pl-PL" sz="2000" b="1" i="0" u="none" strike="noStrike" dirty="0">
                <a:solidFill>
                  <a:srgbClr val="1B1C1D"/>
                </a:solidFill>
                <a:effectLst/>
                <a:latin typeface="Google Sans Text"/>
              </a:rPr>
              <a:t>R</a:t>
            </a:r>
            <a:r>
              <a:rPr lang="en-US" sz="2000" b="1" i="0" u="none" strike="noStrike" dirty="0">
                <a:solidFill>
                  <a:srgbClr val="1B1C1D"/>
                </a:solidFill>
                <a:effectLst/>
                <a:latin typeface="Google Sans Text"/>
              </a:rPr>
              <a:t>M Orchestrator:</a:t>
            </a:r>
            <a:r>
              <a:rPr lang="en-US" sz="2000" b="0" i="0" u="none" strike="noStrike" dirty="0">
                <a:solidFill>
                  <a:srgbClr val="1B1C1D"/>
                </a:solidFill>
                <a:effectLst/>
                <a:latin typeface="Google Sans Text"/>
              </a:rPr>
              <a:t> The central "brain" of the system. It makes all decisions regarding the analysis plan, tool selection, and evaluation.</a:t>
            </a:r>
            <a:endParaRPr lang="en-US" b="0" i="0" u="none" strike="noStrike" dirty="0">
              <a:solidFill>
                <a:srgbClr val="000000"/>
              </a:solidFill>
              <a:effectLst/>
              <a:latin typeface="Arial" panose="020B0604020202020204" pitchFamily="34" charset="0"/>
            </a:endParaRPr>
          </a:p>
          <a:p>
            <a:pPr marL="180975" indent="-180975" rtl="0" fontAlgn="base">
              <a:spcBef>
                <a:spcPts val="0"/>
              </a:spcBef>
              <a:spcAft>
                <a:spcPts val="0"/>
              </a:spcAft>
              <a:buFont typeface="Arial" panose="020B0604020202020204" pitchFamily="34" charset="0"/>
              <a:buChar char="•"/>
            </a:pPr>
            <a:r>
              <a:rPr lang="en-US" sz="2000" b="1" i="0" u="none" strike="noStrike" dirty="0">
                <a:solidFill>
                  <a:srgbClr val="1B1C1D"/>
                </a:solidFill>
                <a:effectLst/>
                <a:latin typeface="Google Sans Text"/>
              </a:rPr>
              <a:t>Data Processing Script:</a:t>
            </a:r>
            <a:r>
              <a:rPr lang="en-US" sz="2000" b="0" i="0" u="none" strike="noStrike" dirty="0">
                <a:solidFill>
                  <a:srgbClr val="1B1C1D"/>
                </a:solidFill>
                <a:effectLst/>
                <a:latin typeface="Google Sans Text"/>
              </a:rPr>
              <a:t> The "hands" of the system. This is a dynamically generated Python script that the Orchestrator </a:t>
            </a:r>
            <a:r>
              <a:rPr lang="pl-PL" sz="2000" b="0" i="0" u="none" strike="noStrike" dirty="0">
                <a:solidFill>
                  <a:srgbClr val="1B1C1D"/>
                </a:solidFill>
                <a:effectLst/>
                <a:latin typeface="Google Sans Text"/>
              </a:rPr>
              <a:t>builds and </a:t>
            </a:r>
            <a:r>
              <a:rPr lang="en-US" sz="2000" b="0" i="0" u="none" strike="noStrike" dirty="0">
                <a:solidFill>
                  <a:srgbClr val="1B1C1D"/>
                </a:solidFill>
                <a:effectLst/>
                <a:latin typeface="Google Sans Text"/>
              </a:rPr>
              <a:t>executes to perform the actual data manipulation and analysis.</a:t>
            </a:r>
            <a:endParaRPr lang="pl-PL" sz="2000" b="0" i="0" u="none" strike="noStrike" dirty="0">
              <a:solidFill>
                <a:srgbClr val="1B1C1D"/>
              </a:solidFill>
              <a:effectLst/>
              <a:latin typeface="Google Sans Text"/>
            </a:endParaRPr>
          </a:p>
          <a:p>
            <a:pPr marL="180975" indent="-180975" fontAlgn="base">
              <a:buFont typeface="Arial" panose="020B0604020202020204" pitchFamily="34" charset="0"/>
              <a:buChar char="•"/>
            </a:pPr>
            <a:r>
              <a:rPr lang="en-US" sz="2000" b="1" i="0" u="none" strike="noStrike" dirty="0">
                <a:solidFill>
                  <a:srgbClr val="1B1C1D"/>
                </a:solidFill>
                <a:effectLst/>
                <a:latin typeface="Google Sans Text"/>
              </a:rPr>
              <a:t>Code Translator:</a:t>
            </a:r>
            <a:r>
              <a:rPr lang="en-US" sz="2000" b="0" i="0" u="none" strike="noStrike" dirty="0">
                <a:solidFill>
                  <a:srgbClr val="1B1C1D"/>
                </a:solidFill>
                <a:effectLst/>
                <a:latin typeface="Google Sans Text"/>
              </a:rPr>
              <a:t> A deterministic module that translates action sequence into direct Python code.</a:t>
            </a:r>
            <a:endParaRPr lang="en-US" sz="2000" b="0" i="0" u="none" strike="noStrike" dirty="0">
              <a:solidFill>
                <a:srgbClr val="000000"/>
              </a:solidFill>
              <a:effectLst/>
              <a:latin typeface="Arial" panose="020B0604020202020204" pitchFamily="34" charset="0"/>
            </a:endParaRPr>
          </a:p>
          <a:p>
            <a:pPr marL="180975" indent="-180975" rtl="0" fontAlgn="base">
              <a:spcBef>
                <a:spcPts val="0"/>
              </a:spcBef>
              <a:spcAft>
                <a:spcPts val="0"/>
              </a:spcAft>
              <a:buFont typeface="Arial" panose="020B0604020202020204" pitchFamily="34" charset="0"/>
              <a:buChar char="•"/>
            </a:pPr>
            <a:r>
              <a:rPr lang="en-US" sz="2000" b="1" i="0" u="none" strike="noStrike" dirty="0">
                <a:solidFill>
                  <a:srgbClr val="1B1C1D"/>
                </a:solidFill>
                <a:effectLst/>
                <a:latin typeface="Google Sans Text"/>
              </a:rPr>
              <a:t>RAG Index:</a:t>
            </a:r>
            <a:r>
              <a:rPr lang="en-US" sz="2000" b="0" i="0" u="none" strike="noStrike" dirty="0">
                <a:solidFill>
                  <a:srgbClr val="1B1C1D"/>
                </a:solidFill>
                <a:effectLst/>
                <a:latin typeface="Google Sans Text"/>
              </a:rPr>
              <a:t> The specialized "memory" of the system. It is a searchable vector index of the knowledge base.</a:t>
            </a:r>
            <a:endParaRPr lang="en-US" b="0" i="0" u="none" strike="noStrike" dirty="0">
              <a:solidFill>
                <a:srgbClr val="000000"/>
              </a:solidFill>
              <a:effectLst/>
              <a:latin typeface="Arial" panose="020B0604020202020204" pitchFamily="34" charset="0"/>
            </a:endParaRPr>
          </a:p>
          <a:p>
            <a:pPr marL="180975" indent="-180975" rtl="0" fontAlgn="base">
              <a:spcBef>
                <a:spcPts val="0"/>
              </a:spcBef>
              <a:spcAft>
                <a:spcPts val="0"/>
              </a:spcAft>
              <a:buFont typeface="Arial" panose="020B0604020202020204" pitchFamily="34" charset="0"/>
              <a:buChar char="•"/>
            </a:pPr>
            <a:r>
              <a:rPr lang="en-US" sz="2000" b="1" i="0" u="none" strike="noStrike" dirty="0">
                <a:solidFill>
                  <a:srgbClr val="1B1C1D"/>
                </a:solidFill>
                <a:effectLst/>
                <a:latin typeface="Google Sans Text"/>
              </a:rPr>
              <a:t>Knowledge Base:</a:t>
            </a:r>
            <a:r>
              <a:rPr lang="en-US" sz="2000" b="0" i="0" u="none" strike="noStrike" dirty="0">
                <a:solidFill>
                  <a:srgbClr val="1B1C1D"/>
                </a:solidFill>
                <a:effectLst/>
                <a:latin typeface="Google Sans Text"/>
              </a:rPr>
              <a:t> A curated collection of documents providing domain expertise.</a:t>
            </a:r>
            <a:endParaRPr lang="en-US" b="0" i="0" u="none" strike="noStrike" dirty="0">
              <a:solidFill>
                <a:srgbClr val="000000"/>
              </a:solidFill>
              <a:effectLst/>
              <a:latin typeface="Arial" panose="020B0604020202020204" pitchFamily="34" charset="0"/>
            </a:endParaRPr>
          </a:p>
          <a:p>
            <a:pPr marL="449263" indent="-173038" rtl="0" fontAlgn="base">
              <a:spcBef>
                <a:spcPts val="0"/>
              </a:spcBef>
              <a:spcAft>
                <a:spcPts val="0"/>
              </a:spcAft>
              <a:buFont typeface="Arial" panose="020B0604020202020204" pitchFamily="34" charset="0"/>
              <a:buChar char="•"/>
            </a:pPr>
            <a:r>
              <a:rPr lang="en-US" sz="2000" b="1" i="0" u="none" strike="noStrike" dirty="0">
                <a:solidFill>
                  <a:srgbClr val="1B1C1D"/>
                </a:solidFill>
                <a:effectLst/>
                <a:latin typeface="Google Sans Text"/>
              </a:rPr>
              <a:t>Content:</a:t>
            </a:r>
            <a:r>
              <a:rPr lang="en-US" sz="2000" b="0" i="0" u="none" strike="noStrike" dirty="0">
                <a:solidFill>
                  <a:srgbClr val="1B1C1D"/>
                </a:solidFill>
                <a:effectLst/>
                <a:latin typeface="Google Sans Text"/>
              </a:rPr>
              <a:t> Scientific articles (personal papers, simple tutorials, and classic theoretical papers), tool documentation, and codified domain rules. This will be indexed offline.</a:t>
            </a:r>
            <a:endParaRPr lang="en-US" b="0" i="0" u="none" strike="noStrike" dirty="0">
              <a:solidFill>
                <a:srgbClr val="000000"/>
              </a:solidFill>
              <a:effectLst/>
              <a:latin typeface="Arial" panose="020B0604020202020204" pitchFamily="34" charset="0"/>
            </a:endParaRPr>
          </a:p>
          <a:p>
            <a:pPr marL="180975" indent="-180975" rtl="0" fontAlgn="base">
              <a:spcBef>
                <a:spcPts val="0"/>
              </a:spcBef>
              <a:spcAft>
                <a:spcPts val="0"/>
              </a:spcAft>
              <a:buFont typeface="Arial" panose="020B0604020202020204" pitchFamily="34" charset="0"/>
              <a:buChar char="•"/>
              <a:tabLst>
                <a:tab pos="180975" algn="l"/>
              </a:tabLst>
            </a:pPr>
            <a:r>
              <a:rPr lang="en-US" sz="2000" b="1" i="0" u="none" strike="noStrike" dirty="0">
                <a:solidFill>
                  <a:srgbClr val="1B1C1D"/>
                </a:solidFill>
                <a:effectLst/>
                <a:latin typeface="Google Sans Text"/>
              </a:rPr>
              <a:t>Tool Registry:</a:t>
            </a:r>
            <a:r>
              <a:rPr lang="en-US" sz="2000" b="0" i="0" u="none" strike="noStrike" dirty="0">
                <a:solidFill>
                  <a:srgbClr val="1B1C1D"/>
                </a:solidFill>
                <a:effectLst/>
                <a:latin typeface="Google Sans Text"/>
              </a:rPr>
              <a:t> A structured description of all available analysis tools and their functionalities. This is also </a:t>
            </a:r>
            <a:r>
              <a:rPr lang="pl-PL" sz="2000" b="0" i="0" u="none" strike="noStrike" dirty="0" err="1">
                <a:solidFill>
                  <a:srgbClr val="1B1C1D"/>
                </a:solidFill>
                <a:effectLst/>
                <a:latin typeface="Google Sans Text"/>
              </a:rPr>
              <a:t>indexed</a:t>
            </a:r>
            <a:r>
              <a:rPr lang="pl-PL" sz="2000" b="0" i="0" u="none" strike="noStrike" dirty="0">
                <a:solidFill>
                  <a:srgbClr val="1B1C1D"/>
                </a:solidFill>
                <a:effectLst/>
                <a:latin typeface="Google Sans Text"/>
              </a:rPr>
              <a:t> by the RAG module</a:t>
            </a:r>
            <a:r>
              <a:rPr lang="en-US" sz="2000" b="0" i="0" u="none" strike="noStrike" dirty="0">
                <a:solidFill>
                  <a:srgbClr val="1B1C1D"/>
                </a:solidFill>
                <a:effectLst/>
                <a:latin typeface="Google Sans Text"/>
              </a:rPr>
              <a:t>.</a:t>
            </a:r>
            <a:endParaRPr lang="en-US" b="0" i="0" u="none" strike="noStrike" dirty="0">
              <a:solidFill>
                <a:srgbClr val="000000"/>
              </a:solidFill>
              <a:effectLst/>
              <a:latin typeface="Arial" panose="020B0604020202020204" pitchFamily="34" charset="0"/>
            </a:endParaRPr>
          </a:p>
          <a:p>
            <a:pPr marL="180975" indent="-180975" rtl="0" fontAlgn="base">
              <a:spcBef>
                <a:spcPts val="0"/>
              </a:spcBef>
              <a:spcAft>
                <a:spcPts val="0"/>
              </a:spcAft>
              <a:buFont typeface="Arial" panose="020B0604020202020204" pitchFamily="34" charset="0"/>
              <a:buChar char="•"/>
              <a:tabLst>
                <a:tab pos="180975" algn="l"/>
              </a:tabLst>
            </a:pPr>
            <a:r>
              <a:rPr lang="en-US" sz="2000" b="1" i="0" u="none" strike="noStrike" dirty="0">
                <a:solidFill>
                  <a:srgbClr val="1B1C1D"/>
                </a:solidFill>
                <a:effectLst/>
                <a:latin typeface="Google Sans Text"/>
              </a:rPr>
              <a:t>Input Module:</a:t>
            </a:r>
            <a:r>
              <a:rPr lang="en-US" sz="2000" b="0" i="0" u="none" strike="noStrike" dirty="0">
                <a:solidFill>
                  <a:srgbClr val="1B1C1D"/>
                </a:solidFill>
                <a:effectLst/>
                <a:latin typeface="Google Sans Text"/>
              </a:rPr>
              <a:t> Handles initial user inputs: raw data (e.g., CSV), metadata, and the high-level analysis objective.</a:t>
            </a:r>
            <a:endParaRPr lang="en-US" b="0" i="0" u="none" strike="noStrike" dirty="0">
              <a:solidFill>
                <a:srgbClr val="000000"/>
              </a:solidFill>
              <a:effectLst/>
              <a:latin typeface="Arial" panose="020B0604020202020204" pitchFamily="34" charset="0"/>
            </a:endParaRPr>
          </a:p>
          <a:p>
            <a:pPr marL="180975" indent="-180975" rtl="0" fontAlgn="base">
              <a:spcBef>
                <a:spcPts val="0"/>
              </a:spcBef>
              <a:spcAft>
                <a:spcPts val="0"/>
              </a:spcAft>
              <a:buFont typeface="Arial" panose="020B0604020202020204" pitchFamily="34" charset="0"/>
              <a:buChar char="•"/>
              <a:tabLst>
                <a:tab pos="180975" algn="l"/>
              </a:tabLst>
            </a:pPr>
            <a:r>
              <a:rPr lang="en-US" sz="2000" b="1" i="0" u="none" strike="noStrike" dirty="0">
                <a:solidFill>
                  <a:srgbClr val="1B1C1D"/>
                </a:solidFill>
                <a:effectLst/>
                <a:latin typeface="Google Sans Text"/>
              </a:rPr>
              <a:t>Visual &amp; Quantitative Feedback:</a:t>
            </a:r>
            <a:r>
              <a:rPr lang="en-US" sz="2000" b="0" i="0" u="none" strike="noStrike" dirty="0">
                <a:solidFill>
                  <a:srgbClr val="1B1C1D"/>
                </a:solidFill>
                <a:effectLst/>
                <a:latin typeface="Google Sans Text"/>
              </a:rPr>
              <a:t> After a script is run, results are processed for L</a:t>
            </a:r>
            <a:r>
              <a:rPr lang="pl-PL" sz="2000" b="0" i="0" u="none" strike="noStrike" dirty="0">
                <a:solidFill>
                  <a:srgbClr val="1B1C1D"/>
                </a:solidFill>
                <a:effectLst/>
                <a:latin typeface="Google Sans Text"/>
              </a:rPr>
              <a:t>R</a:t>
            </a:r>
            <a:r>
              <a:rPr lang="en-US" sz="2000" b="0" i="0" u="none" strike="noStrike" dirty="0">
                <a:solidFill>
                  <a:srgbClr val="1B1C1D"/>
                </a:solidFill>
                <a:effectLst/>
                <a:latin typeface="Google Sans Text"/>
              </a:rPr>
              <a:t>M evaluation.</a:t>
            </a:r>
            <a:endParaRPr lang="en-US" b="0" i="0" u="none" strike="noStrike" dirty="0">
              <a:solidFill>
                <a:srgbClr val="000000"/>
              </a:solidFill>
              <a:effectLst/>
              <a:latin typeface="Arial" panose="020B0604020202020204" pitchFamily="34" charset="0"/>
            </a:endParaRPr>
          </a:p>
          <a:p>
            <a:pPr marL="449263" indent="-182563" rtl="0" fontAlgn="base">
              <a:spcBef>
                <a:spcPts val="0"/>
              </a:spcBef>
              <a:spcAft>
                <a:spcPts val="0"/>
              </a:spcAft>
              <a:buFont typeface="Arial" panose="020B0604020202020204" pitchFamily="34" charset="0"/>
              <a:buChar char="•"/>
              <a:tabLst>
                <a:tab pos="449263" algn="l"/>
              </a:tabLst>
            </a:pPr>
            <a:r>
              <a:rPr lang="en-US" sz="2000" b="1" i="0" u="none" strike="noStrike" dirty="0">
                <a:solidFill>
                  <a:srgbClr val="1B1C1D"/>
                </a:solidFill>
                <a:effectLst/>
                <a:latin typeface="Google Sans Text"/>
              </a:rPr>
              <a:t>Visual Analysis:</a:t>
            </a:r>
            <a:r>
              <a:rPr lang="en-US" sz="2000" b="0" i="0" u="none" strike="noStrike" dirty="0">
                <a:solidFill>
                  <a:srgbClr val="1B1C1D"/>
                </a:solidFill>
                <a:effectLst/>
                <a:latin typeface="Google Sans Text"/>
              </a:rPr>
              <a:t> 2D data representations (charts, graphs) are generated and fed back to the multimodal L</a:t>
            </a:r>
            <a:r>
              <a:rPr lang="pl-PL" sz="2000" b="0" i="0" u="none" strike="noStrike" dirty="0">
                <a:solidFill>
                  <a:srgbClr val="1B1C1D"/>
                </a:solidFill>
                <a:effectLst/>
                <a:latin typeface="Google Sans Text"/>
              </a:rPr>
              <a:t>R</a:t>
            </a:r>
            <a:r>
              <a:rPr lang="en-US" sz="2000" b="0" i="0" u="none" strike="noStrike" dirty="0">
                <a:solidFill>
                  <a:srgbClr val="1B1C1D"/>
                </a:solidFill>
                <a:effectLst/>
                <a:latin typeface="Google Sans Text"/>
              </a:rPr>
              <a:t>M for qualitative assessment.</a:t>
            </a:r>
            <a:endParaRPr lang="en-US" b="0" i="0" u="none" strike="noStrike" dirty="0">
              <a:solidFill>
                <a:srgbClr val="000000"/>
              </a:solidFill>
              <a:effectLst/>
              <a:latin typeface="Arial" panose="020B0604020202020204" pitchFamily="34" charset="0"/>
            </a:endParaRPr>
          </a:p>
          <a:p>
            <a:pPr marL="449263" indent="-182563" rtl="0" fontAlgn="base">
              <a:spcBef>
                <a:spcPts val="0"/>
              </a:spcBef>
              <a:spcAft>
                <a:spcPts val="600"/>
              </a:spcAft>
              <a:buFont typeface="Arial" panose="020B0604020202020204" pitchFamily="34" charset="0"/>
              <a:buChar char="•"/>
              <a:tabLst>
                <a:tab pos="449263" algn="l"/>
              </a:tabLst>
            </a:pPr>
            <a:r>
              <a:rPr lang="en-US" sz="2000" b="1" i="0" u="none" strike="noStrike" dirty="0">
                <a:solidFill>
                  <a:srgbClr val="1B1C1D"/>
                </a:solidFill>
                <a:effectLst/>
                <a:latin typeface="Google Sans Text"/>
              </a:rPr>
              <a:t>Quantitative Parameterization:</a:t>
            </a:r>
            <a:r>
              <a:rPr lang="en-US" sz="2000" b="0" i="0" u="none" strike="noStrike" dirty="0">
                <a:solidFill>
                  <a:srgbClr val="1B1C1D"/>
                </a:solidFill>
                <a:effectLst/>
                <a:latin typeface="Google Sans Text"/>
              </a:rPr>
              <a:t> Relevant metrics are calculated from the output data to provide quantitative feedback.</a:t>
            </a:r>
            <a:endParaRPr lang="en-US" b="0" i="0" u="none" strike="noStrike"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1871249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ole tekstowe 4">
            <a:extLst>
              <a:ext uri="{FF2B5EF4-FFF2-40B4-BE49-F238E27FC236}">
                <a16:creationId xmlns:a16="http://schemas.microsoft.com/office/drawing/2014/main" id="{84CE6A10-5921-4DA0-A762-66C4D5582C42}"/>
              </a:ext>
            </a:extLst>
          </p:cNvPr>
          <p:cNvSpPr txBox="1"/>
          <p:nvPr/>
        </p:nvSpPr>
        <p:spPr>
          <a:xfrm>
            <a:off x="136733" y="320456"/>
            <a:ext cx="11905742" cy="3293209"/>
          </a:xfrm>
          <a:prstGeom prst="rect">
            <a:avLst/>
          </a:prstGeom>
          <a:noFill/>
        </p:spPr>
        <p:txBody>
          <a:bodyPr wrap="square">
            <a:spAutoFit/>
          </a:bodyPr>
          <a:lstStyle/>
          <a:p>
            <a:pPr rtl="0">
              <a:spcBef>
                <a:spcPts val="600"/>
              </a:spcBef>
              <a:spcAft>
                <a:spcPts val="600"/>
              </a:spcAft>
            </a:pPr>
            <a:r>
              <a:rPr lang="pl-PL" sz="2800" b="1" i="0" u="none" strike="noStrike" dirty="0">
                <a:solidFill>
                  <a:srgbClr val="1B1C1D"/>
                </a:solidFill>
                <a:effectLst/>
                <a:latin typeface="Google Sans"/>
              </a:rPr>
              <a:t>4</a:t>
            </a:r>
            <a:r>
              <a:rPr lang="en-US" sz="2800" b="1" i="0" u="none" strike="noStrike" dirty="0">
                <a:solidFill>
                  <a:srgbClr val="1B1C1D"/>
                </a:solidFill>
                <a:effectLst/>
                <a:latin typeface="Google Sans"/>
              </a:rPr>
              <a:t>. Metaknowledge Format</a:t>
            </a:r>
            <a:endParaRPr lang="pl-PL" sz="2800" b="1" i="0" u="none" strike="noStrike" dirty="0">
              <a:solidFill>
                <a:srgbClr val="1B1C1D"/>
              </a:solidFill>
              <a:effectLst/>
              <a:latin typeface="Google Sans"/>
            </a:endParaRPr>
          </a:p>
          <a:p>
            <a:pPr rtl="0">
              <a:spcBef>
                <a:spcPts val="600"/>
              </a:spcBef>
              <a:spcAft>
                <a:spcPts val="600"/>
              </a:spcAft>
            </a:pPr>
            <a:r>
              <a:rPr lang="en-US" sz="2000" dirty="0">
                <a:solidFill>
                  <a:srgbClr val="1B1C1D"/>
                </a:solidFill>
                <a:latin typeface="Google Sans"/>
              </a:rPr>
              <a:t>At the start of each run, the </a:t>
            </a:r>
            <a:r>
              <a:rPr lang="en-US" sz="2000" dirty="0">
                <a:solidFill>
                  <a:srgbClr val="1B1C1D"/>
                </a:solidFill>
                <a:latin typeface="Courier New" panose="02070309020205020404" pitchFamily="49" charset="0"/>
                <a:cs typeface="Courier New" panose="02070309020205020404" pitchFamily="49" charset="0"/>
              </a:rPr>
              <a:t>LLM Orchestrator </a:t>
            </a:r>
            <a:r>
              <a:rPr lang="en-US" sz="2000" dirty="0">
                <a:solidFill>
                  <a:srgbClr val="1B1C1D"/>
                </a:solidFill>
                <a:latin typeface="Google Sans"/>
              </a:rPr>
              <a:t>will convert the user's plain-text data description and objective into a structured </a:t>
            </a:r>
            <a:r>
              <a:rPr lang="en-US" sz="2000" b="1" dirty="0">
                <a:solidFill>
                  <a:srgbClr val="1B1C1D"/>
                </a:solidFill>
                <a:latin typeface="Google Sans"/>
              </a:rPr>
              <a:t>Metaknowledge JSON object</a:t>
            </a:r>
            <a:r>
              <a:rPr lang="en-US" sz="2000" dirty="0">
                <a:solidFill>
                  <a:srgbClr val="1B1C1D"/>
                </a:solidFill>
                <a:latin typeface="Google Sans"/>
              </a:rPr>
              <a:t>. This object serves as the foundational "understanding" of the task for all subsequent steps.</a:t>
            </a:r>
            <a:endParaRPr lang="pl-PL" sz="2000" dirty="0">
              <a:solidFill>
                <a:srgbClr val="1B1C1D"/>
              </a:solidFill>
              <a:latin typeface="Google Sans"/>
            </a:endParaRPr>
          </a:p>
          <a:p>
            <a:pPr marL="342900" indent="-342900" rtl="0">
              <a:spcBef>
                <a:spcPts val="600"/>
              </a:spcBef>
              <a:spcAft>
                <a:spcPts val="600"/>
              </a:spcAft>
              <a:buFont typeface="Arial" panose="020B0604020202020204" pitchFamily="34" charset="0"/>
              <a:buChar char="•"/>
            </a:pPr>
            <a:r>
              <a:rPr lang="en-US" sz="2000" b="1" dirty="0">
                <a:solidFill>
                  <a:srgbClr val="1B1C1D"/>
                </a:solidFill>
                <a:latin typeface="Google Sans"/>
              </a:rPr>
              <a:t>Purpose:</a:t>
            </a:r>
            <a:r>
              <a:rPr lang="en-US" sz="2000" dirty="0">
                <a:solidFill>
                  <a:srgbClr val="1B1C1D"/>
                </a:solidFill>
                <a:latin typeface="Google Sans"/>
              </a:rPr>
              <a:t> To provide unambiguous, machine-readable context to the orchestrator, driving tool selection and hypothesis generation.  </a:t>
            </a:r>
            <a:endParaRPr lang="pl-PL" sz="2000" dirty="0">
              <a:solidFill>
                <a:srgbClr val="1B1C1D"/>
              </a:solidFill>
              <a:latin typeface="Google Sans"/>
            </a:endParaRPr>
          </a:p>
          <a:p>
            <a:pPr marL="342900" indent="-342900" rtl="0">
              <a:spcBef>
                <a:spcPts val="600"/>
              </a:spcBef>
              <a:spcAft>
                <a:spcPts val="600"/>
              </a:spcAft>
              <a:buFont typeface="Arial" panose="020B0604020202020204" pitchFamily="34" charset="0"/>
              <a:buChar char="•"/>
            </a:pPr>
            <a:r>
              <a:rPr lang="en-US" sz="2000" b="1" dirty="0">
                <a:solidFill>
                  <a:srgbClr val="1B1C1D"/>
                </a:solidFill>
                <a:latin typeface="Google Sans"/>
              </a:rPr>
              <a:t>Format:</a:t>
            </a:r>
            <a:r>
              <a:rPr lang="en-US" sz="2000" dirty="0">
                <a:solidFill>
                  <a:srgbClr val="1B1C1D"/>
                </a:solidFill>
                <a:latin typeface="Google Sans"/>
              </a:rPr>
              <a:t> The JSON object will adhere to a strict schema to ensure reliability.</a:t>
            </a:r>
            <a:endParaRPr lang="pl-PL" sz="2000" dirty="0">
              <a:solidFill>
                <a:srgbClr val="1B1C1D"/>
              </a:solidFill>
              <a:latin typeface="Google Sans"/>
            </a:endParaRPr>
          </a:p>
          <a:p>
            <a:pPr rtl="0">
              <a:spcBef>
                <a:spcPts val="600"/>
              </a:spcBef>
              <a:spcAft>
                <a:spcPts val="600"/>
              </a:spcAft>
            </a:pPr>
            <a:endParaRPr lang="en-US" sz="2000" b="1" dirty="0">
              <a:effectLst/>
            </a:endParaRPr>
          </a:p>
        </p:txBody>
      </p:sp>
    </p:spTree>
    <p:extLst>
      <p:ext uri="{BB962C8B-B14F-4D97-AF65-F5344CB8AC3E}">
        <p14:creationId xmlns:p14="http://schemas.microsoft.com/office/powerpoint/2010/main" val="144853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ole tekstowe 4">
            <a:extLst>
              <a:ext uri="{FF2B5EF4-FFF2-40B4-BE49-F238E27FC236}">
                <a16:creationId xmlns:a16="http://schemas.microsoft.com/office/drawing/2014/main" id="{84CE6A10-5921-4DA0-A762-66C4D5582C42}"/>
              </a:ext>
            </a:extLst>
          </p:cNvPr>
          <p:cNvSpPr txBox="1"/>
          <p:nvPr/>
        </p:nvSpPr>
        <p:spPr>
          <a:xfrm>
            <a:off x="143129" y="0"/>
            <a:ext cx="11905742" cy="6694140"/>
          </a:xfrm>
          <a:prstGeom prst="rect">
            <a:avLst/>
          </a:prstGeom>
          <a:noFill/>
        </p:spPr>
        <p:txBody>
          <a:bodyPr wrap="square">
            <a:spAutoFit/>
          </a:bodyPr>
          <a:lstStyle/>
          <a:p>
            <a:pPr rtl="0">
              <a:spcBef>
                <a:spcPts val="600"/>
              </a:spcBef>
              <a:spcAft>
                <a:spcPts val="600"/>
              </a:spcAft>
            </a:pPr>
            <a:r>
              <a:rPr lang="pl-PL" sz="2800" b="1" i="0" u="none" strike="noStrike" dirty="0">
                <a:solidFill>
                  <a:srgbClr val="1B1C1D"/>
                </a:solidFill>
                <a:effectLst/>
                <a:latin typeface="Google Sans"/>
              </a:rPr>
              <a:t>4</a:t>
            </a:r>
            <a:r>
              <a:rPr lang="en-US" sz="2800" b="1" i="0" u="none" strike="noStrike" dirty="0">
                <a:solidFill>
                  <a:srgbClr val="1B1C1D"/>
                </a:solidFill>
                <a:effectLst/>
                <a:latin typeface="Google Sans"/>
              </a:rPr>
              <a:t>. Metaknowledge Format</a:t>
            </a:r>
            <a:endParaRPr lang="pl-PL" sz="2800" b="1" i="0" u="none" strike="noStrike" dirty="0">
              <a:solidFill>
                <a:srgbClr val="1B1C1D"/>
              </a:solidFill>
              <a:effectLst/>
              <a:latin typeface="Google Sans"/>
            </a:endParaRPr>
          </a:p>
          <a:p>
            <a:pPr rtl="0"/>
            <a:r>
              <a:rPr lang="en-US" sz="1200" dirty="0">
                <a:effectLst/>
              </a:rPr>
              <a:t>{   </a:t>
            </a:r>
            <a:endParaRPr lang="pl-PL" sz="1200" dirty="0">
              <a:effectLst/>
            </a:endParaRPr>
          </a:p>
          <a:p>
            <a:pPr rtl="0"/>
            <a:r>
              <a:rPr lang="pl-PL" sz="1200" dirty="0"/>
              <a:t>    </a:t>
            </a:r>
            <a:r>
              <a:rPr lang="en-US" sz="1200" dirty="0">
                <a:effectLst/>
              </a:rPr>
              <a:t> "</a:t>
            </a:r>
            <a:r>
              <a:rPr lang="en-US" sz="1200" dirty="0" err="1">
                <a:effectLst/>
              </a:rPr>
              <a:t>data_summary</a:t>
            </a:r>
            <a:r>
              <a:rPr lang="en-US" sz="1200" dirty="0">
                <a:effectLst/>
              </a:rPr>
              <a:t>": {</a:t>
            </a:r>
            <a:endParaRPr lang="pl-PL" sz="1200" dirty="0">
              <a:effectLst/>
            </a:endParaRPr>
          </a:p>
          <a:p>
            <a:pPr rtl="0"/>
            <a:r>
              <a:rPr lang="en-US" sz="1200" dirty="0">
                <a:effectLst/>
              </a:rPr>
              <a:t>    </a:t>
            </a:r>
            <a:r>
              <a:rPr lang="pl-PL" sz="1200" dirty="0"/>
              <a:t>    </a:t>
            </a:r>
            <a:r>
              <a:rPr lang="en-US" sz="1200" dirty="0">
                <a:effectLst/>
              </a:rPr>
              <a:t> "type": "single-channel time-series",</a:t>
            </a:r>
            <a:endParaRPr lang="pl-PL" sz="1200" dirty="0">
              <a:effectLst/>
            </a:endParaRPr>
          </a:p>
          <a:p>
            <a:pPr rtl="0"/>
            <a:r>
              <a:rPr lang="en-US" sz="1200" dirty="0">
                <a:effectLst/>
              </a:rPr>
              <a:t>     </a:t>
            </a:r>
            <a:r>
              <a:rPr lang="pl-PL" sz="1200" dirty="0">
                <a:effectLst/>
              </a:rPr>
              <a:t>    </a:t>
            </a:r>
            <a:r>
              <a:rPr lang="en-US" sz="1200" dirty="0">
                <a:effectLst/>
              </a:rPr>
              <a:t>"domain": "vibration signal",</a:t>
            </a:r>
            <a:endParaRPr lang="pl-PL" sz="1200" dirty="0">
              <a:effectLst/>
            </a:endParaRPr>
          </a:p>
          <a:p>
            <a:pPr rtl="0"/>
            <a:r>
              <a:rPr lang="en-US" sz="1200" dirty="0">
                <a:effectLst/>
              </a:rPr>
              <a:t>     </a:t>
            </a:r>
            <a:r>
              <a:rPr lang="pl-PL" sz="1200" dirty="0">
                <a:effectLst/>
              </a:rPr>
              <a:t>    </a:t>
            </a:r>
            <a:r>
              <a:rPr lang="en-US" sz="1200" dirty="0">
                <a:effectLst/>
              </a:rPr>
              <a:t>"</a:t>
            </a:r>
            <a:r>
              <a:rPr lang="en-US" sz="1200" dirty="0" err="1">
                <a:effectLst/>
              </a:rPr>
              <a:t>sampling_frequency_hz</a:t>
            </a:r>
            <a:r>
              <a:rPr lang="en-US" sz="1200" dirty="0">
                <a:effectLst/>
              </a:rPr>
              <a:t>": 50000,</a:t>
            </a:r>
            <a:endParaRPr lang="pl-PL" sz="1200" dirty="0">
              <a:effectLst/>
            </a:endParaRPr>
          </a:p>
          <a:p>
            <a:pPr rtl="0"/>
            <a:r>
              <a:rPr lang="en-US" sz="1200" dirty="0">
                <a:effectLst/>
              </a:rPr>
              <a:t>     </a:t>
            </a:r>
            <a:r>
              <a:rPr lang="pl-PL" sz="1200" dirty="0">
                <a:effectLst/>
              </a:rPr>
              <a:t>    </a:t>
            </a:r>
            <a:r>
              <a:rPr lang="en-US" sz="1200" dirty="0">
                <a:effectLst/>
              </a:rPr>
              <a:t>"</a:t>
            </a:r>
            <a:r>
              <a:rPr lang="en-US" sz="1200" dirty="0" err="1">
                <a:effectLst/>
              </a:rPr>
              <a:t>signal_length_sec</a:t>
            </a:r>
            <a:r>
              <a:rPr lang="en-US" sz="1200" dirty="0">
                <a:effectLst/>
              </a:rPr>
              <a:t>": 2.0,</a:t>
            </a:r>
            <a:endParaRPr lang="pl-PL" sz="1200" dirty="0">
              <a:effectLst/>
            </a:endParaRPr>
          </a:p>
          <a:p>
            <a:pPr rtl="0"/>
            <a:r>
              <a:rPr lang="en-US" sz="1200" dirty="0">
                <a:effectLst/>
              </a:rPr>
              <a:t>     </a:t>
            </a:r>
            <a:r>
              <a:rPr lang="pl-PL" sz="1200" dirty="0">
                <a:effectLst/>
              </a:rPr>
              <a:t>    </a:t>
            </a:r>
            <a:r>
              <a:rPr lang="en-US" sz="1200" dirty="0">
                <a:effectLst/>
              </a:rPr>
              <a:t>"properties": [</a:t>
            </a:r>
            <a:endParaRPr lang="pl-PL" sz="1200" dirty="0">
              <a:effectLst/>
            </a:endParaRPr>
          </a:p>
          <a:p>
            <a:pPr rtl="0"/>
            <a:r>
              <a:rPr lang="en-US" sz="1200" dirty="0">
                <a:effectLst/>
              </a:rPr>
              <a:t>        </a:t>
            </a:r>
            <a:r>
              <a:rPr lang="pl-PL" sz="1200" dirty="0">
                <a:effectLst/>
              </a:rPr>
              <a:t>        </a:t>
            </a:r>
            <a:r>
              <a:rPr lang="en-US" sz="1200" dirty="0">
                <a:effectLst/>
              </a:rPr>
              <a:t>"stationary operating conditions assumed</a:t>
            </a:r>
            <a:r>
              <a:rPr lang="pl-PL" sz="1200" dirty="0">
                <a:effectLst/>
              </a:rPr>
              <a:t>”</a:t>
            </a:r>
          </a:p>
          <a:p>
            <a:pPr rtl="0"/>
            <a:r>
              <a:rPr lang="en-US" sz="1200" dirty="0">
                <a:effectLst/>
              </a:rPr>
              <a:t>      </a:t>
            </a:r>
            <a:r>
              <a:rPr lang="pl-PL" sz="1200" dirty="0">
                <a:effectLst/>
              </a:rPr>
              <a:t>    </a:t>
            </a:r>
            <a:r>
              <a:rPr lang="en-US" sz="1200" dirty="0">
                <a:effectLst/>
              </a:rPr>
              <a:t>]</a:t>
            </a:r>
            <a:endParaRPr lang="pl-PL" sz="1200" dirty="0">
              <a:effectLst/>
            </a:endParaRPr>
          </a:p>
          <a:p>
            <a:pPr rtl="0"/>
            <a:r>
              <a:rPr lang="en-US" sz="1200" dirty="0">
                <a:effectLst/>
              </a:rPr>
              <a:t>    },</a:t>
            </a:r>
            <a:endParaRPr lang="pl-PL" sz="1200" dirty="0">
              <a:effectLst/>
            </a:endParaRPr>
          </a:p>
          <a:p>
            <a:pPr rtl="0"/>
            <a:r>
              <a:rPr lang="en-US" sz="1200" dirty="0">
                <a:effectLst/>
              </a:rPr>
              <a:t>    "</a:t>
            </a:r>
            <a:r>
              <a:rPr lang="en-US" sz="1200" dirty="0" err="1">
                <a:effectLst/>
              </a:rPr>
              <a:t>system_context</a:t>
            </a:r>
            <a:r>
              <a:rPr lang="en-US" sz="1200" dirty="0">
                <a:effectLst/>
              </a:rPr>
              <a:t>": {</a:t>
            </a:r>
            <a:endParaRPr lang="pl-PL" sz="1200" dirty="0">
              <a:effectLst/>
            </a:endParaRPr>
          </a:p>
          <a:p>
            <a:pPr rtl="0"/>
            <a:r>
              <a:rPr lang="en-US" sz="1200" dirty="0">
                <a:effectLst/>
              </a:rPr>
              <a:t>      "type": "industrial bearing",</a:t>
            </a:r>
            <a:endParaRPr lang="pl-PL" sz="1200" dirty="0">
              <a:effectLst/>
            </a:endParaRPr>
          </a:p>
          <a:p>
            <a:pPr rtl="0"/>
            <a:r>
              <a:rPr lang="en-US" sz="1200" dirty="0">
                <a:effectLst/>
              </a:rPr>
              <a:t>      "configuration": "stationary outer race",</a:t>
            </a:r>
            <a:endParaRPr lang="pl-PL" sz="1200" dirty="0">
              <a:effectLst/>
            </a:endParaRPr>
          </a:p>
          <a:p>
            <a:pPr rtl="0"/>
            <a:r>
              <a:rPr lang="pl-PL" sz="1200" dirty="0"/>
              <a:t>      </a:t>
            </a:r>
            <a:r>
              <a:rPr lang="en-US" sz="1200" dirty="0">
                <a:effectLst/>
              </a:rPr>
              <a:t>"</a:t>
            </a:r>
            <a:r>
              <a:rPr lang="en-US" sz="1200" dirty="0" err="1">
                <a:effectLst/>
              </a:rPr>
              <a:t>shaft_frequency_hz</a:t>
            </a:r>
            <a:r>
              <a:rPr lang="en-US" sz="1200" dirty="0">
                <a:effectLst/>
              </a:rPr>
              <a:t>": 24,</a:t>
            </a:r>
            <a:endParaRPr lang="pl-PL" sz="1200" dirty="0">
              <a:effectLst/>
            </a:endParaRPr>
          </a:p>
          <a:p>
            <a:pPr rtl="0"/>
            <a:r>
              <a:rPr lang="pl-PL" sz="1200" dirty="0"/>
              <a:t>      </a:t>
            </a:r>
            <a:r>
              <a:rPr lang="en-US" sz="1200" dirty="0">
                <a:effectLst/>
              </a:rPr>
              <a:t>"</a:t>
            </a:r>
            <a:r>
              <a:rPr lang="en-US" sz="1200" dirty="0" err="1">
                <a:effectLst/>
              </a:rPr>
              <a:t>characteristic_frequencies</a:t>
            </a:r>
            <a:r>
              <a:rPr lang="en-US" sz="1200" dirty="0">
                <a:effectLst/>
              </a:rPr>
              <a:t>": {</a:t>
            </a:r>
            <a:endParaRPr lang="pl-PL" sz="1200" dirty="0">
              <a:effectLst/>
            </a:endParaRPr>
          </a:p>
          <a:p>
            <a:pPr rtl="0"/>
            <a:r>
              <a:rPr lang="en-US" sz="1200" dirty="0">
                <a:effectLst/>
              </a:rPr>
              <a:t>        </a:t>
            </a:r>
            <a:r>
              <a:rPr lang="pl-PL" sz="1200" dirty="0">
                <a:effectLst/>
              </a:rPr>
              <a:t>    </a:t>
            </a:r>
            <a:r>
              <a:rPr lang="en-US" sz="1200" dirty="0">
                <a:effectLst/>
              </a:rPr>
              <a:t>"</a:t>
            </a:r>
            <a:r>
              <a:rPr lang="en-US" sz="1200" dirty="0" err="1">
                <a:effectLst/>
              </a:rPr>
              <a:t>bpfi_ratio</a:t>
            </a:r>
            <a:r>
              <a:rPr lang="en-US" sz="1200" dirty="0">
                <a:effectLst/>
              </a:rPr>
              <a:t>": 3.5,</a:t>
            </a:r>
            <a:endParaRPr lang="pl-PL" sz="1200" dirty="0">
              <a:effectLst/>
            </a:endParaRPr>
          </a:p>
          <a:p>
            <a:pPr rtl="0"/>
            <a:r>
              <a:rPr lang="en-US" sz="1200" dirty="0">
                <a:effectLst/>
              </a:rPr>
              <a:t>        </a:t>
            </a:r>
            <a:r>
              <a:rPr lang="pl-PL" sz="1200" dirty="0">
                <a:effectLst/>
              </a:rPr>
              <a:t>    </a:t>
            </a:r>
            <a:r>
              <a:rPr lang="en-US" sz="1200" dirty="0">
                <a:effectLst/>
              </a:rPr>
              <a:t>"</a:t>
            </a:r>
            <a:r>
              <a:rPr lang="en-US" sz="1200" dirty="0" err="1">
                <a:effectLst/>
              </a:rPr>
              <a:t>bpfo_ratio</a:t>
            </a:r>
            <a:r>
              <a:rPr lang="en-US" sz="1200" dirty="0">
                <a:effectLst/>
              </a:rPr>
              <a:t>": 3.2,</a:t>
            </a:r>
            <a:endParaRPr lang="pl-PL" sz="1200" dirty="0">
              <a:effectLst/>
            </a:endParaRPr>
          </a:p>
          <a:p>
            <a:pPr rtl="0"/>
            <a:r>
              <a:rPr lang="en-US" sz="1200" dirty="0">
                <a:effectLst/>
              </a:rPr>
              <a:t>        </a:t>
            </a:r>
            <a:r>
              <a:rPr lang="pl-PL" sz="1200" dirty="0">
                <a:effectLst/>
              </a:rPr>
              <a:t>    </a:t>
            </a:r>
            <a:r>
              <a:rPr lang="en-US" sz="1200" dirty="0">
                <a:effectLst/>
              </a:rPr>
              <a:t>"</a:t>
            </a:r>
            <a:r>
              <a:rPr lang="en-US" sz="1200" dirty="0" err="1">
                <a:effectLst/>
              </a:rPr>
              <a:t>ftf_ratio</a:t>
            </a:r>
            <a:r>
              <a:rPr lang="en-US" sz="1200" dirty="0">
                <a:effectLst/>
              </a:rPr>
              <a:t>": 2.9,</a:t>
            </a:r>
            <a:endParaRPr lang="pl-PL" sz="1200" dirty="0">
              <a:effectLst/>
            </a:endParaRPr>
          </a:p>
          <a:p>
            <a:pPr rtl="0"/>
            <a:r>
              <a:rPr lang="en-US" sz="1200" dirty="0">
                <a:effectLst/>
              </a:rPr>
              <a:t>        </a:t>
            </a:r>
            <a:r>
              <a:rPr lang="pl-PL" sz="1200" dirty="0">
                <a:effectLst/>
              </a:rPr>
              <a:t>    </a:t>
            </a:r>
            <a:r>
              <a:rPr lang="en-US" sz="1200" dirty="0">
                <a:effectLst/>
              </a:rPr>
              <a:t>"</a:t>
            </a:r>
            <a:r>
              <a:rPr lang="en-US" sz="1200" dirty="0" err="1">
                <a:effectLst/>
              </a:rPr>
              <a:t>bsf_ratio</a:t>
            </a:r>
            <a:r>
              <a:rPr lang="en-US" sz="1200" dirty="0">
                <a:effectLst/>
              </a:rPr>
              <a:t>": 4.1</a:t>
            </a:r>
            <a:endParaRPr lang="pl-PL" sz="1200" dirty="0">
              <a:effectLst/>
            </a:endParaRPr>
          </a:p>
          <a:p>
            <a:pPr rtl="0"/>
            <a:r>
              <a:rPr lang="en-US" sz="1200" dirty="0">
                <a:effectLst/>
              </a:rPr>
              <a:t>      }</a:t>
            </a:r>
            <a:endParaRPr lang="pl-PL" sz="1200" dirty="0">
              <a:effectLst/>
            </a:endParaRPr>
          </a:p>
          <a:p>
            <a:pPr rtl="0"/>
            <a:r>
              <a:rPr lang="en-US" sz="1200" dirty="0">
                <a:effectLst/>
              </a:rPr>
              <a:t>    },</a:t>
            </a:r>
            <a:endParaRPr lang="pl-PL" sz="1200" dirty="0">
              <a:effectLst/>
            </a:endParaRPr>
          </a:p>
          <a:p>
            <a:pPr rtl="0"/>
            <a:r>
              <a:rPr lang="en-US" sz="1200" dirty="0">
                <a:effectLst/>
              </a:rPr>
              <a:t>    "</a:t>
            </a:r>
            <a:r>
              <a:rPr lang="en-US" sz="1200" dirty="0" err="1">
                <a:effectLst/>
              </a:rPr>
              <a:t>analysis_objective</a:t>
            </a:r>
            <a:r>
              <a:rPr lang="en-US" sz="1200" dirty="0">
                <a:effectLst/>
              </a:rPr>
              <a:t>": {</a:t>
            </a:r>
            <a:endParaRPr lang="pl-PL" sz="1200" dirty="0">
              <a:effectLst/>
            </a:endParaRPr>
          </a:p>
          <a:p>
            <a:pPr rtl="0"/>
            <a:r>
              <a:rPr lang="en-US" sz="1200" dirty="0">
                <a:effectLst/>
              </a:rPr>
              <a:t>      "</a:t>
            </a:r>
            <a:r>
              <a:rPr lang="en-US" sz="1200" dirty="0" err="1">
                <a:effectLst/>
              </a:rPr>
              <a:t>primary_goal</a:t>
            </a:r>
            <a:r>
              <a:rPr lang="en-US" sz="1200" dirty="0">
                <a:effectLst/>
              </a:rPr>
              <a:t>": "Confirm the presence of a cyclic impulsive component related to a specific fault.",</a:t>
            </a:r>
            <a:endParaRPr lang="pl-PL" sz="1200" dirty="0">
              <a:effectLst/>
            </a:endParaRPr>
          </a:p>
          <a:p>
            <a:pPr rtl="0"/>
            <a:r>
              <a:rPr lang="en-US" sz="1200" dirty="0">
                <a:effectLst/>
              </a:rPr>
              <a:t>      "</a:t>
            </a:r>
            <a:r>
              <a:rPr lang="en-US" sz="1200" dirty="0" err="1">
                <a:effectLst/>
              </a:rPr>
              <a:t>target_fault_type</a:t>
            </a:r>
            <a:r>
              <a:rPr lang="en-US" sz="1200" dirty="0">
                <a:effectLst/>
              </a:rPr>
              <a:t>": "inner race damage",</a:t>
            </a:r>
            <a:endParaRPr lang="pl-PL" sz="1200" dirty="0">
              <a:effectLst/>
            </a:endParaRPr>
          </a:p>
          <a:p>
            <a:pPr rtl="0"/>
            <a:r>
              <a:rPr lang="en-US" sz="1200" dirty="0">
                <a:effectLst/>
              </a:rPr>
              <a:t>      "</a:t>
            </a:r>
            <a:r>
              <a:rPr lang="en-US" sz="1200" dirty="0" err="1">
                <a:effectLst/>
              </a:rPr>
              <a:t>target_signal_feature</a:t>
            </a:r>
            <a:r>
              <a:rPr lang="en-US" sz="1200" dirty="0">
                <a:effectLst/>
              </a:rPr>
              <a:t>": "cyclic impulses",</a:t>
            </a:r>
            <a:endParaRPr lang="pl-PL" sz="1200" dirty="0">
              <a:effectLst/>
            </a:endParaRPr>
          </a:p>
          <a:p>
            <a:pPr rtl="0"/>
            <a:r>
              <a:rPr lang="en-US" sz="1200" dirty="0">
                <a:effectLst/>
              </a:rPr>
              <a:t>      "</a:t>
            </a:r>
            <a:r>
              <a:rPr lang="en-US" sz="1200" dirty="0" err="1">
                <a:effectLst/>
              </a:rPr>
              <a:t>fallback_goal</a:t>
            </a:r>
            <a:r>
              <a:rPr lang="en-US" sz="1200" dirty="0">
                <a:effectLst/>
              </a:rPr>
              <a:t>": "If no fault type is specified, identify the most prominent cyclic component and test against all characteristic frequencies.</a:t>
            </a:r>
            <a:r>
              <a:rPr lang="pl-PL" sz="1200" dirty="0">
                <a:effectLst/>
              </a:rPr>
              <a:t>”</a:t>
            </a:r>
          </a:p>
          <a:p>
            <a:pPr rtl="0"/>
            <a:r>
              <a:rPr lang="en-US" sz="1200" dirty="0">
                <a:effectLst/>
              </a:rPr>
              <a:t>    },</a:t>
            </a:r>
            <a:endParaRPr lang="pl-PL" sz="1200" dirty="0">
              <a:effectLst/>
            </a:endParaRPr>
          </a:p>
          <a:p>
            <a:pPr rtl="0"/>
            <a:r>
              <a:rPr lang="en-US" sz="1200" dirty="0">
                <a:effectLst/>
              </a:rPr>
              <a:t>    "</a:t>
            </a:r>
            <a:r>
              <a:rPr lang="en-US" sz="1200" dirty="0" err="1">
                <a:effectLst/>
              </a:rPr>
              <a:t>initial_hypotheses</a:t>
            </a:r>
            <a:r>
              <a:rPr lang="en-US" sz="1200" dirty="0">
                <a:effectLst/>
              </a:rPr>
              <a:t>": [ </a:t>
            </a:r>
            <a:endParaRPr lang="pl-PL" sz="1200" dirty="0">
              <a:effectLst/>
            </a:endParaRPr>
          </a:p>
          <a:p>
            <a:pPr rtl="0"/>
            <a:r>
              <a:rPr lang="en-US" sz="1200" dirty="0">
                <a:effectLst/>
              </a:rPr>
              <a:t>     </a:t>
            </a:r>
            <a:r>
              <a:rPr lang="pl-PL" sz="1200" dirty="0">
                <a:effectLst/>
              </a:rPr>
              <a:t> </a:t>
            </a:r>
            <a:r>
              <a:rPr lang="en-US" sz="1200" dirty="0">
                <a:effectLst/>
              </a:rPr>
              <a:t>"The signal contains a cyclic impulsive component with a modulating frequency of 3.5 times the shaft's rotational speed.",</a:t>
            </a:r>
            <a:endParaRPr lang="pl-PL" sz="1200" dirty="0">
              <a:effectLst/>
            </a:endParaRPr>
          </a:p>
          <a:p>
            <a:pPr rtl="0"/>
            <a:r>
              <a:rPr lang="en-US" sz="1200" dirty="0">
                <a:effectLst/>
              </a:rPr>
              <a:t>      "This component will manifest as repeating vertical striations in a time-frequency representation.",</a:t>
            </a:r>
            <a:endParaRPr lang="pl-PL" sz="1200" dirty="0">
              <a:effectLst/>
            </a:endParaRPr>
          </a:p>
          <a:p>
            <a:pPr rtl="0"/>
            <a:r>
              <a:rPr lang="en-US" sz="1200" dirty="0">
                <a:effectLst/>
              </a:rPr>
              <a:t>      "The carrier frequency band for this fault signature can be identified visually from a spectrogram.</a:t>
            </a:r>
            <a:r>
              <a:rPr lang="pl-PL" sz="1200" dirty="0">
                <a:effectLst/>
              </a:rPr>
              <a:t>”</a:t>
            </a:r>
          </a:p>
          <a:p>
            <a:pPr rtl="0"/>
            <a:r>
              <a:rPr lang="en-US" sz="1200" dirty="0">
                <a:effectLst/>
              </a:rPr>
              <a:t>    ]</a:t>
            </a:r>
            <a:endParaRPr lang="pl-PL" sz="1200" dirty="0"/>
          </a:p>
          <a:p>
            <a:pPr rtl="0"/>
            <a:r>
              <a:rPr lang="en-US" sz="1200" dirty="0">
                <a:effectLst/>
              </a:rPr>
              <a:t>}</a:t>
            </a:r>
          </a:p>
        </p:txBody>
      </p:sp>
    </p:spTree>
    <p:extLst>
      <p:ext uri="{BB962C8B-B14F-4D97-AF65-F5344CB8AC3E}">
        <p14:creationId xmlns:p14="http://schemas.microsoft.com/office/powerpoint/2010/main" val="13032212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ole tekstowe 4">
            <a:extLst>
              <a:ext uri="{FF2B5EF4-FFF2-40B4-BE49-F238E27FC236}">
                <a16:creationId xmlns:a16="http://schemas.microsoft.com/office/drawing/2014/main" id="{46E71797-72AB-4194-AAD3-B0A8912480E6}"/>
              </a:ext>
            </a:extLst>
          </p:cNvPr>
          <p:cNvSpPr txBox="1"/>
          <p:nvPr/>
        </p:nvSpPr>
        <p:spPr>
          <a:xfrm>
            <a:off x="261667" y="231894"/>
            <a:ext cx="11496136" cy="4832092"/>
          </a:xfrm>
          <a:prstGeom prst="rect">
            <a:avLst/>
          </a:prstGeom>
          <a:noFill/>
        </p:spPr>
        <p:txBody>
          <a:bodyPr wrap="square">
            <a:spAutoFit/>
          </a:bodyPr>
          <a:lstStyle/>
          <a:p>
            <a:pPr rtl="0">
              <a:spcBef>
                <a:spcPts val="600"/>
              </a:spcBef>
              <a:spcAft>
                <a:spcPts val="600"/>
              </a:spcAft>
            </a:pPr>
            <a:r>
              <a:rPr lang="pl-PL" sz="2800" b="1" i="0" u="none" strike="noStrike" dirty="0">
                <a:solidFill>
                  <a:srgbClr val="1B1C1D"/>
                </a:solidFill>
                <a:effectLst/>
                <a:latin typeface="Google Sans"/>
              </a:rPr>
              <a:t>5</a:t>
            </a:r>
            <a:r>
              <a:rPr lang="en-US" sz="2800" b="1" i="0" u="none" strike="noStrike" dirty="0">
                <a:solidFill>
                  <a:srgbClr val="1B1C1D"/>
                </a:solidFill>
                <a:effectLst/>
                <a:latin typeface="Google Sans"/>
              </a:rPr>
              <a:t>. Tooling Philosophy: The Wrapper Approach</a:t>
            </a:r>
            <a:endParaRPr lang="pl-PL" sz="2800" b="1" i="0" u="none" strike="noStrike" dirty="0">
              <a:solidFill>
                <a:srgbClr val="1B1C1D"/>
              </a:solidFill>
              <a:effectLst/>
              <a:latin typeface="Google Sans"/>
            </a:endParaRPr>
          </a:p>
          <a:p>
            <a:pPr rtl="0">
              <a:spcBef>
                <a:spcPts val="600"/>
              </a:spcBef>
              <a:spcAft>
                <a:spcPts val="600"/>
              </a:spcAft>
            </a:pPr>
            <a:endParaRPr lang="en-US" sz="2000" b="1" dirty="0">
              <a:effectLst/>
            </a:endParaRPr>
          </a:p>
          <a:p>
            <a:pPr rtl="0">
              <a:spcBef>
                <a:spcPts val="0"/>
              </a:spcBef>
              <a:spcAft>
                <a:spcPts val="600"/>
              </a:spcAft>
            </a:pPr>
            <a:r>
              <a:rPr lang="en-US" sz="2000" b="0" i="0" u="none" strike="noStrike" dirty="0">
                <a:solidFill>
                  <a:srgbClr val="1B1C1D"/>
                </a:solidFill>
                <a:effectLst/>
                <a:latin typeface="Google Sans Text"/>
              </a:rPr>
              <a:t>The system will </a:t>
            </a:r>
            <a:r>
              <a:rPr lang="en-US" sz="2000" b="1" i="0" u="none" strike="noStrike" dirty="0">
                <a:solidFill>
                  <a:srgbClr val="1B1C1D"/>
                </a:solidFill>
                <a:effectLst/>
                <a:latin typeface="Google Sans Text"/>
              </a:rPr>
              <a:t>not</a:t>
            </a:r>
            <a:r>
              <a:rPr lang="en-US" sz="2000" b="0" i="0" u="none" strike="noStrike" dirty="0">
                <a:solidFill>
                  <a:srgbClr val="1B1C1D"/>
                </a:solidFill>
                <a:effectLst/>
                <a:latin typeface="Google Sans Text"/>
              </a:rPr>
              <a:t> call external library functions (e.g., from </a:t>
            </a:r>
            <a:r>
              <a:rPr lang="en-US" sz="2000" b="0" i="0" u="none" strike="noStrike" dirty="0" err="1">
                <a:solidFill>
                  <a:srgbClr val="1B1C1D"/>
                </a:solidFill>
                <a:effectLst/>
                <a:latin typeface="Courier New" panose="02070309020205020404" pitchFamily="49" charset="0"/>
                <a:cs typeface="Courier New" panose="02070309020205020404" pitchFamily="49" charset="0"/>
              </a:rPr>
              <a:t>numpy</a:t>
            </a:r>
            <a:r>
              <a:rPr lang="en-US" sz="2000" b="0" i="0" u="none" strike="noStrike" dirty="0">
                <a:solidFill>
                  <a:srgbClr val="1B1C1D"/>
                </a:solidFill>
                <a:effectLst/>
                <a:latin typeface="Courier New" panose="02070309020205020404" pitchFamily="49" charset="0"/>
                <a:cs typeface="Courier New" panose="02070309020205020404" pitchFamily="49" charset="0"/>
              </a:rPr>
              <a:t>, </a:t>
            </a:r>
            <a:r>
              <a:rPr lang="pl-PL" sz="2000" b="0" i="0" u="none" strike="noStrike" dirty="0" err="1">
                <a:solidFill>
                  <a:srgbClr val="1B1C1D"/>
                </a:solidFill>
                <a:effectLst/>
                <a:latin typeface="Courier New" panose="02070309020205020404" pitchFamily="49" charset="0"/>
                <a:cs typeface="Courier New" panose="02070309020205020404" pitchFamily="49" charset="0"/>
              </a:rPr>
              <a:t>scipy</a:t>
            </a:r>
            <a:r>
              <a:rPr lang="en-US" sz="2000" b="0" i="0" u="none" strike="noStrike" dirty="0">
                <a:solidFill>
                  <a:srgbClr val="1B1C1D"/>
                </a:solidFill>
                <a:effectLst/>
                <a:latin typeface="Google Sans Text"/>
              </a:rPr>
              <a:t>) directly. Instead, it will rely on a </a:t>
            </a:r>
            <a:r>
              <a:rPr lang="en-US" sz="2000" b="1" i="0" u="none" strike="noStrike" dirty="0">
                <a:solidFill>
                  <a:srgbClr val="1B1C1D"/>
                </a:solidFill>
                <a:effectLst/>
                <a:latin typeface="Google Sans Text"/>
              </a:rPr>
              <a:t>custom Tool Library of wrapper functions</a:t>
            </a:r>
            <a:r>
              <a:rPr lang="en-US" sz="2000" b="0" i="0" u="none" strike="noStrike" dirty="0">
                <a:solidFill>
                  <a:srgbClr val="1B1C1D"/>
                </a:solidFill>
                <a:effectLst/>
                <a:latin typeface="Google Sans Text"/>
              </a:rPr>
              <a:t>. This approach seamlessly accommodates both pre-existing custom tools and new functions that wrap standard libraries.</a:t>
            </a:r>
            <a:endParaRPr lang="en-US" sz="2000" b="0" dirty="0">
              <a:effectLst/>
            </a:endParaRPr>
          </a:p>
          <a:p>
            <a:pPr marL="180975" indent="-180975" rtl="0" fontAlgn="base">
              <a:spcBef>
                <a:spcPts val="0"/>
              </a:spcBef>
              <a:spcAft>
                <a:spcPts val="0"/>
              </a:spcAft>
              <a:buFont typeface="Arial" panose="020B0604020202020204" pitchFamily="34" charset="0"/>
              <a:buChar char="•"/>
            </a:pPr>
            <a:r>
              <a:rPr lang="en-US" sz="2000" b="1" i="0" u="none" strike="noStrike" dirty="0">
                <a:solidFill>
                  <a:srgbClr val="1B1C1D"/>
                </a:solidFill>
                <a:effectLst/>
                <a:latin typeface="Google Sans Text"/>
              </a:rPr>
              <a:t>Implementation:</a:t>
            </a:r>
            <a:r>
              <a:rPr lang="en-US" sz="2000" b="0" i="0" u="none" strike="noStrike" dirty="0">
                <a:solidFill>
                  <a:srgbClr val="1B1C1D"/>
                </a:solidFill>
                <a:effectLst/>
                <a:latin typeface="Google Sans Text"/>
              </a:rPr>
              <a:t> Each "tool" available to the L</a:t>
            </a:r>
            <a:r>
              <a:rPr lang="pl-PL" sz="2000" b="0" i="0" u="none" strike="noStrike" dirty="0">
                <a:solidFill>
                  <a:srgbClr val="1B1C1D"/>
                </a:solidFill>
                <a:effectLst/>
                <a:latin typeface="Google Sans Text"/>
              </a:rPr>
              <a:t>R</a:t>
            </a:r>
            <a:r>
              <a:rPr lang="en-US" sz="2000" b="0" i="0" u="none" strike="noStrike" dirty="0">
                <a:solidFill>
                  <a:srgbClr val="1B1C1D"/>
                </a:solidFill>
                <a:effectLst/>
                <a:latin typeface="Google Sans Text"/>
              </a:rPr>
              <a:t>M will be a custom Python function. Internally, these functions will leverage standard, robust libraries, as well as custom algorithms prepared by the author of the system, to perform the actual computation.</a:t>
            </a:r>
            <a:endParaRPr lang="en-US" b="0" i="0" u="none" strike="noStrike" dirty="0">
              <a:solidFill>
                <a:srgbClr val="000000"/>
              </a:solidFill>
              <a:effectLst/>
              <a:latin typeface="Arial" panose="020B0604020202020204" pitchFamily="34" charset="0"/>
            </a:endParaRPr>
          </a:p>
          <a:p>
            <a:pPr marL="180975" indent="-180975" rtl="0" fontAlgn="base">
              <a:spcBef>
                <a:spcPts val="0"/>
              </a:spcBef>
              <a:spcAft>
                <a:spcPts val="0"/>
              </a:spcAft>
              <a:buFont typeface="Arial" panose="020B0604020202020204" pitchFamily="34" charset="0"/>
              <a:buChar char="•"/>
              <a:tabLst>
                <a:tab pos="180975" algn="l"/>
              </a:tabLst>
            </a:pPr>
            <a:r>
              <a:rPr lang="en-US" sz="2000" b="1" i="0" u="none" strike="noStrike" dirty="0">
                <a:solidFill>
                  <a:srgbClr val="1B1C1D"/>
                </a:solidFill>
                <a:effectLst/>
                <a:latin typeface="Google Sans Text"/>
              </a:rPr>
              <a:t>Reasoning:</a:t>
            </a:r>
            <a:r>
              <a:rPr lang="en-US" sz="2000" b="0" i="0" u="none" strike="noStrike" dirty="0">
                <a:solidFill>
                  <a:srgbClr val="1B1C1D"/>
                </a:solidFill>
                <a:effectLst/>
                <a:latin typeface="Google Sans Text"/>
              </a:rPr>
              <a:t> This hybrid approach provides the best of both worlds. It gives the L</a:t>
            </a:r>
            <a:r>
              <a:rPr lang="pl-PL" sz="2000" b="0" i="0" u="none" strike="noStrike" dirty="0">
                <a:solidFill>
                  <a:srgbClr val="1B1C1D"/>
                </a:solidFill>
                <a:effectLst/>
                <a:latin typeface="Google Sans Text"/>
              </a:rPr>
              <a:t>R</a:t>
            </a:r>
            <a:r>
              <a:rPr lang="en-US" sz="2000" b="0" i="0" u="none" strike="noStrike" dirty="0">
                <a:solidFill>
                  <a:srgbClr val="1B1C1D"/>
                </a:solidFill>
                <a:effectLst/>
                <a:latin typeface="Google Sans Text"/>
              </a:rPr>
              <a:t>M the high-quality, structured, and strategic context needed for reliable decision-making, while still harnessing the power of existing libraries. It makes the system's behavior more predictable and controllable.</a:t>
            </a:r>
            <a:endParaRPr lang="en-US" b="0" i="0" u="none" strike="noStrike" dirty="0">
              <a:solidFill>
                <a:srgbClr val="000000"/>
              </a:solidFill>
              <a:effectLst/>
              <a:latin typeface="Arial" panose="020B0604020202020204" pitchFamily="34" charset="0"/>
            </a:endParaRPr>
          </a:p>
          <a:p>
            <a:pPr marL="449263" indent="-182563" rtl="0" fontAlgn="base">
              <a:spcBef>
                <a:spcPts val="0"/>
              </a:spcBef>
              <a:spcAft>
                <a:spcPts val="600"/>
              </a:spcAft>
              <a:buFont typeface="Arial" panose="020B0604020202020204" pitchFamily="34" charset="0"/>
              <a:buChar char="•"/>
            </a:pPr>
            <a:r>
              <a:rPr lang="en-US" sz="2000" b="1" i="0" u="none" strike="noStrike" dirty="0">
                <a:solidFill>
                  <a:srgbClr val="1B1C1D"/>
                </a:solidFill>
                <a:effectLst/>
                <a:latin typeface="Google Sans Text"/>
              </a:rPr>
              <a:t>Resolves Ambiguity:</a:t>
            </a:r>
            <a:r>
              <a:rPr lang="en-US" sz="2000" b="0" i="0" u="none" strike="noStrike" dirty="0">
                <a:solidFill>
                  <a:srgbClr val="1B1C1D"/>
                </a:solidFill>
                <a:effectLst/>
                <a:latin typeface="Google Sans Text"/>
              </a:rPr>
              <a:t> When multiple tools can achieve a similar objective (e.g., Spectrogram vs. Cyclic Spectral Coherence), the detailed documentation allows the L</a:t>
            </a:r>
            <a:r>
              <a:rPr lang="pl-PL" sz="2000" b="0" i="0" u="none" strike="noStrike" dirty="0">
                <a:solidFill>
                  <a:srgbClr val="1B1C1D"/>
                </a:solidFill>
                <a:effectLst/>
                <a:latin typeface="Google Sans Text"/>
              </a:rPr>
              <a:t>R</a:t>
            </a:r>
            <a:r>
              <a:rPr lang="en-US" sz="2000" b="0" i="0" u="none" strike="noStrike" dirty="0">
                <a:solidFill>
                  <a:srgbClr val="1B1C1D"/>
                </a:solidFill>
                <a:effectLst/>
                <a:latin typeface="Google Sans Text"/>
              </a:rPr>
              <a:t>M to make a nuanced choice based on the specific context, data characteristics, or desired downstream analysis paths.</a:t>
            </a:r>
            <a:endParaRPr lang="en-US" b="0" i="0" u="none" strike="noStrike"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26627431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ole tekstowe 4">
            <a:extLst>
              <a:ext uri="{FF2B5EF4-FFF2-40B4-BE49-F238E27FC236}">
                <a16:creationId xmlns:a16="http://schemas.microsoft.com/office/drawing/2014/main" id="{46E71797-72AB-4194-AAD3-B0A8912480E6}"/>
              </a:ext>
            </a:extLst>
          </p:cNvPr>
          <p:cNvSpPr txBox="1"/>
          <p:nvPr/>
        </p:nvSpPr>
        <p:spPr>
          <a:xfrm>
            <a:off x="261667" y="231894"/>
            <a:ext cx="11496136" cy="6540252"/>
          </a:xfrm>
          <a:prstGeom prst="rect">
            <a:avLst/>
          </a:prstGeom>
          <a:noFill/>
        </p:spPr>
        <p:txBody>
          <a:bodyPr wrap="square">
            <a:spAutoFit/>
          </a:bodyPr>
          <a:lstStyle/>
          <a:p>
            <a:pPr rtl="0">
              <a:spcBef>
                <a:spcPts val="600"/>
              </a:spcBef>
              <a:spcAft>
                <a:spcPts val="600"/>
              </a:spcAft>
            </a:pPr>
            <a:r>
              <a:rPr lang="pl-PL" sz="2800" b="1" i="0" u="none" strike="noStrike" dirty="0">
                <a:solidFill>
                  <a:srgbClr val="1B1C1D"/>
                </a:solidFill>
                <a:effectLst/>
                <a:latin typeface="Google Sans"/>
              </a:rPr>
              <a:t>6</a:t>
            </a:r>
            <a:r>
              <a:rPr lang="en-US" sz="2800" b="1" i="0" u="none" strike="noStrike" dirty="0">
                <a:solidFill>
                  <a:srgbClr val="1B1C1D"/>
                </a:solidFill>
                <a:effectLst/>
                <a:latin typeface="Google Sans"/>
              </a:rPr>
              <a:t>. Tool Documentation Format</a:t>
            </a:r>
            <a:endParaRPr lang="en-US" sz="2000" b="1" dirty="0">
              <a:effectLst/>
            </a:endParaRPr>
          </a:p>
          <a:p>
            <a:pPr rtl="0">
              <a:spcBef>
                <a:spcPts val="0"/>
              </a:spcBef>
              <a:spcAft>
                <a:spcPts val="600"/>
              </a:spcAft>
            </a:pPr>
            <a:r>
              <a:rPr lang="en-US" sz="2000" b="0" i="0" u="none" strike="noStrike" dirty="0">
                <a:solidFill>
                  <a:srgbClr val="1B1C1D"/>
                </a:solidFill>
                <a:effectLst/>
                <a:latin typeface="Google Sans Text"/>
              </a:rPr>
              <a:t>To ensure reliable retrieval, parsing, and comparison by the LLM, all tool documentation files fed into the RAG index </a:t>
            </a:r>
            <a:r>
              <a:rPr lang="en-US" sz="2000" b="1" i="0" u="none" strike="noStrike" dirty="0">
                <a:solidFill>
                  <a:srgbClr val="1B1C1D"/>
                </a:solidFill>
                <a:effectLst/>
                <a:latin typeface="Google Sans Text"/>
              </a:rPr>
              <a:t>must</a:t>
            </a:r>
            <a:r>
              <a:rPr lang="en-US" sz="2000" b="0" i="0" u="none" strike="noStrike" dirty="0">
                <a:solidFill>
                  <a:srgbClr val="1B1C1D"/>
                </a:solidFill>
                <a:effectLst/>
                <a:latin typeface="Google Sans Text"/>
              </a:rPr>
              <a:t> adhere to the following standardized Markdown schema:</a:t>
            </a:r>
            <a:endParaRPr lang="pl-PL" sz="2000" b="0" i="0" u="none" strike="noStrike" dirty="0">
              <a:solidFill>
                <a:srgbClr val="1B1C1D"/>
              </a:solidFill>
              <a:effectLst/>
              <a:latin typeface="Google Sans Text"/>
            </a:endParaRPr>
          </a:p>
          <a:p>
            <a:pPr rtl="0">
              <a:spcBef>
                <a:spcPts val="0"/>
              </a:spcBef>
            </a:pPr>
            <a:r>
              <a:rPr lang="en-US" sz="1100" b="0" i="0" u="none" strike="noStrike" dirty="0">
                <a:solidFill>
                  <a:srgbClr val="000000"/>
                </a:solidFill>
                <a:effectLst/>
                <a:latin typeface="Arial" panose="020B0604020202020204" pitchFamily="34" charset="0"/>
              </a:rPr>
              <a:t># Tool: [</a:t>
            </a:r>
            <a:r>
              <a:rPr lang="en-US" sz="1100" b="0" i="0" u="none" strike="noStrike" dirty="0" err="1">
                <a:solidFill>
                  <a:srgbClr val="000000"/>
                </a:solidFill>
                <a:effectLst/>
                <a:latin typeface="Arial" panose="020B0604020202020204" pitchFamily="34" charset="0"/>
              </a:rPr>
              <a:t>callable_function_name</a:t>
            </a:r>
            <a:r>
              <a:rPr lang="en-US" sz="1100" b="0" i="0" u="none" strike="noStrike" dirty="0">
                <a:solidFill>
                  <a:srgbClr val="000000"/>
                </a:solidFill>
                <a:effectLst/>
                <a:latin typeface="Arial" panose="020B0604020202020204" pitchFamily="34" charset="0"/>
              </a:rPr>
              <a:t>]</a:t>
            </a:r>
            <a:endParaRPr lang="pl-PL" sz="1100" b="0" i="0" u="none" strike="noStrike" dirty="0">
              <a:solidFill>
                <a:srgbClr val="000000"/>
              </a:solidFill>
              <a:effectLst/>
              <a:latin typeface="Arial" panose="020B0604020202020204" pitchFamily="34" charset="0"/>
            </a:endParaRPr>
          </a:p>
          <a:p>
            <a:pPr rtl="0">
              <a:spcBef>
                <a:spcPts val="0"/>
              </a:spcBef>
            </a:pPr>
            <a:endParaRPr lang="pl-PL" sz="1100" b="0" i="0" u="none" strike="noStrike" dirty="0">
              <a:solidFill>
                <a:srgbClr val="000000"/>
              </a:solidFill>
              <a:effectLst/>
              <a:latin typeface="Arial" panose="020B0604020202020204" pitchFamily="34" charset="0"/>
            </a:endParaRPr>
          </a:p>
          <a:p>
            <a:pPr rtl="0">
              <a:spcBef>
                <a:spcPts val="0"/>
              </a:spcBef>
            </a:pPr>
            <a:r>
              <a:rPr lang="en-US" sz="1100" b="0" i="0" u="none" strike="noStrike" dirty="0">
                <a:solidFill>
                  <a:srgbClr val="000000"/>
                </a:solidFill>
                <a:effectLst/>
                <a:latin typeface="Arial" panose="020B0604020202020204" pitchFamily="34" charset="0"/>
              </a:rPr>
              <a:t>## 1. Purpose  </a:t>
            </a:r>
            <a:endParaRPr lang="pl-PL" sz="1100" b="0" i="0" u="none" strike="noStrike" dirty="0">
              <a:solidFill>
                <a:srgbClr val="000000"/>
              </a:solidFill>
              <a:effectLst/>
              <a:latin typeface="Arial" panose="020B0604020202020204" pitchFamily="34" charset="0"/>
            </a:endParaRPr>
          </a:p>
          <a:p>
            <a:pPr rtl="0">
              <a:spcBef>
                <a:spcPts val="0"/>
              </a:spcBef>
            </a:pPr>
            <a:r>
              <a:rPr lang="en-US" sz="1100" b="0" i="0" u="none" strike="noStrike" dirty="0">
                <a:solidFill>
                  <a:srgbClr val="000000"/>
                </a:solidFill>
                <a:effectLst/>
                <a:latin typeface="Arial" panose="020B0604020202020204" pitchFamily="34" charset="0"/>
              </a:rPr>
              <a:t>A concise, one-sentence description of the tool's high-level function.  </a:t>
            </a:r>
            <a:endParaRPr lang="pl-PL" sz="1100" b="0" i="0" u="none" strike="noStrike" dirty="0">
              <a:solidFill>
                <a:srgbClr val="000000"/>
              </a:solidFill>
              <a:effectLst/>
              <a:latin typeface="Arial" panose="020B0604020202020204" pitchFamily="34" charset="0"/>
            </a:endParaRPr>
          </a:p>
          <a:p>
            <a:pPr rtl="0">
              <a:spcBef>
                <a:spcPts val="0"/>
              </a:spcBef>
            </a:pPr>
            <a:r>
              <a:rPr lang="en-US" sz="1100" b="0" i="0" u="none" strike="noStrike" dirty="0">
                <a:solidFill>
                  <a:srgbClr val="000000"/>
                </a:solidFill>
                <a:effectLst/>
                <a:latin typeface="Arial" panose="020B0604020202020204" pitchFamily="34" charset="0"/>
              </a:rPr>
              <a:t>Example: "Performs signal decomposition using Non-negative Matrix Factorization.„</a:t>
            </a:r>
            <a:endParaRPr lang="pl-PL" sz="1100" b="0" i="0" u="none" strike="noStrike" dirty="0">
              <a:solidFill>
                <a:srgbClr val="000000"/>
              </a:solidFill>
              <a:effectLst/>
              <a:latin typeface="Arial" panose="020B0604020202020204" pitchFamily="34" charset="0"/>
            </a:endParaRPr>
          </a:p>
          <a:p>
            <a:pPr rtl="0">
              <a:spcBef>
                <a:spcPts val="0"/>
              </a:spcBef>
            </a:pPr>
            <a:endParaRPr lang="pl-PL" sz="1100" b="0" i="0" u="none" strike="noStrike" dirty="0">
              <a:solidFill>
                <a:srgbClr val="000000"/>
              </a:solidFill>
              <a:effectLst/>
              <a:latin typeface="Arial" panose="020B0604020202020204" pitchFamily="34" charset="0"/>
            </a:endParaRPr>
          </a:p>
          <a:p>
            <a:pPr rtl="0">
              <a:spcBef>
                <a:spcPts val="0"/>
              </a:spcBef>
            </a:pPr>
            <a:r>
              <a:rPr lang="en-US" sz="1100" b="0" i="0" u="none" strike="noStrike" dirty="0">
                <a:solidFill>
                  <a:srgbClr val="000000"/>
                </a:solidFill>
                <a:effectLst/>
                <a:latin typeface="Arial" panose="020B0604020202020204" pitchFamily="34" charset="0"/>
              </a:rPr>
              <a:t>## 2. Strategic Advice  </a:t>
            </a:r>
            <a:endParaRPr lang="pl-PL" sz="1100" b="0" i="0" u="none" strike="noStrike" dirty="0">
              <a:solidFill>
                <a:srgbClr val="000000"/>
              </a:solidFill>
              <a:effectLst/>
              <a:latin typeface="Arial" panose="020B0604020202020204" pitchFamily="34" charset="0"/>
            </a:endParaRPr>
          </a:p>
          <a:p>
            <a:pPr rtl="0">
              <a:spcBef>
                <a:spcPts val="0"/>
              </a:spcBef>
            </a:pPr>
            <a:r>
              <a:rPr lang="en-US" sz="1100" b="0" i="0" u="none" strike="noStrike" dirty="0">
                <a:solidFill>
                  <a:srgbClr val="000000"/>
                </a:solidFill>
                <a:effectLst/>
                <a:latin typeface="Arial" panose="020B0604020202020204" pitchFamily="34" charset="0"/>
              </a:rPr>
              <a:t>High-level guidance on when and why to use this tool in an analysis pipeline.  </a:t>
            </a:r>
            <a:endParaRPr lang="pl-PL" sz="1100" b="0" i="0" u="none" strike="noStrike" dirty="0">
              <a:solidFill>
                <a:srgbClr val="000000"/>
              </a:solidFill>
              <a:effectLst/>
              <a:latin typeface="Arial" panose="020B0604020202020204" pitchFamily="34" charset="0"/>
            </a:endParaRPr>
          </a:p>
          <a:p>
            <a:pPr rtl="0">
              <a:spcBef>
                <a:spcPts val="0"/>
              </a:spcBef>
            </a:pPr>
            <a:r>
              <a:rPr lang="en-US" sz="1100" b="0" i="0" u="none" strike="noStrike" dirty="0">
                <a:solidFill>
                  <a:srgbClr val="000000"/>
                </a:solidFill>
                <a:effectLst/>
                <a:latin typeface="Arial" panose="020B0604020202020204" pitchFamily="34" charset="0"/>
              </a:rPr>
              <a:t>Example: "Use this tool to separate a spectrogram into its constituent parts...„</a:t>
            </a:r>
            <a:endParaRPr lang="pl-PL" sz="1100" b="0" i="0" u="none" strike="noStrike" dirty="0">
              <a:solidFill>
                <a:srgbClr val="000000"/>
              </a:solidFill>
              <a:effectLst/>
              <a:latin typeface="Arial" panose="020B0604020202020204" pitchFamily="34" charset="0"/>
            </a:endParaRPr>
          </a:p>
          <a:p>
            <a:pPr rtl="0">
              <a:spcBef>
                <a:spcPts val="0"/>
              </a:spcBef>
            </a:pPr>
            <a:endParaRPr lang="pl-PL" sz="1100" b="0" i="0" u="none" strike="noStrike" dirty="0">
              <a:solidFill>
                <a:srgbClr val="000000"/>
              </a:solidFill>
              <a:effectLst/>
              <a:latin typeface="Arial" panose="020B0604020202020204" pitchFamily="34" charset="0"/>
            </a:endParaRPr>
          </a:p>
          <a:p>
            <a:pPr rtl="0">
              <a:spcBef>
                <a:spcPts val="0"/>
              </a:spcBef>
            </a:pPr>
            <a:r>
              <a:rPr lang="en-US" sz="1100" b="0" i="0" u="none" strike="noStrike" dirty="0">
                <a:solidFill>
                  <a:srgbClr val="000000"/>
                </a:solidFill>
                <a:effectLst/>
                <a:latin typeface="Arial" panose="020B0604020202020204" pitchFamily="34" charset="0"/>
              </a:rPr>
              <a:t>## 3. Input Specification</a:t>
            </a:r>
            <a:endParaRPr lang="pl-PL" sz="1100" b="0" i="0" u="none" strike="noStrike" dirty="0">
              <a:solidFill>
                <a:srgbClr val="000000"/>
              </a:solidFill>
              <a:effectLst/>
              <a:latin typeface="Arial" panose="020B0604020202020204" pitchFamily="34" charset="0"/>
            </a:endParaRPr>
          </a:p>
          <a:p>
            <a:pPr rtl="0">
              <a:spcBef>
                <a:spcPts val="0"/>
              </a:spcBef>
            </a:pPr>
            <a:r>
              <a:rPr lang="en-US" sz="1100" b="0" i="0" u="none" strike="noStrike" dirty="0">
                <a:solidFill>
                  <a:srgbClr val="000000"/>
                </a:solidFill>
                <a:effectLst/>
                <a:latin typeface="Arial" panose="020B0604020202020204" pitchFamily="34" charset="0"/>
              </a:rPr>
              <a:t>  - **Data Structure:** The required Python data type and shape.    *Example: 2D NumPy array (frequency bins, time steps).*</a:t>
            </a:r>
            <a:endParaRPr lang="pl-PL" sz="1100" b="0" i="0" u="none" strike="noStrike" dirty="0">
              <a:solidFill>
                <a:srgbClr val="000000"/>
              </a:solidFill>
              <a:effectLst/>
              <a:latin typeface="Arial" panose="020B0604020202020204" pitchFamily="34" charset="0"/>
            </a:endParaRPr>
          </a:p>
          <a:p>
            <a:pPr rtl="0">
              <a:spcBef>
                <a:spcPts val="0"/>
              </a:spcBef>
            </a:pPr>
            <a:r>
              <a:rPr lang="en-US" sz="1100" b="0" i="0" u="none" strike="noStrike" dirty="0">
                <a:solidFill>
                  <a:srgbClr val="000000"/>
                </a:solidFill>
                <a:effectLst/>
                <a:latin typeface="Arial" panose="020B0604020202020204" pitchFamily="34" charset="0"/>
              </a:rPr>
              <a:t>  - **Domain:** The scientific context of the input data.    *Example: Time-Frequency Matrix (e.g., a Spectrogram).*</a:t>
            </a:r>
            <a:endParaRPr lang="pl-PL" sz="1100" b="0" i="0" u="none" strike="noStrike" dirty="0">
              <a:solidFill>
                <a:srgbClr val="000000"/>
              </a:solidFill>
              <a:effectLst/>
              <a:latin typeface="Arial" panose="020B0604020202020204" pitchFamily="34" charset="0"/>
            </a:endParaRPr>
          </a:p>
          <a:p>
            <a:pPr rtl="0">
              <a:spcBef>
                <a:spcPts val="0"/>
              </a:spcBef>
            </a:pPr>
            <a:endParaRPr lang="pl-PL" sz="1100" b="0" i="0" u="none" strike="noStrike" dirty="0">
              <a:solidFill>
                <a:srgbClr val="000000"/>
              </a:solidFill>
              <a:effectLst/>
              <a:latin typeface="Arial" panose="020B0604020202020204" pitchFamily="34" charset="0"/>
            </a:endParaRPr>
          </a:p>
          <a:p>
            <a:pPr rtl="0">
              <a:spcBef>
                <a:spcPts val="0"/>
              </a:spcBef>
            </a:pPr>
            <a:r>
              <a:rPr lang="en-US" sz="1100" b="0" i="0" u="none" strike="noStrike" dirty="0">
                <a:solidFill>
                  <a:srgbClr val="000000"/>
                </a:solidFill>
                <a:effectLst/>
                <a:latin typeface="Arial" panose="020B0604020202020204" pitchFamily="34" charset="0"/>
              </a:rPr>
              <a:t>## 4. Output Specification</a:t>
            </a:r>
            <a:endParaRPr lang="pl-PL" sz="1100" b="0" i="0" u="none" strike="noStrike" dirty="0">
              <a:solidFill>
                <a:srgbClr val="000000"/>
              </a:solidFill>
              <a:effectLst/>
              <a:latin typeface="Arial" panose="020B0604020202020204" pitchFamily="34" charset="0"/>
            </a:endParaRPr>
          </a:p>
          <a:p>
            <a:pPr rtl="0">
              <a:spcBef>
                <a:spcPts val="0"/>
              </a:spcBef>
            </a:pPr>
            <a:r>
              <a:rPr lang="en-US" sz="1100" b="0" i="0" u="none" strike="noStrike" dirty="0">
                <a:solidFill>
                  <a:srgbClr val="000000"/>
                </a:solidFill>
                <a:effectLst/>
                <a:latin typeface="Arial" panose="020B0604020202020204" pitchFamily="34" charset="0"/>
              </a:rPr>
              <a:t>  - **Data Structure:** The Python data type and shape of the output.    *Example: A Python dictionary containing two 2D NumPy arrays.*</a:t>
            </a:r>
            <a:endParaRPr lang="pl-PL" sz="1100" b="0" i="0" u="none" strike="noStrike" dirty="0">
              <a:solidFill>
                <a:srgbClr val="000000"/>
              </a:solidFill>
              <a:effectLst/>
              <a:latin typeface="Arial" panose="020B0604020202020204" pitchFamily="34" charset="0"/>
            </a:endParaRPr>
          </a:p>
          <a:p>
            <a:pPr rtl="0">
              <a:spcBef>
                <a:spcPts val="0"/>
              </a:spcBef>
            </a:pPr>
            <a:r>
              <a:rPr lang="en-US" sz="1100" b="0" i="0" u="none" strike="noStrike" dirty="0">
                <a:solidFill>
                  <a:srgbClr val="000000"/>
                </a:solidFill>
                <a:effectLst/>
                <a:latin typeface="Arial" panose="020B0604020202020204" pitchFamily="34" charset="0"/>
              </a:rPr>
              <a:t>  - **Domain / Context:** The scientific meaning of the output data structures.    *Example: `{'</a:t>
            </a:r>
            <a:r>
              <a:rPr lang="en-US" sz="1100" b="0" i="0" u="none" strike="noStrike" dirty="0" err="1">
                <a:solidFill>
                  <a:srgbClr val="000000"/>
                </a:solidFill>
                <a:effectLst/>
                <a:latin typeface="Arial" panose="020B0604020202020204" pitchFamily="34" charset="0"/>
              </a:rPr>
              <a:t>temporal_features</a:t>
            </a:r>
            <a:r>
              <a:rPr lang="en-US" sz="1100" b="0" i="0" u="none" strike="noStrike" dirty="0">
                <a:solidFill>
                  <a:srgbClr val="000000"/>
                </a:solidFill>
                <a:effectLst/>
                <a:latin typeface="Arial" panose="020B0604020202020204" pitchFamily="34" charset="0"/>
              </a:rPr>
              <a:t>': ..., '</a:t>
            </a:r>
            <a:r>
              <a:rPr lang="en-US" sz="1100" b="0" i="0" u="none" strike="noStrike" dirty="0" err="1">
                <a:solidFill>
                  <a:srgbClr val="000000"/>
                </a:solidFill>
                <a:effectLst/>
                <a:latin typeface="Arial" panose="020B0604020202020204" pitchFamily="34" charset="0"/>
              </a:rPr>
              <a:t>spectral_features</a:t>
            </a:r>
            <a:r>
              <a:rPr lang="en-US" sz="1100" b="0" i="0" u="none" strike="noStrike" dirty="0">
                <a:solidFill>
                  <a:srgbClr val="000000"/>
                </a:solidFill>
                <a:effectLst/>
                <a:latin typeface="Arial" panose="020B0604020202020204" pitchFamily="34" charset="0"/>
              </a:rPr>
              <a:t>': ...}`.*</a:t>
            </a:r>
            <a:endParaRPr lang="pl-PL" sz="1100" b="0" i="0" u="none" strike="noStrike" dirty="0">
              <a:solidFill>
                <a:srgbClr val="000000"/>
              </a:solidFill>
              <a:effectLst/>
              <a:latin typeface="Arial" panose="020B0604020202020204" pitchFamily="34" charset="0"/>
            </a:endParaRPr>
          </a:p>
          <a:p>
            <a:pPr rtl="0">
              <a:spcBef>
                <a:spcPts val="0"/>
              </a:spcBef>
            </a:pPr>
            <a:endParaRPr lang="pl-PL" sz="1100" b="0" i="0" u="none" strike="noStrike" dirty="0">
              <a:solidFill>
                <a:srgbClr val="000000"/>
              </a:solidFill>
              <a:effectLst/>
              <a:latin typeface="Arial" panose="020B0604020202020204" pitchFamily="34" charset="0"/>
            </a:endParaRPr>
          </a:p>
          <a:p>
            <a:pPr rtl="0">
              <a:spcBef>
                <a:spcPts val="0"/>
              </a:spcBef>
            </a:pPr>
            <a:r>
              <a:rPr lang="en-US" sz="1100" b="0" i="0" u="none" strike="noStrike" dirty="0">
                <a:solidFill>
                  <a:srgbClr val="000000"/>
                </a:solidFill>
                <a:effectLst/>
                <a:latin typeface="Arial" panose="020B0604020202020204" pitchFamily="34" charset="0"/>
              </a:rPr>
              <a:t>## 5. Parameters  </a:t>
            </a:r>
            <a:endParaRPr lang="pl-PL" sz="1100" b="0" i="0" u="none" strike="noStrike" dirty="0">
              <a:solidFill>
                <a:srgbClr val="000000"/>
              </a:solidFill>
              <a:effectLst/>
              <a:latin typeface="Arial" panose="020B0604020202020204" pitchFamily="34" charset="0"/>
            </a:endParaRPr>
          </a:p>
          <a:p>
            <a:pPr rtl="0">
              <a:spcBef>
                <a:spcPts val="0"/>
              </a:spcBef>
            </a:pPr>
            <a:r>
              <a:rPr lang="en-US" sz="1100" b="0" i="0" u="none" strike="noStrike" dirty="0">
                <a:solidFill>
                  <a:srgbClr val="000000"/>
                </a:solidFill>
                <a:effectLst/>
                <a:latin typeface="Arial" panose="020B0604020202020204" pitchFamily="34" charset="0"/>
              </a:rPr>
              <a:t>A structured table describing the function's arguments.</a:t>
            </a:r>
            <a:endParaRPr lang="pl-PL" sz="1100" b="0" i="0" u="none" strike="noStrike" dirty="0">
              <a:solidFill>
                <a:srgbClr val="000000"/>
              </a:solidFill>
              <a:effectLst/>
              <a:latin typeface="Arial" panose="020B0604020202020204" pitchFamily="34" charset="0"/>
            </a:endParaRPr>
          </a:p>
          <a:p>
            <a:pPr rtl="0">
              <a:spcBef>
                <a:spcPts val="0"/>
              </a:spcBef>
            </a:pPr>
            <a:r>
              <a:rPr lang="en-US" sz="1100" b="0" i="0" u="none" strike="noStrike" dirty="0">
                <a:solidFill>
                  <a:srgbClr val="000000"/>
                </a:solidFill>
                <a:effectLst/>
                <a:latin typeface="Arial" panose="020B0604020202020204" pitchFamily="34" charset="0"/>
              </a:rPr>
              <a:t>| Name | Type | Description | Required | Default |  </a:t>
            </a:r>
            <a:endParaRPr lang="pl-PL" sz="1100" b="0" i="0" u="none" strike="noStrike" dirty="0">
              <a:solidFill>
                <a:srgbClr val="000000"/>
              </a:solidFill>
              <a:effectLst/>
              <a:latin typeface="Arial" panose="020B0604020202020204" pitchFamily="34" charset="0"/>
            </a:endParaRPr>
          </a:p>
          <a:p>
            <a:pPr rtl="0">
              <a:spcBef>
                <a:spcPts val="0"/>
              </a:spcBef>
            </a:pPr>
            <a:r>
              <a:rPr lang="en-US" sz="1100" b="0" i="0" u="none" strike="noStrike" dirty="0">
                <a:solidFill>
                  <a:srgbClr val="000000"/>
                </a:solidFill>
                <a:effectLst/>
                <a:latin typeface="Arial" panose="020B0604020202020204" pitchFamily="34" charset="0"/>
              </a:rPr>
              <a:t>|---|---|---|---|---|</a:t>
            </a:r>
            <a:endParaRPr lang="pl-PL" sz="1100" b="0" i="0" u="none" strike="noStrike" dirty="0">
              <a:solidFill>
                <a:srgbClr val="000000"/>
              </a:solidFill>
              <a:effectLst/>
              <a:latin typeface="Arial" panose="020B0604020202020204" pitchFamily="34" charset="0"/>
            </a:endParaRPr>
          </a:p>
          <a:p>
            <a:pPr rtl="0">
              <a:spcBef>
                <a:spcPts val="0"/>
              </a:spcBef>
            </a:pPr>
            <a:r>
              <a:rPr lang="en-US" sz="1100" b="0" i="0" u="none" strike="noStrike" dirty="0">
                <a:solidFill>
                  <a:srgbClr val="000000"/>
                </a:solidFill>
                <a:effectLst/>
                <a:latin typeface="Arial" panose="020B0604020202020204" pitchFamily="34" charset="0"/>
              </a:rPr>
              <a:t>| `</a:t>
            </a:r>
            <a:r>
              <a:rPr lang="en-US" sz="1100" b="0" i="0" u="none" strike="noStrike" dirty="0" err="1">
                <a:solidFill>
                  <a:srgbClr val="000000"/>
                </a:solidFill>
                <a:effectLst/>
                <a:latin typeface="Arial" panose="020B0604020202020204" pitchFamily="34" charset="0"/>
              </a:rPr>
              <a:t>n_components</a:t>
            </a:r>
            <a:r>
              <a:rPr lang="en-US" sz="1100" b="0" i="0" u="none" strike="noStrike" dirty="0">
                <a:solidFill>
                  <a:srgbClr val="000000"/>
                </a:solidFill>
                <a:effectLst/>
                <a:latin typeface="Arial" panose="020B0604020202020204" pitchFamily="34" charset="0"/>
              </a:rPr>
              <a:t>` | int | The number of features to extract. | Yes | `None` |  </a:t>
            </a:r>
            <a:endParaRPr lang="pl-PL" sz="1100" b="0" i="0" u="none" strike="noStrike" dirty="0">
              <a:solidFill>
                <a:srgbClr val="000000"/>
              </a:solidFill>
              <a:effectLst/>
              <a:latin typeface="Arial" panose="020B0604020202020204" pitchFamily="34" charset="0"/>
            </a:endParaRPr>
          </a:p>
          <a:p>
            <a:pPr rtl="0">
              <a:spcBef>
                <a:spcPts val="0"/>
              </a:spcBef>
            </a:pPr>
            <a:r>
              <a:rPr lang="en-US" sz="1100" b="0" i="0" u="none" strike="noStrike" dirty="0">
                <a:solidFill>
                  <a:srgbClr val="000000"/>
                </a:solidFill>
                <a:effectLst/>
                <a:latin typeface="Arial" panose="020B0604020202020204" pitchFamily="34" charset="0"/>
              </a:rPr>
              <a:t>| `tolerance` | float | The convergence tolerance. | No | `1e-4` |</a:t>
            </a:r>
            <a:endParaRPr lang="pl-PL" sz="1100" b="0" i="0" u="none" strike="noStrike" dirty="0">
              <a:solidFill>
                <a:srgbClr val="000000"/>
              </a:solidFill>
              <a:effectLst/>
              <a:latin typeface="Arial" panose="020B0604020202020204" pitchFamily="34" charset="0"/>
            </a:endParaRPr>
          </a:p>
          <a:p>
            <a:pPr rtl="0">
              <a:spcBef>
                <a:spcPts val="0"/>
              </a:spcBef>
            </a:pPr>
            <a:endParaRPr lang="pl-PL" sz="1100" b="0" i="0" u="none" strike="noStrike" dirty="0">
              <a:solidFill>
                <a:srgbClr val="000000"/>
              </a:solidFill>
              <a:effectLst/>
              <a:latin typeface="Arial" panose="020B0604020202020204" pitchFamily="34" charset="0"/>
            </a:endParaRPr>
          </a:p>
          <a:p>
            <a:pPr rtl="0">
              <a:spcBef>
                <a:spcPts val="0"/>
              </a:spcBef>
            </a:pPr>
            <a:r>
              <a:rPr lang="en-US" sz="1100" b="0" i="0" u="none" strike="noStrike" dirty="0">
                <a:solidFill>
                  <a:srgbClr val="000000"/>
                </a:solidFill>
                <a:effectLst/>
                <a:latin typeface="Arial" panose="020B0604020202020204" pitchFamily="34" charset="0"/>
              </a:rPr>
              <a:t>## 6. Next Steps Enabled  </a:t>
            </a:r>
            <a:endParaRPr lang="pl-PL" sz="1100" b="0" i="0" u="none" strike="noStrike" dirty="0">
              <a:solidFill>
                <a:srgbClr val="000000"/>
              </a:solidFill>
              <a:effectLst/>
              <a:latin typeface="Arial" panose="020B0604020202020204" pitchFamily="34" charset="0"/>
            </a:endParaRPr>
          </a:p>
          <a:p>
            <a:pPr rtl="0">
              <a:spcBef>
                <a:spcPts val="0"/>
              </a:spcBef>
            </a:pPr>
            <a:r>
              <a:rPr lang="en-US" sz="1100" b="0" i="0" u="none" strike="noStrike" dirty="0">
                <a:solidFill>
                  <a:srgbClr val="000000"/>
                </a:solidFill>
                <a:effectLst/>
                <a:latin typeface="Arial" panose="020B0604020202020204" pitchFamily="34" charset="0"/>
              </a:rPr>
              <a:t>A list of logical downstream analysis steps that this tool's output makes possible.  </a:t>
            </a:r>
            <a:endParaRPr lang="pl-PL" sz="1100" b="0" i="0" u="none" strike="noStrike" dirty="0">
              <a:solidFill>
                <a:srgbClr val="000000"/>
              </a:solidFill>
              <a:effectLst/>
              <a:latin typeface="Arial" panose="020B0604020202020204" pitchFamily="34" charset="0"/>
            </a:endParaRPr>
          </a:p>
          <a:p>
            <a:pPr rtl="0">
              <a:spcBef>
                <a:spcPts val="0"/>
              </a:spcBef>
            </a:pPr>
            <a:r>
              <a:rPr lang="en-US" sz="1100" b="0" i="0" u="none" strike="noStrike" dirty="0">
                <a:solidFill>
                  <a:srgbClr val="000000"/>
                </a:solidFill>
                <a:effectLst/>
                <a:latin typeface="Arial" panose="020B0604020202020204" pitchFamily="34" charset="0"/>
              </a:rPr>
              <a:t>Example: "The output feature matrices can be used for clustering..."</a:t>
            </a:r>
            <a:endParaRPr lang="pl-PL" sz="1100" b="0" i="0" u="none" strike="noStrike" dirty="0">
              <a:solidFill>
                <a:srgbClr val="000000"/>
              </a:solidFill>
              <a:effectLst/>
              <a:latin typeface="Arial" panose="020B0604020202020204" pitchFamily="34" charset="0"/>
            </a:endParaRPr>
          </a:p>
          <a:p>
            <a:pPr rtl="0">
              <a:spcBef>
                <a:spcPts val="0"/>
              </a:spcBef>
            </a:pPr>
            <a:endParaRPr lang="pl-PL" sz="1100" b="0" i="0" u="none" strike="noStrike" dirty="0">
              <a:solidFill>
                <a:srgbClr val="000000"/>
              </a:solidFill>
              <a:effectLst/>
              <a:latin typeface="Arial" panose="020B0604020202020204" pitchFamily="34" charset="0"/>
            </a:endParaRPr>
          </a:p>
          <a:p>
            <a:pPr rtl="0">
              <a:spcBef>
                <a:spcPts val="0"/>
              </a:spcBef>
            </a:pPr>
            <a:r>
              <a:rPr lang="en-US" sz="1100" b="0" i="0" u="none" strike="noStrike" dirty="0">
                <a:solidFill>
                  <a:srgbClr val="000000"/>
                </a:solidFill>
                <a:effectLst/>
                <a:latin typeface="Arial" panose="020B0604020202020204" pitchFamily="34" charset="0"/>
              </a:rPr>
              <a:t>## 7. Example Usage  </a:t>
            </a:r>
            <a:endParaRPr lang="pl-PL" sz="1100" b="0" i="0" u="none" strike="noStrike" dirty="0">
              <a:solidFill>
                <a:srgbClr val="000000"/>
              </a:solidFill>
              <a:effectLst/>
              <a:latin typeface="Arial" panose="020B0604020202020204" pitchFamily="34" charset="0"/>
            </a:endParaRPr>
          </a:p>
          <a:p>
            <a:pPr rtl="0">
              <a:spcBef>
                <a:spcPts val="0"/>
              </a:spcBef>
            </a:pPr>
            <a:r>
              <a:rPr lang="en-US" sz="1100" b="0" i="0" u="none" strike="noStrike" dirty="0">
                <a:solidFill>
                  <a:srgbClr val="000000"/>
                </a:solidFill>
                <a:effectLst/>
                <a:latin typeface="Arial" panose="020B0604020202020204" pitchFamily="34" charset="0"/>
              </a:rPr>
              <a:t>A clear, simple Python code snippet demonstrating how the tool is called</a:t>
            </a:r>
            <a:r>
              <a:rPr lang="pl-PL" sz="1100" b="0" i="0" u="none" strike="noStrike" dirty="0">
                <a:solidFill>
                  <a:srgbClr val="000000"/>
                </a:solidFill>
                <a:effectLst/>
                <a:latin typeface="Arial" panose="020B0604020202020204" pitchFamily="34" charset="0"/>
              </a:rPr>
              <a:t>.</a:t>
            </a:r>
            <a:endParaRPr lang="en-US" sz="1100" b="0" i="0" u="none" strike="noStrike"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20800665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ole tekstowe 4">
            <a:extLst>
              <a:ext uri="{FF2B5EF4-FFF2-40B4-BE49-F238E27FC236}">
                <a16:creationId xmlns:a16="http://schemas.microsoft.com/office/drawing/2014/main" id="{46E71797-72AB-4194-AAD3-B0A8912480E6}"/>
              </a:ext>
            </a:extLst>
          </p:cNvPr>
          <p:cNvSpPr txBox="1"/>
          <p:nvPr/>
        </p:nvSpPr>
        <p:spPr>
          <a:xfrm>
            <a:off x="261667" y="231894"/>
            <a:ext cx="11496136" cy="3062377"/>
          </a:xfrm>
          <a:prstGeom prst="rect">
            <a:avLst/>
          </a:prstGeom>
          <a:noFill/>
        </p:spPr>
        <p:txBody>
          <a:bodyPr wrap="square">
            <a:spAutoFit/>
          </a:bodyPr>
          <a:lstStyle/>
          <a:p>
            <a:pPr rtl="0">
              <a:spcBef>
                <a:spcPts val="600"/>
              </a:spcBef>
              <a:spcAft>
                <a:spcPts val="600"/>
              </a:spcAft>
            </a:pPr>
            <a:r>
              <a:rPr lang="pl-PL" sz="2800" b="1" i="0" u="none" strike="noStrike" dirty="0">
                <a:solidFill>
                  <a:srgbClr val="1B1C1D"/>
                </a:solidFill>
                <a:effectLst/>
                <a:latin typeface="Google Sans"/>
              </a:rPr>
              <a:t>6</a:t>
            </a:r>
            <a:r>
              <a:rPr lang="en-US" sz="2800" b="1" i="0" u="none" strike="noStrike" dirty="0">
                <a:solidFill>
                  <a:srgbClr val="1B1C1D"/>
                </a:solidFill>
                <a:effectLst/>
                <a:latin typeface="Google Sans"/>
              </a:rPr>
              <a:t>. Tool Documentation Format</a:t>
            </a:r>
            <a:endParaRPr lang="pl-PL" sz="2800" b="1" i="0" u="none" strike="noStrike" dirty="0">
              <a:solidFill>
                <a:srgbClr val="1B1C1D"/>
              </a:solidFill>
              <a:effectLst/>
              <a:latin typeface="Google Sans"/>
            </a:endParaRPr>
          </a:p>
          <a:p>
            <a:pPr rtl="0">
              <a:spcBef>
                <a:spcPts val="600"/>
              </a:spcBef>
              <a:spcAft>
                <a:spcPts val="600"/>
              </a:spcAft>
            </a:pPr>
            <a:endParaRPr lang="pl-PL" sz="2800" b="1" dirty="0">
              <a:solidFill>
                <a:srgbClr val="1B1C1D"/>
              </a:solidFill>
              <a:latin typeface="Google Sans"/>
            </a:endParaRPr>
          </a:p>
          <a:p>
            <a:pPr rtl="0">
              <a:spcBef>
                <a:spcPts val="600"/>
              </a:spcBef>
              <a:spcAft>
                <a:spcPts val="600"/>
              </a:spcAft>
            </a:pPr>
            <a:endParaRPr lang="pl-PL" sz="2800" b="1" dirty="0">
              <a:solidFill>
                <a:srgbClr val="1B1C1D"/>
              </a:solidFill>
              <a:effectLst/>
              <a:latin typeface="Google Sans"/>
            </a:endParaRPr>
          </a:p>
          <a:p>
            <a:pPr rtl="0">
              <a:spcBef>
                <a:spcPts val="600"/>
              </a:spcBef>
              <a:spcAft>
                <a:spcPts val="600"/>
              </a:spcAft>
            </a:pPr>
            <a:endParaRPr lang="en-US" sz="2000" b="1" dirty="0">
              <a:effectLst/>
            </a:endParaRPr>
          </a:p>
          <a:p>
            <a:pPr rtl="0">
              <a:spcBef>
                <a:spcPts val="0"/>
              </a:spcBef>
              <a:spcAft>
                <a:spcPts val="600"/>
              </a:spcAft>
            </a:pPr>
            <a:r>
              <a:rPr lang="pl-PL" sz="5400" b="0" i="0" u="none" strike="noStrike" dirty="0">
                <a:solidFill>
                  <a:srgbClr val="1B1C1D"/>
                </a:solidFill>
                <a:effectLst/>
                <a:latin typeface="Google Sans Text"/>
              </a:rPr>
              <a:t>DEMO</a:t>
            </a:r>
            <a:endParaRPr lang="en-US" sz="3200" b="0" i="0" u="none" strike="noStrike"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17040842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ole tekstowe 4">
            <a:extLst>
              <a:ext uri="{FF2B5EF4-FFF2-40B4-BE49-F238E27FC236}">
                <a16:creationId xmlns:a16="http://schemas.microsoft.com/office/drawing/2014/main" id="{46E71797-72AB-4194-AAD3-B0A8912480E6}"/>
              </a:ext>
            </a:extLst>
          </p:cNvPr>
          <p:cNvSpPr txBox="1"/>
          <p:nvPr/>
        </p:nvSpPr>
        <p:spPr>
          <a:xfrm>
            <a:off x="261667" y="231894"/>
            <a:ext cx="11496136" cy="6140142"/>
          </a:xfrm>
          <a:prstGeom prst="rect">
            <a:avLst/>
          </a:prstGeom>
          <a:noFill/>
        </p:spPr>
        <p:txBody>
          <a:bodyPr wrap="square">
            <a:spAutoFit/>
          </a:bodyPr>
          <a:lstStyle/>
          <a:p>
            <a:pPr rtl="0">
              <a:spcBef>
                <a:spcPts val="600"/>
              </a:spcBef>
              <a:spcAft>
                <a:spcPts val="600"/>
              </a:spcAft>
            </a:pPr>
            <a:r>
              <a:rPr lang="pl-PL" sz="2800" b="1" i="0" u="none" strike="noStrike" dirty="0">
                <a:solidFill>
                  <a:srgbClr val="1B1C1D"/>
                </a:solidFill>
                <a:effectLst/>
                <a:latin typeface="Google Sans"/>
              </a:rPr>
              <a:t>7</a:t>
            </a:r>
            <a:r>
              <a:rPr lang="en-US" sz="2800" b="1" i="0" u="none" strike="noStrike" dirty="0">
                <a:solidFill>
                  <a:srgbClr val="1B1C1D"/>
                </a:solidFill>
                <a:effectLst/>
                <a:latin typeface="Google Sans"/>
              </a:rPr>
              <a:t>. Script Generation &amp; Management: The Action-Based Model</a:t>
            </a:r>
            <a:endParaRPr lang="pl-PL" sz="2800" b="1" i="0" u="none" strike="noStrike" dirty="0">
              <a:solidFill>
                <a:srgbClr val="1B1C1D"/>
              </a:solidFill>
              <a:effectLst/>
              <a:latin typeface="Google Sans"/>
            </a:endParaRPr>
          </a:p>
          <a:p>
            <a:pPr rtl="0">
              <a:spcBef>
                <a:spcPts val="600"/>
              </a:spcBef>
              <a:spcAft>
                <a:spcPts val="600"/>
              </a:spcAft>
            </a:pPr>
            <a:r>
              <a:rPr lang="en-US" sz="2000" b="0" i="0" u="none" strike="noStrike" dirty="0">
                <a:solidFill>
                  <a:srgbClr val="1B1C1D"/>
                </a:solidFill>
                <a:effectLst/>
                <a:latin typeface="Google Sans Text"/>
              </a:rPr>
              <a:t>To ensure robustness and avoid errors associated with direct code manipulation by the L</a:t>
            </a:r>
            <a:r>
              <a:rPr lang="pl-PL" sz="2000" b="0" i="0" u="none" strike="noStrike" dirty="0">
                <a:solidFill>
                  <a:srgbClr val="1B1C1D"/>
                </a:solidFill>
                <a:effectLst/>
                <a:latin typeface="Google Sans Text"/>
              </a:rPr>
              <a:t>R</a:t>
            </a:r>
            <a:r>
              <a:rPr lang="en-US" sz="2000" b="0" i="0" u="none" strike="noStrike" dirty="0">
                <a:solidFill>
                  <a:srgbClr val="1B1C1D"/>
                </a:solidFill>
                <a:effectLst/>
                <a:latin typeface="Google Sans Text"/>
              </a:rPr>
              <a:t>M, the system will manage the data processing script as a list of structured "Action" objects, not as a raw text file.</a:t>
            </a:r>
            <a:endParaRPr lang="pl-PL" sz="2000" b="0" i="0" u="none" strike="noStrike" dirty="0">
              <a:solidFill>
                <a:srgbClr val="1B1C1D"/>
              </a:solidFill>
              <a:effectLst/>
              <a:latin typeface="Google Sans Text"/>
            </a:endParaRPr>
          </a:p>
          <a:p>
            <a:pPr marL="342900" indent="-342900" rtl="0">
              <a:spcBef>
                <a:spcPts val="600"/>
              </a:spcBef>
              <a:spcAft>
                <a:spcPts val="600"/>
              </a:spcAft>
              <a:buFont typeface="Arial" panose="020B0604020202020204" pitchFamily="34" charset="0"/>
              <a:buChar char="•"/>
            </a:pPr>
            <a:r>
              <a:rPr lang="en-US" sz="2000" b="1" i="0" u="none" strike="noStrike" dirty="0">
                <a:solidFill>
                  <a:srgbClr val="1B1C1D"/>
                </a:solidFill>
                <a:effectLst/>
                <a:latin typeface="Google Sans Text"/>
              </a:rPr>
              <a:t>L</a:t>
            </a:r>
            <a:r>
              <a:rPr lang="pl-PL" sz="2000" b="1" i="0" u="none" strike="noStrike" dirty="0">
                <a:solidFill>
                  <a:srgbClr val="1B1C1D"/>
                </a:solidFill>
                <a:effectLst/>
                <a:latin typeface="Google Sans Text"/>
              </a:rPr>
              <a:t>R</a:t>
            </a:r>
            <a:r>
              <a:rPr lang="en-US" sz="2000" b="1" i="0" u="none" strike="noStrike" dirty="0">
                <a:solidFill>
                  <a:srgbClr val="1B1C1D"/>
                </a:solidFill>
                <a:effectLst/>
                <a:latin typeface="Google Sans Text"/>
              </a:rPr>
              <a:t>M Output is a Decision, Not Code:</a:t>
            </a:r>
            <a:r>
              <a:rPr lang="en-US" sz="2000" b="0" i="0" u="none" strike="noStrike" dirty="0">
                <a:solidFill>
                  <a:srgbClr val="1B1C1D"/>
                </a:solidFill>
                <a:effectLst/>
                <a:latin typeface="Google Sans Text"/>
              </a:rPr>
              <a:t> When the orchestrator decides on the next step, its output will be a JSON object representing a single Action, not a raw Python code string. </a:t>
            </a:r>
            <a:endParaRPr lang="pl-PL" sz="2000" b="0" i="0" u="none" strike="noStrike" dirty="0">
              <a:solidFill>
                <a:srgbClr val="1B1C1D"/>
              </a:solidFill>
              <a:effectLst/>
              <a:latin typeface="Google Sans Text"/>
            </a:endParaRPr>
          </a:p>
          <a:p>
            <a:pPr marL="342900" indent="-342900" rtl="0">
              <a:spcBef>
                <a:spcPts val="0"/>
              </a:spcBef>
              <a:spcAft>
                <a:spcPts val="600"/>
              </a:spcAft>
              <a:buFont typeface="Arial" panose="020B0604020202020204" pitchFamily="34" charset="0"/>
              <a:buChar char="•"/>
            </a:pPr>
            <a:r>
              <a:rPr lang="en-US" sz="2000" b="1" i="0" u="none" strike="noStrike" dirty="0">
                <a:solidFill>
                  <a:srgbClr val="1B1C1D"/>
                </a:solidFill>
                <a:effectLst/>
                <a:latin typeface="Google Sans Text"/>
              </a:rPr>
              <a:t>The Pipeline as a List of Actions: </a:t>
            </a:r>
            <a:r>
              <a:rPr lang="en-US" sz="2000" b="0" i="0" u="none" strike="noStrike" dirty="0">
                <a:solidFill>
                  <a:srgbClr val="1B1C1D"/>
                </a:solidFill>
                <a:effectLst/>
                <a:latin typeface="Google Sans Text"/>
              </a:rPr>
              <a:t>The entire analysis pipeline is maintained in memory as a list of these Action objects. This creates a </a:t>
            </a:r>
            <a:r>
              <a:rPr lang="en-US" sz="2000" b="1" i="0" u="none" strike="noStrike" dirty="0">
                <a:solidFill>
                  <a:srgbClr val="1B1C1D"/>
                </a:solidFill>
                <a:effectLst/>
                <a:latin typeface="Google Sans Text"/>
              </a:rPr>
              <a:t>stack-like structure</a:t>
            </a:r>
            <a:r>
              <a:rPr lang="en-US" sz="2000" b="0" i="0" u="none" strike="noStrike" dirty="0">
                <a:solidFill>
                  <a:srgbClr val="1B1C1D"/>
                </a:solidFill>
                <a:effectLst/>
                <a:latin typeface="Google Sans Text"/>
              </a:rPr>
              <a:t>, where new actions can be pushed to the end, and the most recent actions can be popped off for self-correction. </a:t>
            </a:r>
            <a:endParaRPr lang="pl-PL" sz="2000" b="0" i="0" u="none" strike="noStrike" dirty="0">
              <a:solidFill>
                <a:srgbClr val="1B1C1D"/>
              </a:solidFill>
              <a:effectLst/>
              <a:latin typeface="Google Sans Text"/>
            </a:endParaRPr>
          </a:p>
          <a:p>
            <a:pPr marL="342900" indent="-342900" rtl="0">
              <a:spcBef>
                <a:spcPts val="0"/>
              </a:spcBef>
              <a:spcAft>
                <a:spcPts val="600"/>
              </a:spcAft>
              <a:buFont typeface="Arial" panose="020B0604020202020204" pitchFamily="34" charset="0"/>
              <a:buChar char="•"/>
            </a:pPr>
            <a:r>
              <a:rPr lang="en-US" sz="2000" b="1" i="0" u="none" strike="noStrike" dirty="0">
                <a:solidFill>
                  <a:srgbClr val="1B1C1D"/>
                </a:solidFill>
                <a:effectLst/>
                <a:latin typeface="Google Sans Text"/>
              </a:rPr>
              <a:t>Deterministic Translation: </a:t>
            </a:r>
            <a:r>
              <a:rPr lang="en-US" sz="2000" b="0" i="0" u="none" strike="noStrike" dirty="0">
                <a:solidFill>
                  <a:srgbClr val="1B1C1D"/>
                </a:solidFill>
                <a:effectLst/>
                <a:latin typeface="Google Sans Text"/>
              </a:rPr>
              <a:t>A dedicated, reliable translator module within the system will iterate through the list of actions and generate the full, executable Python script. This process is deterministic and guarantees syntactically correct code.</a:t>
            </a:r>
            <a:endParaRPr lang="pl-PL" sz="2000" b="0" i="0" u="none" strike="noStrike" dirty="0">
              <a:solidFill>
                <a:srgbClr val="1B1C1D"/>
              </a:solidFill>
              <a:effectLst/>
              <a:latin typeface="Google Sans Text"/>
            </a:endParaRPr>
          </a:p>
          <a:p>
            <a:pPr marL="342900" indent="-342900" rtl="0">
              <a:spcBef>
                <a:spcPts val="0"/>
              </a:spcBef>
              <a:spcAft>
                <a:spcPts val="600"/>
              </a:spcAft>
              <a:buFont typeface="Arial" panose="020B0604020202020204" pitchFamily="34" charset="0"/>
              <a:buChar char="•"/>
            </a:pPr>
            <a:r>
              <a:rPr lang="en-US" sz="2000" b="1" i="0" u="none" strike="noStrike" dirty="0">
                <a:solidFill>
                  <a:srgbClr val="1B1C1D"/>
                </a:solidFill>
                <a:effectLst/>
                <a:latin typeface="Google Sans Text"/>
              </a:rPr>
              <a:t>State Management:</a:t>
            </a:r>
            <a:endParaRPr lang="pl-PL" sz="1100" dirty="0">
              <a:solidFill>
                <a:srgbClr val="000000"/>
              </a:solidFill>
              <a:latin typeface="Arial" panose="020B0604020202020204" pitchFamily="34" charset="0"/>
            </a:endParaRPr>
          </a:p>
          <a:p>
            <a:pPr marL="800100" lvl="1" indent="-342900">
              <a:spcAft>
                <a:spcPts val="600"/>
              </a:spcAft>
              <a:buFont typeface="Arial" panose="020B0604020202020204" pitchFamily="34" charset="0"/>
              <a:buChar char="•"/>
            </a:pPr>
            <a:r>
              <a:rPr lang="en-US" sz="2000" b="1" i="0" u="none" strike="noStrike" dirty="0">
                <a:solidFill>
                  <a:srgbClr val="1B1C1D"/>
                </a:solidFill>
                <a:effectLst/>
                <a:latin typeface="Google Sans Text"/>
              </a:rPr>
              <a:t>Phase 1 (Prototype): </a:t>
            </a:r>
            <a:r>
              <a:rPr lang="en-US" sz="2000" i="0" u="none" strike="noStrike" dirty="0">
                <a:solidFill>
                  <a:srgbClr val="1B1C1D"/>
                </a:solidFill>
                <a:effectLst/>
                <a:latin typeface="Google Sans Text"/>
              </a:rPr>
              <a:t>For simplicity, the entire generated script will be re-executed from the beginning at every iteration. </a:t>
            </a:r>
            <a:endParaRPr lang="pl-PL" sz="2000" i="0" u="none" strike="noStrike" dirty="0">
              <a:solidFill>
                <a:srgbClr val="1B1C1D"/>
              </a:solidFill>
              <a:effectLst/>
              <a:latin typeface="Google Sans Text"/>
            </a:endParaRPr>
          </a:p>
          <a:p>
            <a:pPr marL="800100" lvl="1" indent="-342900">
              <a:spcAft>
                <a:spcPts val="600"/>
              </a:spcAft>
              <a:buFont typeface="Arial" panose="020B0604020202020204" pitchFamily="34" charset="0"/>
              <a:buChar char="•"/>
            </a:pPr>
            <a:r>
              <a:rPr lang="en-US" sz="2000" b="1" i="0" u="none" strike="noStrike" dirty="0">
                <a:solidFill>
                  <a:srgbClr val="1B1C1D"/>
                </a:solidFill>
                <a:effectLst/>
                <a:latin typeface="Google Sans Text"/>
              </a:rPr>
              <a:t>Long-Term Vision:</a:t>
            </a:r>
            <a:r>
              <a:rPr lang="en-US" sz="2000" i="0" u="none" strike="noStrike" dirty="0">
                <a:solidFill>
                  <a:srgbClr val="1B1C1D"/>
                </a:solidFill>
                <a:effectLst/>
                <a:latin typeface="Google Sans Text"/>
              </a:rPr>
              <a:t> To optimize performance, the output of each Action will be saved to a dedicated, uniquely named file (e.g., a .</a:t>
            </a:r>
            <a:r>
              <a:rPr lang="en-US" sz="2000" i="0" u="none" strike="noStrike" dirty="0" err="1">
                <a:solidFill>
                  <a:srgbClr val="1B1C1D"/>
                </a:solidFill>
                <a:effectLst/>
                <a:latin typeface="Google Sans Text"/>
              </a:rPr>
              <a:t>pkl</a:t>
            </a:r>
            <a:r>
              <a:rPr lang="en-US" sz="2000" i="0" u="none" strike="noStrike" dirty="0">
                <a:solidFill>
                  <a:srgbClr val="1B1C1D"/>
                </a:solidFill>
                <a:effectLst/>
                <a:latin typeface="Google Sans Text"/>
              </a:rPr>
              <a:t> file). Subsequent actions will load data from these files instead of re-computing, enabling efficient, stateful execution.</a:t>
            </a:r>
            <a:endParaRPr lang="pl-PL" sz="2000" i="0" u="none" strike="noStrike" dirty="0">
              <a:solidFill>
                <a:srgbClr val="1B1C1D"/>
              </a:solidFill>
              <a:effectLst/>
              <a:latin typeface="Google Sans Text"/>
            </a:endParaRPr>
          </a:p>
        </p:txBody>
      </p:sp>
    </p:spTree>
    <p:extLst>
      <p:ext uri="{BB962C8B-B14F-4D97-AF65-F5344CB8AC3E}">
        <p14:creationId xmlns:p14="http://schemas.microsoft.com/office/powerpoint/2010/main" val="19110423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ole tekstowe 4">
            <a:extLst>
              <a:ext uri="{FF2B5EF4-FFF2-40B4-BE49-F238E27FC236}">
                <a16:creationId xmlns:a16="http://schemas.microsoft.com/office/drawing/2014/main" id="{46E71797-72AB-4194-AAD3-B0A8912480E6}"/>
              </a:ext>
            </a:extLst>
          </p:cNvPr>
          <p:cNvSpPr txBox="1"/>
          <p:nvPr/>
        </p:nvSpPr>
        <p:spPr>
          <a:xfrm>
            <a:off x="261667" y="231894"/>
            <a:ext cx="11496136" cy="6201698"/>
          </a:xfrm>
          <a:prstGeom prst="rect">
            <a:avLst/>
          </a:prstGeom>
          <a:noFill/>
        </p:spPr>
        <p:txBody>
          <a:bodyPr wrap="square">
            <a:spAutoFit/>
          </a:bodyPr>
          <a:lstStyle/>
          <a:p>
            <a:pPr rtl="0">
              <a:spcBef>
                <a:spcPts val="600"/>
              </a:spcBef>
              <a:spcAft>
                <a:spcPts val="600"/>
              </a:spcAft>
            </a:pPr>
            <a:r>
              <a:rPr lang="pl-PL" sz="2800" b="1" i="0" u="none" strike="noStrike" dirty="0">
                <a:solidFill>
                  <a:srgbClr val="1B1C1D"/>
                </a:solidFill>
                <a:effectLst/>
                <a:latin typeface="Google Sans"/>
              </a:rPr>
              <a:t>7</a:t>
            </a:r>
            <a:r>
              <a:rPr lang="en-US" sz="2800" b="1" i="0" u="none" strike="noStrike" dirty="0">
                <a:solidFill>
                  <a:srgbClr val="1B1C1D"/>
                </a:solidFill>
                <a:effectLst/>
                <a:latin typeface="Google Sans"/>
              </a:rPr>
              <a:t>. Script Generation &amp; Management: The Action-Based Model</a:t>
            </a:r>
            <a:endParaRPr lang="pl-PL" sz="2800" b="1" i="0" u="none" strike="noStrike" dirty="0">
              <a:solidFill>
                <a:srgbClr val="1B1C1D"/>
              </a:solidFill>
              <a:effectLst/>
              <a:latin typeface="Google Sans"/>
            </a:endParaRPr>
          </a:p>
          <a:p>
            <a:pPr rtl="0">
              <a:spcBef>
                <a:spcPts val="600"/>
              </a:spcBef>
              <a:spcAft>
                <a:spcPts val="600"/>
              </a:spcAft>
            </a:pPr>
            <a:r>
              <a:rPr lang="en-US" b="0" i="0" u="none" strike="noStrike" dirty="0">
                <a:solidFill>
                  <a:srgbClr val="1B1C1D"/>
                </a:solidFill>
                <a:effectLst/>
                <a:latin typeface="Google Sans Text"/>
              </a:rPr>
              <a:t>Example </a:t>
            </a:r>
            <a:r>
              <a:rPr lang="en-US" b="0" i="0" u="none" strike="noStrike" dirty="0" err="1">
                <a:solidFill>
                  <a:srgbClr val="1B1C1D"/>
                </a:solidFill>
                <a:effectLst/>
                <a:latin typeface="Google Sans Text"/>
              </a:rPr>
              <a:t>pipeline_steps</a:t>
            </a:r>
            <a:r>
              <a:rPr lang="en-US" b="0" i="0" u="none" strike="noStrike" dirty="0">
                <a:solidFill>
                  <a:srgbClr val="1B1C1D"/>
                </a:solidFill>
                <a:effectLst/>
                <a:latin typeface="Google Sans Text"/>
              </a:rPr>
              <a:t> list:</a:t>
            </a:r>
            <a:endParaRPr lang="pl-PL" b="0" i="0" u="none" strike="noStrike" dirty="0">
              <a:solidFill>
                <a:srgbClr val="1B1C1D"/>
              </a:solidFill>
              <a:effectLst/>
              <a:latin typeface="Google Sans Text"/>
            </a:endParaRPr>
          </a:p>
          <a:p>
            <a:pPr rtl="0"/>
            <a:r>
              <a:rPr lang="pl-PL" sz="1400" i="0" u="none" strike="noStrike" dirty="0">
                <a:solidFill>
                  <a:srgbClr val="1B1C1D"/>
                </a:solidFill>
                <a:effectLst/>
                <a:latin typeface="Google Sans Text"/>
              </a:rPr>
              <a:t>{</a:t>
            </a:r>
          </a:p>
          <a:p>
            <a:pPr rtl="0"/>
            <a:r>
              <a:rPr lang="pl-PL" sz="1400" i="0" u="none" strike="noStrike" dirty="0">
                <a:solidFill>
                  <a:srgbClr val="1B1C1D"/>
                </a:solidFill>
                <a:effectLst/>
                <a:latin typeface="Google Sans Text"/>
              </a:rPr>
              <a:t>    {</a:t>
            </a:r>
          </a:p>
          <a:p>
            <a:pPr rtl="0"/>
            <a:r>
              <a:rPr lang="pl-PL" sz="1400" i="0" u="none" strike="noStrike" dirty="0">
                <a:solidFill>
                  <a:srgbClr val="1B1C1D"/>
                </a:solidFill>
                <a:effectLst/>
                <a:latin typeface="Google Sans Text"/>
              </a:rPr>
              <a:t>        "</a:t>
            </a:r>
            <a:r>
              <a:rPr lang="pl-PL" sz="1400" i="0" u="none" strike="noStrike" dirty="0" err="1">
                <a:solidFill>
                  <a:srgbClr val="1B1C1D"/>
                </a:solidFill>
                <a:effectLst/>
                <a:latin typeface="Google Sans Text"/>
              </a:rPr>
              <a:t>action_id</a:t>
            </a:r>
            <a:r>
              <a:rPr lang="pl-PL" sz="1400" i="0" u="none" strike="noStrike" dirty="0">
                <a:solidFill>
                  <a:srgbClr val="1B1C1D"/>
                </a:solidFill>
                <a:effectLst/>
                <a:latin typeface="Google Sans Text"/>
              </a:rPr>
              <a:t>": 1,</a:t>
            </a:r>
          </a:p>
          <a:p>
            <a:pPr rtl="0"/>
            <a:r>
              <a:rPr lang="pl-PL" sz="1400" i="0" u="none" strike="noStrike" dirty="0">
                <a:solidFill>
                  <a:srgbClr val="1B1C1D"/>
                </a:solidFill>
                <a:effectLst/>
                <a:latin typeface="Google Sans Text"/>
              </a:rPr>
              <a:t>        "</a:t>
            </a:r>
            <a:r>
              <a:rPr lang="pl-PL" sz="1400" i="0" u="none" strike="noStrike" dirty="0" err="1">
                <a:solidFill>
                  <a:srgbClr val="1B1C1D"/>
                </a:solidFill>
                <a:effectLst/>
                <a:latin typeface="Google Sans Text"/>
              </a:rPr>
              <a:t>tool_name</a:t>
            </a:r>
            <a:r>
              <a:rPr lang="pl-PL" sz="1400" i="0" u="none" strike="noStrike" dirty="0">
                <a:solidFill>
                  <a:srgbClr val="1B1C1D"/>
                </a:solidFill>
                <a:effectLst/>
                <a:latin typeface="Google Sans Text"/>
              </a:rPr>
              <a:t>": "</a:t>
            </a:r>
            <a:r>
              <a:rPr lang="pl-PL" sz="1400" i="0" u="none" strike="noStrike" dirty="0" err="1">
                <a:solidFill>
                  <a:srgbClr val="1B1C1D"/>
                </a:solidFill>
                <a:effectLst/>
                <a:latin typeface="Google Sans Text"/>
              </a:rPr>
              <a:t>load_bearing_data</a:t>
            </a:r>
            <a:r>
              <a:rPr lang="pl-PL" sz="1400" i="0" u="none" strike="noStrike" dirty="0">
                <a:solidFill>
                  <a:srgbClr val="1B1C1D"/>
                </a:solidFill>
                <a:effectLst/>
                <a:latin typeface="Google Sans Text"/>
              </a:rPr>
              <a:t>",</a:t>
            </a:r>
          </a:p>
          <a:p>
            <a:pPr rtl="0"/>
            <a:r>
              <a:rPr lang="pl-PL" sz="1400" i="0" u="none" strike="noStrike" dirty="0">
                <a:solidFill>
                  <a:srgbClr val="1B1C1D"/>
                </a:solidFill>
                <a:effectLst/>
                <a:latin typeface="Google Sans Text"/>
              </a:rPr>
              <a:t>        "</a:t>
            </a:r>
            <a:r>
              <a:rPr lang="pl-PL" sz="1400" i="0" u="none" strike="noStrike" dirty="0" err="1">
                <a:solidFill>
                  <a:srgbClr val="1B1C1D"/>
                </a:solidFill>
                <a:effectLst/>
                <a:latin typeface="Google Sans Text"/>
              </a:rPr>
              <a:t>params</a:t>
            </a:r>
            <a:r>
              <a:rPr lang="pl-PL" sz="1400" i="0" u="none" strike="noStrike" dirty="0">
                <a:solidFill>
                  <a:srgbClr val="1B1C1D"/>
                </a:solidFill>
                <a:effectLst/>
                <a:latin typeface="Google Sans Text"/>
              </a:rPr>
              <a:t>": {</a:t>
            </a:r>
          </a:p>
          <a:p>
            <a:pPr rtl="0"/>
            <a:r>
              <a:rPr lang="pl-PL" sz="1400" dirty="0">
                <a:solidFill>
                  <a:srgbClr val="1B1C1D"/>
                </a:solidFill>
                <a:latin typeface="Google Sans Text"/>
              </a:rPr>
              <a:t>            </a:t>
            </a:r>
            <a:r>
              <a:rPr lang="pl-PL" sz="1400" i="0" u="none" strike="noStrike" dirty="0">
                <a:solidFill>
                  <a:srgbClr val="1B1C1D"/>
                </a:solidFill>
                <a:effectLst/>
                <a:latin typeface="Google Sans Text"/>
              </a:rPr>
              <a:t>"</a:t>
            </a:r>
            <a:r>
              <a:rPr lang="pl-PL" sz="1400" i="0" u="none" strike="noStrike" dirty="0" err="1">
                <a:solidFill>
                  <a:srgbClr val="1B1C1D"/>
                </a:solidFill>
                <a:effectLst/>
                <a:latin typeface="Google Sans Text"/>
              </a:rPr>
              <a:t>file_path</a:t>
            </a:r>
            <a:r>
              <a:rPr lang="pl-PL" sz="1400" i="0" u="none" strike="noStrike" dirty="0">
                <a:solidFill>
                  <a:srgbClr val="1B1C1D"/>
                </a:solidFill>
                <a:effectLst/>
                <a:latin typeface="Google Sans Text"/>
              </a:rPr>
              <a:t>": "bearing_data.csv”,</a:t>
            </a:r>
          </a:p>
          <a:p>
            <a:r>
              <a:rPr lang="pl-PL" sz="1400" i="0" u="none" strike="noStrike" dirty="0">
                <a:solidFill>
                  <a:srgbClr val="1B1C1D"/>
                </a:solidFill>
                <a:effectLst/>
                <a:latin typeface="Google Sans Text"/>
              </a:rPr>
              <a:t>            "</a:t>
            </a:r>
            <a:r>
              <a:rPr lang="pl-PL" sz="1400" i="0" u="none" strike="noStrike" dirty="0" err="1">
                <a:solidFill>
                  <a:srgbClr val="1B1C1D"/>
                </a:solidFill>
                <a:effectLst/>
                <a:latin typeface="Google Sans Text"/>
              </a:rPr>
              <a:t>output_image_path</a:t>
            </a:r>
            <a:r>
              <a:rPr lang="pl-PL" sz="1400" i="0" u="none" strike="noStrike" dirty="0">
                <a:solidFill>
                  <a:srgbClr val="1B1C1D"/>
                </a:solidFill>
                <a:effectLst/>
                <a:latin typeface="Google Sans Text"/>
              </a:rPr>
              <a:t>": "step1_plot.png”</a:t>
            </a:r>
            <a:endParaRPr lang="pl-PL" sz="1400" dirty="0">
              <a:solidFill>
                <a:srgbClr val="1B1C1D"/>
              </a:solidFill>
              <a:latin typeface="Google Sans Text"/>
            </a:endParaRPr>
          </a:p>
          <a:p>
            <a:pPr rtl="0"/>
            <a:r>
              <a:rPr lang="pl-PL" sz="1400" dirty="0">
                <a:solidFill>
                  <a:srgbClr val="1B1C1D"/>
                </a:solidFill>
                <a:latin typeface="Google Sans Text"/>
              </a:rPr>
              <a:t>        </a:t>
            </a:r>
            <a:r>
              <a:rPr lang="pl-PL" sz="1400" i="0" u="none" strike="noStrike" dirty="0">
                <a:solidFill>
                  <a:srgbClr val="1B1C1D"/>
                </a:solidFill>
                <a:effectLst/>
                <a:latin typeface="Google Sans Text"/>
              </a:rPr>
              <a:t>},</a:t>
            </a:r>
          </a:p>
          <a:p>
            <a:pPr rtl="0"/>
            <a:r>
              <a:rPr lang="pl-PL" sz="1400" i="0" u="none" strike="noStrike" dirty="0">
                <a:solidFill>
                  <a:srgbClr val="1B1C1D"/>
                </a:solidFill>
                <a:effectLst/>
                <a:latin typeface="Google Sans Text"/>
              </a:rPr>
              <a:t>        "</a:t>
            </a:r>
            <a:r>
              <a:rPr lang="pl-PL" sz="1400" i="0" u="none" strike="noStrike" dirty="0" err="1">
                <a:solidFill>
                  <a:srgbClr val="1B1C1D"/>
                </a:solidFill>
                <a:effectLst/>
                <a:latin typeface="Google Sans Text"/>
              </a:rPr>
              <a:t>output_variable</a:t>
            </a:r>
            <a:r>
              <a:rPr lang="pl-PL" sz="1400" i="0" u="none" strike="noStrike" dirty="0">
                <a:solidFill>
                  <a:srgbClr val="1B1C1D"/>
                </a:solidFill>
                <a:effectLst/>
                <a:latin typeface="Google Sans Text"/>
              </a:rPr>
              <a:t>": "</a:t>
            </a:r>
            <a:r>
              <a:rPr lang="pl-PL" sz="1400" i="0" u="none" strike="noStrike" dirty="0" err="1">
                <a:solidFill>
                  <a:srgbClr val="1B1C1D"/>
                </a:solidFill>
                <a:effectLst/>
                <a:latin typeface="Google Sans Text"/>
              </a:rPr>
              <a:t>raw_signal</a:t>
            </a:r>
            <a:r>
              <a:rPr lang="pl-PL" sz="1400" i="0" u="none" strike="noStrike" dirty="0">
                <a:solidFill>
                  <a:srgbClr val="1B1C1D"/>
                </a:solidFill>
                <a:effectLst/>
                <a:latin typeface="Google Sans Text"/>
              </a:rPr>
              <a:t>”</a:t>
            </a:r>
          </a:p>
          <a:p>
            <a:pPr rtl="0"/>
            <a:r>
              <a:rPr lang="pl-PL" sz="1400" i="0" u="none" strike="noStrike" dirty="0">
                <a:solidFill>
                  <a:srgbClr val="1B1C1D"/>
                </a:solidFill>
                <a:effectLst/>
                <a:latin typeface="Google Sans Text"/>
              </a:rPr>
              <a:t>    },</a:t>
            </a:r>
          </a:p>
          <a:p>
            <a:pPr rtl="0"/>
            <a:r>
              <a:rPr lang="pl-PL" sz="1400" i="0" u="none" strike="noStrike" dirty="0">
                <a:solidFill>
                  <a:srgbClr val="1B1C1D"/>
                </a:solidFill>
                <a:effectLst/>
                <a:latin typeface="Google Sans Text"/>
              </a:rPr>
              <a:t>    {</a:t>
            </a:r>
          </a:p>
          <a:p>
            <a:pPr rtl="0"/>
            <a:r>
              <a:rPr lang="pl-PL" sz="1400" i="0" u="none" strike="noStrike" dirty="0">
                <a:solidFill>
                  <a:srgbClr val="1B1C1D"/>
                </a:solidFill>
                <a:effectLst/>
                <a:latin typeface="Google Sans Text"/>
              </a:rPr>
              <a:t>        "</a:t>
            </a:r>
            <a:r>
              <a:rPr lang="pl-PL" sz="1400" i="0" u="none" strike="noStrike" dirty="0" err="1">
                <a:solidFill>
                  <a:srgbClr val="1B1C1D"/>
                </a:solidFill>
                <a:effectLst/>
                <a:latin typeface="Google Sans Text"/>
              </a:rPr>
              <a:t>action_id</a:t>
            </a:r>
            <a:r>
              <a:rPr lang="pl-PL" sz="1400" i="0" u="none" strike="noStrike" dirty="0">
                <a:solidFill>
                  <a:srgbClr val="1B1C1D"/>
                </a:solidFill>
                <a:effectLst/>
                <a:latin typeface="Google Sans Text"/>
              </a:rPr>
              <a:t>": 2,</a:t>
            </a:r>
          </a:p>
          <a:p>
            <a:pPr rtl="0"/>
            <a:r>
              <a:rPr lang="pl-PL" sz="1400" i="0" u="none" strike="noStrike" dirty="0">
                <a:solidFill>
                  <a:srgbClr val="1B1C1D"/>
                </a:solidFill>
                <a:effectLst/>
                <a:latin typeface="Google Sans Text"/>
              </a:rPr>
              <a:t>        "</a:t>
            </a:r>
            <a:r>
              <a:rPr lang="pl-PL" sz="1400" i="0" u="none" strike="noStrike" dirty="0" err="1">
                <a:solidFill>
                  <a:srgbClr val="1B1C1D"/>
                </a:solidFill>
                <a:effectLst/>
                <a:latin typeface="Google Sans Text"/>
              </a:rPr>
              <a:t>tool_name</a:t>
            </a:r>
            <a:r>
              <a:rPr lang="pl-PL" sz="1400" i="0" u="none" strike="noStrike" dirty="0">
                <a:solidFill>
                  <a:srgbClr val="1B1C1D"/>
                </a:solidFill>
                <a:effectLst/>
                <a:latin typeface="Google Sans Text"/>
              </a:rPr>
              <a:t>": "</a:t>
            </a:r>
            <a:r>
              <a:rPr lang="pl-PL" sz="1400" i="0" u="none" strike="noStrike" dirty="0" err="1">
                <a:solidFill>
                  <a:srgbClr val="1B1C1D"/>
                </a:solidFill>
                <a:effectLst/>
                <a:latin typeface="Google Sans Text"/>
              </a:rPr>
              <a:t>create_signal_spectrogram</a:t>
            </a:r>
            <a:r>
              <a:rPr lang="pl-PL" sz="1400" i="0" u="none" strike="noStrike" dirty="0">
                <a:solidFill>
                  <a:srgbClr val="1B1C1D"/>
                </a:solidFill>
                <a:effectLst/>
                <a:latin typeface="Google Sans Text"/>
              </a:rPr>
              <a:t>",</a:t>
            </a:r>
          </a:p>
          <a:p>
            <a:pPr rtl="0"/>
            <a:r>
              <a:rPr lang="pl-PL" sz="1400" i="0" u="none" strike="noStrike" dirty="0">
                <a:solidFill>
                  <a:srgbClr val="1B1C1D"/>
                </a:solidFill>
                <a:effectLst/>
                <a:latin typeface="Google Sans Text"/>
              </a:rPr>
              <a:t>        "</a:t>
            </a:r>
            <a:r>
              <a:rPr lang="pl-PL" sz="1400" i="0" u="none" strike="noStrike" dirty="0" err="1">
                <a:solidFill>
                  <a:srgbClr val="1B1C1D"/>
                </a:solidFill>
                <a:effectLst/>
                <a:latin typeface="Google Sans Text"/>
              </a:rPr>
              <a:t>params</a:t>
            </a:r>
            <a:r>
              <a:rPr lang="pl-PL" sz="1400" i="0" u="none" strike="noStrike" dirty="0">
                <a:solidFill>
                  <a:srgbClr val="1B1C1D"/>
                </a:solidFill>
                <a:effectLst/>
                <a:latin typeface="Google Sans Text"/>
              </a:rPr>
              <a:t>": {</a:t>
            </a:r>
          </a:p>
          <a:p>
            <a:pPr rtl="0"/>
            <a:r>
              <a:rPr lang="pl-PL" sz="1400" i="0" u="none" strike="noStrike" dirty="0">
                <a:solidFill>
                  <a:srgbClr val="1B1C1D"/>
                </a:solidFill>
                <a:effectLst/>
                <a:latin typeface="Google Sans Text"/>
              </a:rPr>
              <a:t>            "</a:t>
            </a:r>
            <a:r>
              <a:rPr lang="pl-PL" sz="1400" i="0" u="none" strike="noStrike" dirty="0" err="1">
                <a:solidFill>
                  <a:srgbClr val="1B1C1D"/>
                </a:solidFill>
                <a:effectLst/>
                <a:latin typeface="Google Sans Text"/>
              </a:rPr>
              <a:t>signal_data</a:t>
            </a:r>
            <a:r>
              <a:rPr lang="pl-PL" sz="1400" i="0" u="none" strike="noStrike" dirty="0">
                <a:solidFill>
                  <a:srgbClr val="1B1C1D"/>
                </a:solidFill>
                <a:effectLst/>
                <a:latin typeface="Google Sans Text"/>
              </a:rPr>
              <a:t>": "</a:t>
            </a:r>
            <a:r>
              <a:rPr lang="pl-PL" sz="1400" i="0" u="none" strike="noStrike" dirty="0" err="1">
                <a:solidFill>
                  <a:srgbClr val="1B1C1D"/>
                </a:solidFill>
                <a:effectLst/>
                <a:latin typeface="Google Sans Text"/>
              </a:rPr>
              <a:t>raw_signal</a:t>
            </a:r>
            <a:r>
              <a:rPr lang="pl-PL" sz="1400" i="0" u="none" strike="noStrike" dirty="0">
                <a:solidFill>
                  <a:srgbClr val="1B1C1D"/>
                </a:solidFill>
                <a:effectLst/>
                <a:latin typeface="Google Sans Text"/>
              </a:rPr>
              <a:t>",</a:t>
            </a:r>
          </a:p>
          <a:p>
            <a:pPr rtl="0"/>
            <a:r>
              <a:rPr lang="pl-PL" sz="1400" i="0" u="none" strike="noStrike" dirty="0">
                <a:solidFill>
                  <a:srgbClr val="1B1C1D"/>
                </a:solidFill>
                <a:effectLst/>
                <a:latin typeface="Google Sans Text"/>
              </a:rPr>
              <a:t>            "</a:t>
            </a:r>
            <a:r>
              <a:rPr lang="pl-PL" sz="1400" i="0" u="none" strike="noStrike" dirty="0" err="1">
                <a:solidFill>
                  <a:srgbClr val="1B1C1D"/>
                </a:solidFill>
                <a:effectLst/>
                <a:latin typeface="Google Sans Text"/>
              </a:rPr>
              <a:t>sampling_rate</a:t>
            </a:r>
            <a:r>
              <a:rPr lang="pl-PL" sz="1400" i="0" u="none" strike="noStrike" dirty="0">
                <a:solidFill>
                  <a:srgbClr val="1B1C1D"/>
                </a:solidFill>
                <a:effectLst/>
                <a:latin typeface="Google Sans Text"/>
              </a:rPr>
              <a:t>": 50000,</a:t>
            </a:r>
          </a:p>
          <a:p>
            <a:pPr rtl="0"/>
            <a:r>
              <a:rPr lang="pl-PL" sz="1400" dirty="0">
                <a:solidFill>
                  <a:srgbClr val="1B1C1D"/>
                </a:solidFill>
                <a:latin typeface="Google Sans Text"/>
              </a:rPr>
              <a:t>            </a:t>
            </a:r>
            <a:r>
              <a:rPr lang="pl-PL" sz="1400" i="0" u="none" strike="noStrike" dirty="0">
                <a:solidFill>
                  <a:srgbClr val="1B1C1D"/>
                </a:solidFill>
                <a:effectLst/>
                <a:latin typeface="Google Sans Text"/>
              </a:rPr>
              <a:t>"</a:t>
            </a:r>
            <a:r>
              <a:rPr lang="pl-PL" sz="1400" i="0" u="none" strike="noStrike" dirty="0" err="1">
                <a:solidFill>
                  <a:srgbClr val="1B1C1D"/>
                </a:solidFill>
                <a:effectLst/>
                <a:latin typeface="Google Sans Text"/>
              </a:rPr>
              <a:t>nperseg_relative</a:t>
            </a:r>
            <a:r>
              <a:rPr lang="pl-PL" sz="1400" i="0" u="none" strike="noStrike" dirty="0">
                <a:solidFill>
                  <a:srgbClr val="1B1C1D"/>
                </a:solidFill>
                <a:effectLst/>
                <a:latin typeface="Google Sans Text"/>
              </a:rPr>
              <a:t>": 0.05,</a:t>
            </a:r>
          </a:p>
          <a:p>
            <a:pPr rtl="0"/>
            <a:r>
              <a:rPr lang="pl-PL" sz="1400" dirty="0">
                <a:solidFill>
                  <a:srgbClr val="1B1C1D"/>
                </a:solidFill>
                <a:latin typeface="Google Sans Text"/>
              </a:rPr>
              <a:t>            </a:t>
            </a:r>
            <a:r>
              <a:rPr lang="pl-PL" sz="1400" i="0" u="none" strike="noStrike" dirty="0">
                <a:solidFill>
                  <a:srgbClr val="1B1C1D"/>
                </a:solidFill>
                <a:effectLst/>
                <a:latin typeface="Google Sans Text"/>
              </a:rPr>
              <a:t>"</a:t>
            </a:r>
            <a:r>
              <a:rPr lang="pl-PL" sz="1400" i="0" u="none" strike="noStrike" dirty="0" err="1">
                <a:solidFill>
                  <a:srgbClr val="1B1C1D"/>
                </a:solidFill>
                <a:effectLst/>
                <a:latin typeface="Google Sans Text"/>
              </a:rPr>
              <a:t>overlap_relative</a:t>
            </a:r>
            <a:r>
              <a:rPr lang="pl-PL" sz="1400" i="0" u="none" strike="noStrike" dirty="0">
                <a:solidFill>
                  <a:srgbClr val="1B1C1D"/>
                </a:solidFill>
                <a:effectLst/>
                <a:latin typeface="Google Sans Text"/>
              </a:rPr>
              <a:t>": 0.04,</a:t>
            </a:r>
          </a:p>
          <a:p>
            <a:pPr rtl="0"/>
            <a:r>
              <a:rPr lang="pl-PL" sz="1400" dirty="0">
                <a:solidFill>
                  <a:srgbClr val="1B1C1D"/>
                </a:solidFill>
                <a:latin typeface="Google Sans Text"/>
              </a:rPr>
              <a:t>            </a:t>
            </a:r>
            <a:r>
              <a:rPr lang="pl-PL" sz="1400" i="0" u="none" strike="noStrike" dirty="0">
                <a:solidFill>
                  <a:srgbClr val="1B1C1D"/>
                </a:solidFill>
                <a:effectLst/>
                <a:latin typeface="Google Sans Text"/>
              </a:rPr>
              <a:t>"</a:t>
            </a:r>
            <a:r>
              <a:rPr lang="pl-PL" sz="1400" i="0" u="none" strike="noStrike" dirty="0" err="1">
                <a:solidFill>
                  <a:srgbClr val="1B1C1D"/>
                </a:solidFill>
                <a:effectLst/>
                <a:latin typeface="Google Sans Text"/>
              </a:rPr>
              <a:t>nfft_relative</a:t>
            </a:r>
            <a:r>
              <a:rPr lang="pl-PL" sz="1400" i="0" u="none" strike="noStrike" dirty="0">
                <a:solidFill>
                  <a:srgbClr val="1B1C1D"/>
                </a:solidFill>
                <a:effectLst/>
                <a:latin typeface="Google Sans Text"/>
              </a:rPr>
              <a:t>": 0.05,</a:t>
            </a:r>
          </a:p>
          <a:p>
            <a:pPr rtl="0"/>
            <a:r>
              <a:rPr lang="pl-PL" sz="1400" i="0" u="none" strike="noStrike" dirty="0">
                <a:solidFill>
                  <a:srgbClr val="1B1C1D"/>
                </a:solidFill>
                <a:effectLst/>
                <a:latin typeface="Google Sans Text"/>
              </a:rPr>
              <a:t>            "</a:t>
            </a:r>
            <a:r>
              <a:rPr lang="pl-PL" sz="1400" i="0" u="none" strike="noStrike" dirty="0" err="1">
                <a:solidFill>
                  <a:srgbClr val="1B1C1D"/>
                </a:solidFill>
                <a:effectLst/>
                <a:latin typeface="Google Sans Text"/>
              </a:rPr>
              <a:t>output_image_path</a:t>
            </a:r>
            <a:r>
              <a:rPr lang="pl-PL" sz="1400" i="0" u="none" strike="noStrike" dirty="0">
                <a:solidFill>
                  <a:srgbClr val="1B1C1D"/>
                </a:solidFill>
                <a:effectLst/>
                <a:latin typeface="Google Sans Text"/>
              </a:rPr>
              <a:t>": "step2_spectrogram.png”</a:t>
            </a:r>
          </a:p>
          <a:p>
            <a:pPr rtl="0"/>
            <a:r>
              <a:rPr lang="pl-PL" sz="1400" i="0" u="none" strike="noStrike" dirty="0">
                <a:solidFill>
                  <a:srgbClr val="1B1C1D"/>
                </a:solidFill>
                <a:effectLst/>
                <a:latin typeface="Google Sans Text"/>
              </a:rPr>
              <a:t>        },</a:t>
            </a:r>
          </a:p>
          <a:p>
            <a:pPr rtl="0"/>
            <a:r>
              <a:rPr lang="pl-PL" sz="1400" i="0" u="none" strike="noStrike" dirty="0">
                <a:solidFill>
                  <a:srgbClr val="1B1C1D"/>
                </a:solidFill>
                <a:effectLst/>
                <a:latin typeface="Google Sans Text"/>
              </a:rPr>
              <a:t>        "</a:t>
            </a:r>
            <a:r>
              <a:rPr lang="pl-PL" sz="1400" i="0" u="none" strike="noStrike" dirty="0" err="1">
                <a:solidFill>
                  <a:srgbClr val="1B1C1D"/>
                </a:solidFill>
                <a:effectLst/>
                <a:latin typeface="Google Sans Text"/>
              </a:rPr>
              <a:t>output_variable</a:t>
            </a:r>
            <a:r>
              <a:rPr lang="pl-PL" sz="1400" i="0" u="none" strike="noStrike" dirty="0">
                <a:solidFill>
                  <a:srgbClr val="1B1C1D"/>
                </a:solidFill>
                <a:effectLst/>
                <a:latin typeface="Google Sans Text"/>
              </a:rPr>
              <a:t>": "</a:t>
            </a:r>
            <a:r>
              <a:rPr lang="pl-PL" sz="1400" i="0" u="none" strike="noStrike" dirty="0" err="1">
                <a:solidFill>
                  <a:srgbClr val="1B1C1D"/>
                </a:solidFill>
                <a:effectLst/>
                <a:latin typeface="Google Sans Text"/>
              </a:rPr>
              <a:t>spectrogram_results</a:t>
            </a:r>
            <a:r>
              <a:rPr lang="pl-PL" sz="1400" i="0" u="none" strike="noStrike" dirty="0">
                <a:solidFill>
                  <a:srgbClr val="1B1C1D"/>
                </a:solidFill>
                <a:effectLst/>
                <a:latin typeface="Google Sans Text"/>
              </a:rPr>
              <a:t>”</a:t>
            </a:r>
          </a:p>
          <a:p>
            <a:pPr rtl="0"/>
            <a:r>
              <a:rPr lang="pl-PL" sz="1400" i="0" u="none" strike="noStrike" dirty="0">
                <a:solidFill>
                  <a:srgbClr val="1B1C1D"/>
                </a:solidFill>
                <a:effectLst/>
                <a:latin typeface="Google Sans Text"/>
              </a:rPr>
              <a:t>    }</a:t>
            </a:r>
          </a:p>
          <a:p>
            <a:pPr rtl="0"/>
            <a:r>
              <a:rPr lang="pl-PL" sz="1400" i="0" u="none" strike="noStrike" dirty="0">
                <a:solidFill>
                  <a:srgbClr val="1B1C1D"/>
                </a:solidFill>
                <a:effectLst/>
                <a:latin typeface="Google Sans Text"/>
              </a:rPr>
              <a:t>}</a:t>
            </a:r>
          </a:p>
        </p:txBody>
      </p:sp>
    </p:spTree>
    <p:extLst>
      <p:ext uri="{BB962C8B-B14F-4D97-AF65-F5344CB8AC3E}">
        <p14:creationId xmlns:p14="http://schemas.microsoft.com/office/powerpoint/2010/main" val="355511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ole tekstowe 4">
            <a:extLst>
              <a:ext uri="{FF2B5EF4-FFF2-40B4-BE49-F238E27FC236}">
                <a16:creationId xmlns:a16="http://schemas.microsoft.com/office/drawing/2014/main" id="{46E71797-72AB-4194-AAD3-B0A8912480E6}"/>
              </a:ext>
            </a:extLst>
          </p:cNvPr>
          <p:cNvSpPr txBox="1"/>
          <p:nvPr/>
        </p:nvSpPr>
        <p:spPr>
          <a:xfrm>
            <a:off x="261667" y="231894"/>
            <a:ext cx="11496136" cy="6601807"/>
          </a:xfrm>
          <a:prstGeom prst="rect">
            <a:avLst/>
          </a:prstGeom>
          <a:noFill/>
        </p:spPr>
        <p:txBody>
          <a:bodyPr wrap="square">
            <a:spAutoFit/>
          </a:bodyPr>
          <a:lstStyle/>
          <a:p>
            <a:pPr rtl="0">
              <a:spcBef>
                <a:spcPts val="600"/>
              </a:spcBef>
              <a:spcAft>
                <a:spcPts val="600"/>
              </a:spcAft>
            </a:pPr>
            <a:r>
              <a:rPr lang="pl-PL" sz="2800" b="1" i="0" u="none" strike="noStrike" dirty="0">
                <a:solidFill>
                  <a:srgbClr val="1B1C1D"/>
                </a:solidFill>
                <a:effectLst/>
                <a:latin typeface="Google Sans"/>
              </a:rPr>
              <a:t>8</a:t>
            </a:r>
            <a:r>
              <a:rPr lang="en-US" sz="2800" b="1" i="0" u="none" strike="noStrike" dirty="0">
                <a:solidFill>
                  <a:srgbClr val="1B1C1D"/>
                </a:solidFill>
                <a:effectLst/>
                <a:latin typeface="Google Sans"/>
              </a:rPr>
              <a:t>. Handling Complex Actions (Sequences)</a:t>
            </a:r>
            <a:endParaRPr lang="pl-PL" sz="2800" b="1" i="0" u="none" strike="noStrike" dirty="0">
              <a:solidFill>
                <a:srgbClr val="1B1C1D"/>
              </a:solidFill>
              <a:effectLst/>
              <a:latin typeface="Google Sans"/>
            </a:endParaRPr>
          </a:p>
          <a:p>
            <a:pPr rtl="0">
              <a:spcBef>
                <a:spcPts val="600"/>
              </a:spcBef>
              <a:spcAft>
                <a:spcPts val="600"/>
              </a:spcAft>
            </a:pPr>
            <a:r>
              <a:rPr lang="en-US" sz="2000" b="0" i="0" u="none" strike="noStrike" dirty="0">
                <a:solidFill>
                  <a:srgbClr val="1B1C1D"/>
                </a:solidFill>
                <a:effectLst/>
                <a:latin typeface="Google Sans Text"/>
              </a:rPr>
              <a:t>To allow the system to execute and evaluate a sequence of steps as a single logical unit (e.g., smooth -&gt; compress -&gt; detrend), it will support the concept of "Macro-Tools.</a:t>
            </a:r>
            <a:r>
              <a:rPr lang="pl-PL" sz="2000" b="0" i="0" u="none" strike="noStrike" dirty="0">
                <a:solidFill>
                  <a:srgbClr val="1B1C1D"/>
                </a:solidFill>
                <a:effectLst/>
                <a:latin typeface="Google Sans Text"/>
              </a:rPr>
              <a:t>”</a:t>
            </a:r>
          </a:p>
          <a:p>
            <a:pPr marL="342900" indent="-342900" rtl="0">
              <a:spcBef>
                <a:spcPts val="600"/>
              </a:spcBef>
              <a:spcAft>
                <a:spcPts val="600"/>
              </a:spcAft>
              <a:buFont typeface="Arial" panose="020B0604020202020204" pitchFamily="34" charset="0"/>
              <a:buChar char="•"/>
            </a:pPr>
            <a:r>
              <a:rPr lang="en-US" sz="2000" b="1" i="0" u="none" strike="noStrike" dirty="0">
                <a:solidFill>
                  <a:srgbClr val="1B1C1D"/>
                </a:solidFill>
                <a:effectLst/>
                <a:latin typeface="Google Sans Text"/>
              </a:rPr>
              <a:t>Macro-Tool (or Composite Tool) Pattern:</a:t>
            </a:r>
            <a:r>
              <a:rPr lang="en-US" sz="2000" b="0" i="0" u="none" strike="noStrike" dirty="0">
                <a:solidFill>
                  <a:srgbClr val="1B1C1D"/>
                </a:solidFill>
                <a:effectLst/>
                <a:latin typeface="Google Sans Text"/>
              </a:rPr>
              <a:t> For common, multi-step sequences where intermediate evaluation is meaningless, a single wrapper function (a "Macro-Tool") will be created. This tool internally calls the sequence of smaller tools. </a:t>
            </a:r>
            <a:endParaRPr lang="pl-PL" sz="2000" b="0" i="0" u="none" strike="noStrike" dirty="0">
              <a:solidFill>
                <a:srgbClr val="1B1C1D"/>
              </a:solidFill>
              <a:effectLst/>
              <a:latin typeface="Google Sans Text"/>
            </a:endParaRPr>
          </a:p>
          <a:p>
            <a:pPr marL="342900" indent="-342900" rtl="0">
              <a:spcBef>
                <a:spcPts val="0"/>
              </a:spcBef>
              <a:spcAft>
                <a:spcPts val="600"/>
              </a:spcAft>
              <a:buFont typeface="Arial" panose="020B0604020202020204" pitchFamily="34" charset="0"/>
              <a:buChar char="•"/>
            </a:pPr>
            <a:r>
              <a:rPr lang="en-US" sz="2000" b="1" i="0" u="none" strike="noStrike" dirty="0">
                <a:solidFill>
                  <a:srgbClr val="1B1C1D"/>
                </a:solidFill>
                <a:effectLst/>
                <a:latin typeface="Google Sans Text"/>
              </a:rPr>
              <a:t>Atomic Operation:</a:t>
            </a:r>
            <a:r>
              <a:rPr lang="pl-PL" sz="2000" b="1" i="0" u="none" strike="noStrike" dirty="0">
                <a:solidFill>
                  <a:srgbClr val="1B1C1D"/>
                </a:solidFill>
                <a:effectLst/>
                <a:latin typeface="Google Sans Text"/>
              </a:rPr>
              <a:t> </a:t>
            </a:r>
            <a:r>
              <a:rPr lang="en-US" sz="2000" b="0" i="0" u="none" strike="noStrike" dirty="0">
                <a:solidFill>
                  <a:srgbClr val="1B1C1D"/>
                </a:solidFill>
                <a:effectLst/>
                <a:latin typeface="Google Sans Text"/>
              </a:rPr>
              <a:t>From the Orchestrator's perspective, this entire sequence is a single, atomic </a:t>
            </a:r>
            <a:r>
              <a:rPr lang="en-US" sz="2000" b="0" i="0" u="none" strike="noStrike" dirty="0">
                <a:solidFill>
                  <a:srgbClr val="1B1C1D"/>
                </a:solidFill>
                <a:effectLst/>
                <a:latin typeface="Courier New" panose="02070309020205020404" pitchFamily="49" charset="0"/>
                <a:cs typeface="Courier New" panose="02070309020205020404" pitchFamily="49" charset="0"/>
              </a:rPr>
              <a:t>Action</a:t>
            </a:r>
            <a:r>
              <a:rPr lang="en-US" sz="2000" b="0" i="0" u="none" strike="noStrike" dirty="0">
                <a:solidFill>
                  <a:srgbClr val="1B1C1D"/>
                </a:solidFill>
                <a:effectLst/>
                <a:latin typeface="Google Sans Text"/>
              </a:rPr>
              <a:t>. It is proposed, executed, and evaluated as one unit. </a:t>
            </a:r>
            <a:endParaRPr lang="pl-PL" sz="2000" b="0" i="0" u="none" strike="noStrike" dirty="0">
              <a:solidFill>
                <a:srgbClr val="1B1C1D"/>
              </a:solidFill>
              <a:effectLst/>
              <a:latin typeface="Google Sans Text"/>
            </a:endParaRPr>
          </a:p>
          <a:p>
            <a:pPr marL="342900" indent="-342900" rtl="0">
              <a:spcBef>
                <a:spcPts val="0"/>
              </a:spcBef>
              <a:spcAft>
                <a:spcPts val="600"/>
              </a:spcAft>
              <a:buFont typeface="Arial" panose="020B0604020202020204" pitchFamily="34" charset="0"/>
              <a:buChar char="•"/>
            </a:pPr>
            <a:r>
              <a:rPr lang="en-US" sz="2000" b="1" i="0" u="none" strike="noStrike" dirty="0">
                <a:solidFill>
                  <a:srgbClr val="1B1C1D"/>
                </a:solidFill>
                <a:effectLst/>
                <a:latin typeface="Google Sans Text"/>
              </a:rPr>
              <a:t>Parameter Exposure and Refinement: </a:t>
            </a:r>
            <a:r>
              <a:rPr lang="en-US" sz="2000" b="0" i="0" u="none" strike="noStrike" dirty="0">
                <a:solidFill>
                  <a:srgbClr val="1B1C1D"/>
                </a:solidFill>
                <a:effectLst/>
                <a:latin typeface="Google Sans Text"/>
              </a:rPr>
              <a:t>To enable intelligent tuning, Macro-Tools must expose their key, adjustable sub-parameters (e.g., a filter's frequency band) as arguments in their own signature. When a Macro-Tool action is evaluated as "not useful," the orchestrator will first prompt the L</a:t>
            </a:r>
            <a:r>
              <a:rPr lang="pl-PL" sz="2000" b="0" i="0" u="none" strike="noStrike" dirty="0">
                <a:solidFill>
                  <a:srgbClr val="1B1C1D"/>
                </a:solidFill>
                <a:effectLst/>
                <a:latin typeface="Google Sans Text"/>
              </a:rPr>
              <a:t>R</a:t>
            </a:r>
            <a:r>
              <a:rPr lang="en-US" sz="2000" b="0" i="0" u="none" strike="noStrike" dirty="0">
                <a:solidFill>
                  <a:srgbClr val="1B1C1D"/>
                </a:solidFill>
                <a:effectLst/>
                <a:latin typeface="Google Sans Text"/>
              </a:rPr>
              <a:t>M to attempt a refinement by modifying these exposed parameters. The L</a:t>
            </a:r>
            <a:r>
              <a:rPr lang="pl-PL" sz="2000" b="0" i="0" u="none" strike="noStrike" dirty="0">
                <a:solidFill>
                  <a:srgbClr val="1B1C1D"/>
                </a:solidFill>
                <a:effectLst/>
                <a:latin typeface="Google Sans Text"/>
              </a:rPr>
              <a:t>R</a:t>
            </a:r>
            <a:r>
              <a:rPr lang="en-US" sz="2000" b="0" i="0" u="none" strike="noStrike" dirty="0">
                <a:solidFill>
                  <a:srgbClr val="1B1C1D"/>
                </a:solidFill>
                <a:effectLst/>
                <a:latin typeface="Google Sans Text"/>
              </a:rPr>
              <a:t>M can propose a new </a:t>
            </a:r>
            <a:r>
              <a:rPr lang="en-US" sz="2000" b="0" i="0" u="none" strike="noStrike" dirty="0">
                <a:solidFill>
                  <a:srgbClr val="1B1C1D"/>
                </a:solidFill>
                <a:effectLst/>
                <a:latin typeface="Courier New" panose="02070309020205020404" pitchFamily="49" charset="0"/>
                <a:cs typeface="Courier New" panose="02070309020205020404" pitchFamily="49" charset="0"/>
              </a:rPr>
              <a:t>Action</a:t>
            </a:r>
            <a:r>
              <a:rPr lang="en-US" sz="2000" b="0" i="0" u="none" strike="noStrike" dirty="0">
                <a:solidFill>
                  <a:srgbClr val="1B1C1D"/>
                </a:solidFill>
                <a:effectLst/>
                <a:latin typeface="Google Sans Text"/>
              </a:rPr>
              <a:t> with updated parameters, which replaces the failed attempt on the stack. Only if refinement is not possible or also fails will the action be removed entirely. This creates a more intelligent "refine-then-remove" self-correction capability.</a:t>
            </a:r>
            <a:endParaRPr lang="pl-PL" sz="2000" b="0" i="0" u="none" strike="noStrike" dirty="0">
              <a:solidFill>
                <a:srgbClr val="1B1C1D"/>
              </a:solidFill>
              <a:effectLst/>
              <a:latin typeface="Google Sans Text"/>
            </a:endParaRPr>
          </a:p>
          <a:p>
            <a:pPr marL="342900" indent="-342900" rtl="0">
              <a:spcBef>
                <a:spcPts val="0"/>
              </a:spcBef>
              <a:spcAft>
                <a:spcPts val="600"/>
              </a:spcAft>
              <a:buFont typeface="Arial" panose="020B0604020202020204" pitchFamily="34" charset="0"/>
              <a:buChar char="•"/>
            </a:pPr>
            <a:r>
              <a:rPr lang="en-US" sz="2000" b="1" i="0" u="none" strike="noStrike" dirty="0">
                <a:solidFill>
                  <a:srgbClr val="1B1C1D"/>
                </a:solidFill>
                <a:effectLst/>
                <a:latin typeface="Google Sans Text"/>
              </a:rPr>
              <a:t>Future Evolution:</a:t>
            </a:r>
            <a:r>
              <a:rPr lang="pl-PL" sz="2000" b="1" i="0" u="none" strike="noStrike" dirty="0">
                <a:solidFill>
                  <a:srgbClr val="1B1C1D"/>
                </a:solidFill>
                <a:effectLst/>
                <a:latin typeface="Google Sans Text"/>
              </a:rPr>
              <a:t> </a:t>
            </a:r>
            <a:r>
              <a:rPr lang="en-US" sz="2000" i="0" u="none" strike="noStrike" dirty="0">
                <a:solidFill>
                  <a:srgbClr val="1B1C1D"/>
                </a:solidFill>
                <a:effectLst/>
                <a:latin typeface="Google Sans Text"/>
              </a:rPr>
              <a:t>A more advanced version of the system may evolve to support "Multi-Action Proposals" where the L</a:t>
            </a:r>
            <a:r>
              <a:rPr lang="pl-PL" sz="2000" i="0" u="none" strike="noStrike" dirty="0">
                <a:solidFill>
                  <a:srgbClr val="1B1C1D"/>
                </a:solidFill>
                <a:effectLst/>
                <a:latin typeface="Google Sans Text"/>
              </a:rPr>
              <a:t>R</a:t>
            </a:r>
            <a:r>
              <a:rPr lang="en-US" sz="2000" i="0" u="none" strike="noStrike" dirty="0">
                <a:solidFill>
                  <a:srgbClr val="1B1C1D"/>
                </a:solidFill>
                <a:effectLst/>
                <a:latin typeface="Google Sans Text"/>
              </a:rPr>
              <a:t>M can dynamically generate a list of actions to be treated as a single transaction. For initial development, the Macro-Tool pattern provides the necessary capability with greater simplicity and robustness.</a:t>
            </a:r>
            <a:endParaRPr lang="pl-PL" sz="2000" i="0" u="none" strike="noStrike" dirty="0">
              <a:solidFill>
                <a:srgbClr val="1B1C1D"/>
              </a:solidFill>
              <a:effectLst/>
              <a:latin typeface="Google Sans Text"/>
            </a:endParaRPr>
          </a:p>
        </p:txBody>
      </p:sp>
    </p:spTree>
    <p:extLst>
      <p:ext uri="{BB962C8B-B14F-4D97-AF65-F5344CB8AC3E}">
        <p14:creationId xmlns:p14="http://schemas.microsoft.com/office/powerpoint/2010/main" val="7189136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ole tekstowe 4">
            <a:extLst>
              <a:ext uri="{FF2B5EF4-FFF2-40B4-BE49-F238E27FC236}">
                <a16:creationId xmlns:a16="http://schemas.microsoft.com/office/drawing/2014/main" id="{B3C834C9-D5E7-46C8-96BE-331BB8260282}"/>
              </a:ext>
            </a:extLst>
          </p:cNvPr>
          <p:cNvSpPr txBox="1"/>
          <p:nvPr/>
        </p:nvSpPr>
        <p:spPr>
          <a:xfrm>
            <a:off x="68366" y="71527"/>
            <a:ext cx="12123634" cy="6786473"/>
          </a:xfrm>
          <a:prstGeom prst="rect">
            <a:avLst/>
          </a:prstGeom>
          <a:noFill/>
        </p:spPr>
        <p:txBody>
          <a:bodyPr wrap="square">
            <a:spAutoFit/>
          </a:bodyPr>
          <a:lstStyle/>
          <a:p>
            <a:pPr rtl="0">
              <a:spcBef>
                <a:spcPts val="600"/>
              </a:spcBef>
              <a:spcAft>
                <a:spcPts val="600"/>
              </a:spcAft>
            </a:pPr>
            <a:r>
              <a:rPr lang="pl-PL" sz="2800" b="1" i="0" strike="noStrike" dirty="0">
                <a:solidFill>
                  <a:srgbClr val="1B1C1D"/>
                </a:solidFill>
                <a:effectLst/>
                <a:latin typeface="Google Sans"/>
              </a:rPr>
              <a:t>9</a:t>
            </a:r>
            <a:r>
              <a:rPr lang="en-US" sz="2800" b="1" i="0" strike="noStrike" dirty="0">
                <a:solidFill>
                  <a:srgbClr val="1B1C1D"/>
                </a:solidFill>
                <a:effectLst/>
                <a:latin typeface="Google Sans"/>
              </a:rPr>
              <a:t>. Operational Workflow</a:t>
            </a:r>
            <a:r>
              <a:rPr lang="pl-PL" sz="2800" b="1" i="0" strike="noStrike" dirty="0">
                <a:solidFill>
                  <a:srgbClr val="1B1C1D"/>
                </a:solidFill>
                <a:effectLst/>
                <a:latin typeface="Google Sans"/>
              </a:rPr>
              <a:t> - </a:t>
            </a:r>
            <a:r>
              <a:rPr lang="pl-PL" sz="2800" b="1" i="0" strike="noStrike" dirty="0" err="1">
                <a:solidFill>
                  <a:srgbClr val="1B1C1D"/>
                </a:solidFill>
                <a:effectLst/>
                <a:latin typeface="Google Sans"/>
              </a:rPr>
              <a:t>an</a:t>
            </a:r>
            <a:r>
              <a:rPr lang="pl-PL" sz="2800" b="1" i="0" strike="noStrike" dirty="0">
                <a:solidFill>
                  <a:srgbClr val="1B1C1D"/>
                </a:solidFill>
                <a:effectLst/>
                <a:latin typeface="Google Sans"/>
              </a:rPr>
              <a:t> </a:t>
            </a:r>
            <a:r>
              <a:rPr lang="pl-PL" sz="2800" b="1" i="0" strike="noStrike" dirty="0" err="1">
                <a:solidFill>
                  <a:srgbClr val="1B1C1D"/>
                </a:solidFill>
                <a:effectLst/>
                <a:latin typeface="Google Sans"/>
              </a:rPr>
              <a:t>iterative</a:t>
            </a:r>
            <a:r>
              <a:rPr lang="pl-PL" sz="2800" b="1" i="0" strike="noStrike" dirty="0">
                <a:solidFill>
                  <a:srgbClr val="1B1C1D"/>
                </a:solidFill>
                <a:effectLst/>
                <a:latin typeface="Google Sans"/>
              </a:rPr>
              <a:t>, </a:t>
            </a:r>
            <a:r>
              <a:rPr lang="pl-PL" sz="2800" b="1" i="0" strike="noStrike" dirty="0" err="1">
                <a:solidFill>
                  <a:srgbClr val="1B1C1D"/>
                </a:solidFill>
                <a:effectLst/>
                <a:latin typeface="Google Sans"/>
              </a:rPr>
              <a:t>self-correcting</a:t>
            </a:r>
            <a:r>
              <a:rPr lang="pl-PL" sz="2800" b="1" i="0" strike="noStrike" dirty="0">
                <a:solidFill>
                  <a:srgbClr val="1B1C1D"/>
                </a:solidFill>
                <a:effectLst/>
                <a:latin typeface="Google Sans"/>
              </a:rPr>
              <a:t> </a:t>
            </a:r>
            <a:r>
              <a:rPr lang="pl-PL" sz="2800" b="1" i="0" strike="noStrike" dirty="0" err="1">
                <a:solidFill>
                  <a:srgbClr val="1B1C1D"/>
                </a:solidFill>
                <a:effectLst/>
                <a:latin typeface="Google Sans"/>
              </a:rPr>
              <a:t>loop</a:t>
            </a:r>
            <a:endParaRPr lang="en-US" sz="2800" b="1" dirty="0">
              <a:effectLst/>
            </a:endParaRPr>
          </a:p>
          <a:p>
            <a:pPr rtl="0">
              <a:spcBef>
                <a:spcPts val="0"/>
              </a:spcBef>
            </a:pPr>
            <a:r>
              <a:rPr lang="en-US" b="1" i="0" u="sng" strike="noStrike" dirty="0">
                <a:solidFill>
                  <a:srgbClr val="1B1C1D"/>
                </a:solidFill>
                <a:effectLst/>
                <a:latin typeface="Google Sans"/>
              </a:rPr>
              <a:t>Phase 1: Initialization</a:t>
            </a:r>
            <a:endParaRPr lang="en-US" b="1" u="sng" dirty="0">
              <a:effectLst/>
            </a:endParaRPr>
          </a:p>
          <a:p>
            <a:pPr rtl="0" fontAlgn="base">
              <a:spcBef>
                <a:spcPts val="0"/>
              </a:spcBef>
              <a:spcAft>
                <a:spcPts val="0"/>
              </a:spcAft>
              <a:buFont typeface="+mj-lt"/>
              <a:buAutoNum type="arabicPeriod"/>
            </a:pPr>
            <a:r>
              <a:rPr lang="pl-PL" b="1" i="0" u="none" strike="noStrike" dirty="0">
                <a:solidFill>
                  <a:srgbClr val="1B1C1D"/>
                </a:solidFill>
                <a:effectLst/>
                <a:latin typeface="Google Sans Text"/>
              </a:rPr>
              <a:t> </a:t>
            </a:r>
            <a:r>
              <a:rPr lang="en-US" b="1" i="0" u="none" strike="noStrike" dirty="0">
                <a:solidFill>
                  <a:srgbClr val="1B1C1D"/>
                </a:solidFill>
                <a:effectLst/>
                <a:latin typeface="Google Sans Text"/>
              </a:rPr>
              <a:t>Load Inputs:</a:t>
            </a:r>
            <a:r>
              <a:rPr lang="en-US" b="0" i="0" u="none" strike="noStrike" dirty="0">
                <a:solidFill>
                  <a:srgbClr val="1B1C1D"/>
                </a:solidFill>
                <a:effectLst/>
                <a:latin typeface="Google Sans Text"/>
              </a:rPr>
              <a:t> The system takes the user's data, metadata, and objective.</a:t>
            </a:r>
            <a:endParaRPr lang="en-US" sz="1600" b="0" i="0" u="none" strike="noStrike" dirty="0">
              <a:solidFill>
                <a:srgbClr val="000000"/>
              </a:solidFill>
              <a:effectLst/>
              <a:latin typeface="Arial" panose="020B0604020202020204" pitchFamily="34" charset="0"/>
            </a:endParaRPr>
          </a:p>
          <a:p>
            <a:pPr rtl="0" fontAlgn="base">
              <a:spcBef>
                <a:spcPts val="0"/>
              </a:spcBef>
              <a:spcAft>
                <a:spcPts val="0"/>
              </a:spcAft>
              <a:buFont typeface="+mj-lt"/>
              <a:buAutoNum type="arabicPeriod"/>
            </a:pPr>
            <a:r>
              <a:rPr lang="pl-PL" b="1" i="0" u="none" strike="noStrike" dirty="0">
                <a:solidFill>
                  <a:srgbClr val="1B1C1D"/>
                </a:solidFill>
                <a:effectLst/>
                <a:latin typeface="Google Sans Text"/>
              </a:rPr>
              <a:t> </a:t>
            </a:r>
            <a:r>
              <a:rPr lang="en-US" b="1" i="0" u="none" strike="noStrike" dirty="0">
                <a:solidFill>
                  <a:srgbClr val="1B1C1D"/>
                </a:solidFill>
                <a:effectLst/>
                <a:latin typeface="Google Sans Text"/>
              </a:rPr>
              <a:t>Load Static Knowledge:</a:t>
            </a:r>
            <a:r>
              <a:rPr lang="en-US" b="0" i="0" u="none" strike="noStrike" dirty="0">
                <a:solidFill>
                  <a:srgbClr val="1B1C1D"/>
                </a:solidFill>
                <a:effectLst/>
                <a:latin typeface="Google Sans Text"/>
              </a:rPr>
              <a:t> The pre-indexed Knowledge Base and Tool Registry are loaded.</a:t>
            </a:r>
            <a:endParaRPr lang="en-US" sz="1600" b="0" i="0" u="none" strike="noStrike" dirty="0">
              <a:solidFill>
                <a:srgbClr val="000000"/>
              </a:solidFill>
              <a:effectLst/>
              <a:latin typeface="Arial" panose="020B0604020202020204" pitchFamily="34" charset="0"/>
            </a:endParaRPr>
          </a:p>
          <a:p>
            <a:pPr marL="85725" indent="-85725" rtl="0" fontAlgn="base">
              <a:spcBef>
                <a:spcPts val="0"/>
              </a:spcBef>
              <a:spcAft>
                <a:spcPts val="0"/>
              </a:spcAft>
              <a:buFont typeface="+mj-lt"/>
              <a:buAutoNum type="arabicPeriod"/>
            </a:pPr>
            <a:r>
              <a:rPr lang="pl-PL" b="1" i="0" u="none" strike="noStrike" dirty="0">
                <a:solidFill>
                  <a:srgbClr val="1B1C1D"/>
                </a:solidFill>
                <a:effectLst/>
                <a:latin typeface="Google Sans Text"/>
              </a:rPr>
              <a:t> </a:t>
            </a:r>
            <a:r>
              <a:rPr lang="en-US" b="1" i="0" u="none" strike="noStrike" dirty="0">
                <a:solidFill>
                  <a:srgbClr val="1B1C1D"/>
                </a:solidFill>
                <a:effectLst/>
                <a:latin typeface="Google Sans Text"/>
              </a:rPr>
              <a:t>Construct Metaknowledge:</a:t>
            </a:r>
            <a:r>
              <a:rPr lang="en-US" b="0" i="0" u="none" strike="noStrike" dirty="0">
                <a:solidFill>
                  <a:srgbClr val="1B1C1D"/>
                </a:solidFill>
                <a:effectLst/>
                <a:latin typeface="Google Sans Text"/>
              </a:rPr>
              <a:t> The L</a:t>
            </a:r>
            <a:r>
              <a:rPr lang="pl-PL" b="0" i="0" u="none" strike="noStrike" dirty="0">
                <a:solidFill>
                  <a:srgbClr val="1B1C1D"/>
                </a:solidFill>
                <a:effectLst/>
                <a:latin typeface="Google Sans Text"/>
              </a:rPr>
              <a:t>R</a:t>
            </a:r>
            <a:r>
              <a:rPr lang="en-US" b="0" i="0" u="none" strike="noStrike" dirty="0">
                <a:solidFill>
                  <a:srgbClr val="1B1C1D"/>
                </a:solidFill>
                <a:effectLst/>
                <a:latin typeface="Google Sans Text"/>
              </a:rPr>
              <a:t>M performs an initial analysis of the inputs to create a structured summary ("metaknowledge") of the task, which serves as a guiding context for the entire run.</a:t>
            </a:r>
            <a:endParaRPr lang="en-US" sz="1600" b="0" i="0" u="none" strike="noStrike" dirty="0">
              <a:solidFill>
                <a:srgbClr val="000000"/>
              </a:solidFill>
              <a:effectLst/>
              <a:latin typeface="Arial" panose="020B0604020202020204" pitchFamily="34" charset="0"/>
            </a:endParaRPr>
          </a:p>
          <a:p>
            <a:pPr marL="85725" indent="-85725" rtl="0" fontAlgn="base">
              <a:spcBef>
                <a:spcPts val="0"/>
              </a:spcBef>
              <a:spcAft>
                <a:spcPts val="600"/>
              </a:spcAft>
              <a:buFont typeface="+mj-lt"/>
              <a:buAutoNum type="arabicPeriod"/>
            </a:pPr>
            <a:r>
              <a:rPr lang="pl-PL" b="1" i="0" u="none" strike="noStrike" dirty="0">
                <a:solidFill>
                  <a:srgbClr val="1B1C1D"/>
                </a:solidFill>
                <a:effectLst/>
                <a:latin typeface="Google Sans Text"/>
              </a:rPr>
              <a:t> </a:t>
            </a:r>
            <a:r>
              <a:rPr lang="en-US" b="1" i="0" u="none" strike="noStrike" dirty="0">
                <a:solidFill>
                  <a:srgbClr val="1B1C1D"/>
                </a:solidFill>
                <a:effectLst/>
                <a:latin typeface="Google Sans Text"/>
              </a:rPr>
              <a:t>Generate Initial Script:</a:t>
            </a:r>
            <a:r>
              <a:rPr lang="en-US" b="0" i="0" u="none" strike="noStrike" dirty="0">
                <a:solidFill>
                  <a:srgbClr val="1B1C1D"/>
                </a:solidFill>
                <a:effectLst/>
                <a:latin typeface="Google Sans Text"/>
              </a:rPr>
              <a:t> Based on the data type and objective, the L</a:t>
            </a:r>
            <a:r>
              <a:rPr lang="pl-PL" b="0" i="0" u="none" strike="noStrike" dirty="0">
                <a:solidFill>
                  <a:srgbClr val="1B1C1D"/>
                </a:solidFill>
                <a:effectLst/>
                <a:latin typeface="Google Sans Text"/>
              </a:rPr>
              <a:t>R</a:t>
            </a:r>
            <a:r>
              <a:rPr lang="en-US" b="0" i="0" u="none" strike="noStrike" dirty="0">
                <a:solidFill>
                  <a:srgbClr val="1B1C1D"/>
                </a:solidFill>
                <a:effectLst/>
                <a:latin typeface="Google Sans Text"/>
              </a:rPr>
              <a:t>M generates the initial section of the processing script (e.g., data loading, initial cleaning</a:t>
            </a:r>
            <a:r>
              <a:rPr lang="pl-PL" b="0" i="0" u="none" strike="noStrike" dirty="0">
                <a:solidFill>
                  <a:srgbClr val="1B1C1D"/>
                </a:solidFill>
                <a:effectLst/>
                <a:latin typeface="Google Sans Text"/>
              </a:rPr>
              <a:t>, </a:t>
            </a:r>
            <a:r>
              <a:rPr lang="pl-PL" b="0" i="0" u="none" strike="noStrike" dirty="0" err="1">
                <a:solidFill>
                  <a:srgbClr val="1B1C1D"/>
                </a:solidFill>
                <a:effectLst/>
                <a:latin typeface="Google Sans Text"/>
              </a:rPr>
              <a:t>initial</a:t>
            </a:r>
            <a:r>
              <a:rPr lang="pl-PL" b="0" i="0" u="none" strike="noStrike" dirty="0">
                <a:solidFill>
                  <a:srgbClr val="1B1C1D"/>
                </a:solidFill>
                <a:effectLst/>
                <a:latin typeface="Google Sans Text"/>
              </a:rPr>
              <a:t> </a:t>
            </a:r>
            <a:r>
              <a:rPr lang="pl-PL" b="0" i="0" u="none" strike="noStrike" dirty="0" err="1">
                <a:solidFill>
                  <a:srgbClr val="1B1C1D"/>
                </a:solidFill>
                <a:effectLst/>
                <a:latin typeface="Google Sans Text"/>
              </a:rPr>
              <a:t>plotting</a:t>
            </a:r>
            <a:r>
              <a:rPr lang="en-US" b="0" i="0" u="none" strike="noStrike" dirty="0">
                <a:solidFill>
                  <a:srgbClr val="1B1C1D"/>
                </a:solidFill>
                <a:effectLst/>
                <a:latin typeface="Google Sans Text"/>
              </a:rPr>
              <a:t>).</a:t>
            </a:r>
            <a:endParaRPr lang="en-US" sz="1600" b="0" i="0" u="none" strike="noStrike" dirty="0">
              <a:solidFill>
                <a:srgbClr val="000000"/>
              </a:solidFill>
              <a:effectLst/>
              <a:latin typeface="Arial" panose="020B0604020202020204" pitchFamily="34" charset="0"/>
            </a:endParaRPr>
          </a:p>
          <a:p>
            <a:pPr rtl="0">
              <a:spcBef>
                <a:spcPts val="600"/>
              </a:spcBef>
            </a:pPr>
            <a:r>
              <a:rPr lang="en-US" b="1" i="0" u="sng" strike="noStrike" dirty="0">
                <a:solidFill>
                  <a:srgbClr val="1B1C1D"/>
                </a:solidFill>
                <a:effectLst/>
                <a:latin typeface="Google Sans"/>
              </a:rPr>
              <a:t>Phase 2: Main Loop</a:t>
            </a:r>
            <a:endParaRPr lang="en-US" b="1" u="sng" dirty="0">
              <a:effectLst/>
            </a:endParaRPr>
          </a:p>
          <a:p>
            <a:pPr rtl="0" fontAlgn="base">
              <a:spcBef>
                <a:spcPts val="0"/>
              </a:spcBef>
              <a:spcAft>
                <a:spcPts val="0"/>
              </a:spcAft>
              <a:buFont typeface="+mj-lt"/>
              <a:buAutoNum type="arabicPeriod"/>
            </a:pPr>
            <a:r>
              <a:rPr lang="pl-PL" b="1" i="0" u="none" strike="noStrike" dirty="0">
                <a:solidFill>
                  <a:srgbClr val="1B1C1D"/>
                </a:solidFill>
                <a:effectLst/>
                <a:latin typeface="Google Sans Text"/>
              </a:rPr>
              <a:t> </a:t>
            </a:r>
            <a:r>
              <a:rPr lang="en-US" b="1" i="0" u="none" strike="noStrike" dirty="0">
                <a:solidFill>
                  <a:srgbClr val="1B1C1D"/>
                </a:solidFill>
                <a:effectLst/>
                <a:latin typeface="Google Sans Text"/>
              </a:rPr>
              <a:t>Execute:</a:t>
            </a:r>
            <a:r>
              <a:rPr lang="en-US" b="0" i="0" u="none" strike="noStrike" dirty="0">
                <a:solidFill>
                  <a:srgbClr val="1B1C1D"/>
                </a:solidFill>
                <a:effectLst/>
                <a:latin typeface="Google Sans Text"/>
              </a:rPr>
              <a:t> The current version of the data processing script is executed.</a:t>
            </a:r>
            <a:endParaRPr lang="en-US" sz="1600" b="0" i="0" u="none" strike="noStrike" dirty="0">
              <a:solidFill>
                <a:srgbClr val="000000"/>
              </a:solidFill>
              <a:effectLst/>
              <a:latin typeface="Arial" panose="020B0604020202020204" pitchFamily="34" charset="0"/>
            </a:endParaRPr>
          </a:p>
          <a:p>
            <a:pPr rtl="0" fontAlgn="base">
              <a:spcBef>
                <a:spcPts val="0"/>
              </a:spcBef>
              <a:spcAft>
                <a:spcPts val="0"/>
              </a:spcAft>
              <a:buFont typeface="+mj-lt"/>
              <a:buAutoNum type="arabicPeriod"/>
            </a:pPr>
            <a:r>
              <a:rPr lang="pl-PL" b="1" i="0" u="none" strike="noStrike" dirty="0">
                <a:solidFill>
                  <a:srgbClr val="1B1C1D"/>
                </a:solidFill>
                <a:effectLst/>
                <a:latin typeface="Google Sans Text"/>
              </a:rPr>
              <a:t> </a:t>
            </a:r>
            <a:r>
              <a:rPr lang="en-US" b="1" i="0" u="none" strike="noStrike" dirty="0">
                <a:solidFill>
                  <a:srgbClr val="1B1C1D"/>
                </a:solidFill>
                <a:effectLst/>
                <a:latin typeface="Google Sans Text"/>
              </a:rPr>
              <a:t>Evaluate:</a:t>
            </a:r>
            <a:r>
              <a:rPr lang="en-US" b="0" i="0" u="none" strike="noStrike" dirty="0">
                <a:solidFill>
                  <a:srgbClr val="1B1C1D"/>
                </a:solidFill>
                <a:effectLst/>
                <a:latin typeface="Google Sans Text"/>
              </a:rPr>
              <a:t> The results of the execution are evaluated using a two-pronged approach:</a:t>
            </a:r>
            <a:endParaRPr lang="en-US" sz="1600" b="0" i="0" u="none" strike="noStrike" dirty="0">
              <a:solidFill>
                <a:srgbClr val="000000"/>
              </a:solidFill>
              <a:effectLst/>
              <a:latin typeface="Arial" panose="020B0604020202020204" pitchFamily="34" charset="0"/>
            </a:endParaRPr>
          </a:p>
          <a:p>
            <a:pPr marL="449263" indent="-182563" rtl="0" fontAlgn="base">
              <a:spcBef>
                <a:spcPts val="0"/>
              </a:spcBef>
              <a:spcAft>
                <a:spcPts val="0"/>
              </a:spcAft>
              <a:buFont typeface="Arial" panose="020B0604020202020204" pitchFamily="34" charset="0"/>
              <a:buChar char="•"/>
            </a:pPr>
            <a:r>
              <a:rPr lang="en-US" b="0" i="0" u="none" strike="noStrike" dirty="0">
                <a:solidFill>
                  <a:srgbClr val="1B1C1D"/>
                </a:solidFill>
                <a:effectLst/>
                <a:latin typeface="Google Sans Text"/>
              </a:rPr>
              <a:t>The script generates visualizations (e.g., </a:t>
            </a:r>
            <a:r>
              <a:rPr lang="pl-PL" b="0" i="0" u="none" strike="noStrike" dirty="0" err="1">
                <a:solidFill>
                  <a:srgbClr val="1B1C1D"/>
                </a:solidFill>
                <a:effectLst/>
                <a:latin typeface="Google Sans Text"/>
              </a:rPr>
              <a:t>plots</a:t>
            </a:r>
            <a:r>
              <a:rPr lang="pl-PL" b="0" i="0" u="none" strike="noStrike" dirty="0">
                <a:solidFill>
                  <a:srgbClr val="1B1C1D"/>
                </a:solidFill>
                <a:effectLst/>
                <a:latin typeface="Google Sans Text"/>
              </a:rPr>
              <a:t>, 2D </a:t>
            </a:r>
            <a:r>
              <a:rPr lang="pl-PL" b="0" i="0" u="none" strike="noStrike" dirty="0" err="1">
                <a:solidFill>
                  <a:srgbClr val="1B1C1D"/>
                </a:solidFill>
                <a:effectLst/>
                <a:latin typeface="Google Sans Text"/>
              </a:rPr>
              <a:t>maps</a:t>
            </a:r>
            <a:r>
              <a:rPr lang="en-US" b="0" i="0" u="none" strike="noStrike" dirty="0">
                <a:solidFill>
                  <a:srgbClr val="1B1C1D"/>
                </a:solidFill>
                <a:effectLst/>
                <a:latin typeface="Google Sans Text"/>
              </a:rPr>
              <a:t>, heatmaps). The L</a:t>
            </a:r>
            <a:r>
              <a:rPr lang="pl-PL" b="0" i="0" u="none" strike="noStrike" dirty="0">
                <a:solidFill>
                  <a:srgbClr val="1B1C1D"/>
                </a:solidFill>
                <a:effectLst/>
                <a:latin typeface="Google Sans Text"/>
              </a:rPr>
              <a:t>R</a:t>
            </a:r>
            <a:r>
              <a:rPr lang="en-US" b="0" i="0" u="none" strike="noStrike" dirty="0">
                <a:solidFill>
                  <a:srgbClr val="1B1C1D"/>
                </a:solidFill>
                <a:effectLst/>
                <a:latin typeface="Google Sans Text"/>
              </a:rPr>
              <a:t>M receives these images and a prompt asking it to assess the outcome based on the current objective.</a:t>
            </a:r>
            <a:endParaRPr lang="en-US" sz="1600" b="0" i="0" u="none" strike="noStrike" dirty="0">
              <a:solidFill>
                <a:srgbClr val="000000"/>
              </a:solidFill>
              <a:effectLst/>
              <a:latin typeface="Arial" panose="020B0604020202020204" pitchFamily="34" charset="0"/>
            </a:endParaRPr>
          </a:p>
          <a:p>
            <a:pPr marL="449263" indent="-182563" rtl="0" fontAlgn="base">
              <a:spcBef>
                <a:spcPts val="0"/>
              </a:spcBef>
              <a:spcAft>
                <a:spcPts val="0"/>
              </a:spcAft>
              <a:buFont typeface="Arial" panose="020B0604020202020204" pitchFamily="34" charset="0"/>
              <a:buChar char="•"/>
            </a:pPr>
            <a:r>
              <a:rPr lang="en-US" b="0" i="0" u="none" strike="noStrike" dirty="0">
                <a:solidFill>
                  <a:srgbClr val="1B1C1D"/>
                </a:solidFill>
                <a:effectLst/>
                <a:latin typeface="Google Sans Text"/>
              </a:rPr>
              <a:t>The script calculates quantitative metrics.</a:t>
            </a:r>
            <a:endParaRPr lang="en-US" sz="1600" b="0" i="0" u="none" strike="noStrike" dirty="0">
              <a:solidFill>
                <a:srgbClr val="000000"/>
              </a:solidFill>
              <a:effectLst/>
              <a:latin typeface="Arial" panose="020B0604020202020204" pitchFamily="34" charset="0"/>
            </a:endParaRPr>
          </a:p>
          <a:p>
            <a:pPr rtl="0" fontAlgn="base">
              <a:spcBef>
                <a:spcPts val="0"/>
              </a:spcBef>
              <a:spcAft>
                <a:spcPts val="0"/>
              </a:spcAft>
              <a:buFont typeface="+mj-lt"/>
              <a:buAutoNum type="arabicPeriod" startAt="3"/>
            </a:pPr>
            <a:r>
              <a:rPr lang="pl-PL" b="1" i="0" u="none" strike="noStrike" dirty="0">
                <a:solidFill>
                  <a:srgbClr val="1B1C1D"/>
                </a:solidFill>
                <a:effectLst/>
                <a:latin typeface="Google Sans Text"/>
              </a:rPr>
              <a:t> </a:t>
            </a:r>
            <a:r>
              <a:rPr lang="en-US" b="1" i="0" u="none" strike="noStrike" dirty="0">
                <a:solidFill>
                  <a:srgbClr val="1B1C1D"/>
                </a:solidFill>
                <a:effectLst/>
                <a:latin typeface="Google Sans Text"/>
              </a:rPr>
              <a:t>Decide - "Are results useful?":</a:t>
            </a:r>
            <a:endParaRPr lang="en-US" sz="1600" b="0" i="0" u="none" strike="noStrike" dirty="0">
              <a:solidFill>
                <a:srgbClr val="000000"/>
              </a:solidFill>
              <a:effectLst/>
              <a:latin typeface="Arial" panose="020B0604020202020204" pitchFamily="34" charset="0"/>
            </a:endParaRPr>
          </a:p>
          <a:p>
            <a:pPr marL="449263" indent="-182563" rtl="0" fontAlgn="base">
              <a:spcBef>
                <a:spcPts val="0"/>
              </a:spcBef>
              <a:spcAft>
                <a:spcPts val="0"/>
              </a:spcAft>
              <a:buFont typeface="Arial" panose="020B0604020202020204" pitchFamily="34" charset="0"/>
              <a:buChar char="•"/>
            </a:pPr>
            <a:r>
              <a:rPr lang="en-US" b="1" i="0" u="none" strike="noStrike" dirty="0">
                <a:solidFill>
                  <a:srgbClr val="1B1C1D"/>
                </a:solidFill>
                <a:effectLst/>
                <a:latin typeface="Google Sans Text"/>
              </a:rPr>
              <a:t>If YES:</a:t>
            </a:r>
            <a:r>
              <a:rPr lang="en-US" b="0" i="0" u="none" strike="noStrike" dirty="0">
                <a:solidFill>
                  <a:srgbClr val="1B1C1D"/>
                </a:solidFill>
                <a:effectLst/>
                <a:latin typeface="Google Sans Text"/>
              </a:rPr>
              <a:t> The L</a:t>
            </a:r>
            <a:r>
              <a:rPr lang="pl-PL" b="0" i="0" u="none" strike="noStrike" dirty="0">
                <a:solidFill>
                  <a:srgbClr val="1B1C1D"/>
                </a:solidFill>
                <a:effectLst/>
                <a:latin typeface="Google Sans Text"/>
              </a:rPr>
              <a:t>R</a:t>
            </a:r>
            <a:r>
              <a:rPr lang="en-US" b="0" i="0" u="none" strike="noStrike" dirty="0">
                <a:solidFill>
                  <a:srgbClr val="1B1C1D"/>
                </a:solidFill>
                <a:effectLst/>
                <a:latin typeface="Google Sans Text"/>
              </a:rPr>
              <a:t>M determines the next logical step. It queries the RAG index for relevant tools/methods and proposes adding a new tool to the pipeline script.</a:t>
            </a:r>
            <a:endParaRPr lang="en-US" sz="1600" b="0" i="0" u="none" strike="noStrike" dirty="0">
              <a:solidFill>
                <a:srgbClr val="000000"/>
              </a:solidFill>
              <a:effectLst/>
              <a:latin typeface="Arial" panose="020B0604020202020204" pitchFamily="34" charset="0"/>
            </a:endParaRPr>
          </a:p>
          <a:p>
            <a:pPr marL="449263" indent="-182563" rtl="0" fontAlgn="base">
              <a:spcBef>
                <a:spcPts val="0"/>
              </a:spcBef>
              <a:spcAft>
                <a:spcPts val="0"/>
              </a:spcAft>
              <a:buFont typeface="Arial" panose="020B0604020202020204" pitchFamily="34" charset="0"/>
              <a:buChar char="•"/>
            </a:pPr>
            <a:r>
              <a:rPr lang="en-US" b="1" i="0" u="none" strike="noStrike" dirty="0">
                <a:solidFill>
                  <a:srgbClr val="1B1C1D"/>
                </a:solidFill>
                <a:effectLst/>
                <a:latin typeface="Google Sans Text"/>
              </a:rPr>
              <a:t>If NO:</a:t>
            </a:r>
            <a:r>
              <a:rPr lang="en-US" b="0" i="0" u="none" strike="noStrike" dirty="0">
                <a:solidFill>
                  <a:srgbClr val="1B1C1D"/>
                </a:solidFill>
                <a:effectLst/>
                <a:latin typeface="Google Sans Text"/>
              </a:rPr>
              <a:t> The L</a:t>
            </a:r>
            <a:r>
              <a:rPr lang="pl-PL" b="0" i="0" u="none" strike="noStrike" dirty="0">
                <a:solidFill>
                  <a:srgbClr val="1B1C1D"/>
                </a:solidFill>
                <a:effectLst/>
                <a:latin typeface="Google Sans Text"/>
              </a:rPr>
              <a:t>R</a:t>
            </a:r>
            <a:r>
              <a:rPr lang="en-US" b="0" i="0" u="none" strike="noStrike" dirty="0">
                <a:solidFill>
                  <a:srgbClr val="1B1C1D"/>
                </a:solidFill>
                <a:effectLst/>
                <a:latin typeface="Google Sans Text"/>
              </a:rPr>
              <a:t>M recognizes the last step was unproductive. It removes the last tool/command from the script to self-correct and re-evaluates its strategy.</a:t>
            </a:r>
            <a:endParaRPr lang="en-US" sz="1600" b="0" i="0" u="none" strike="noStrike" dirty="0">
              <a:solidFill>
                <a:srgbClr val="000000"/>
              </a:solidFill>
              <a:effectLst/>
              <a:latin typeface="Arial" panose="020B0604020202020204" pitchFamily="34" charset="0"/>
            </a:endParaRPr>
          </a:p>
          <a:p>
            <a:pPr rtl="0" fontAlgn="base">
              <a:spcBef>
                <a:spcPts val="0"/>
              </a:spcBef>
              <a:spcAft>
                <a:spcPts val="0"/>
              </a:spcAft>
              <a:buFont typeface="+mj-lt"/>
              <a:buAutoNum type="arabicPeriod" startAt="4"/>
            </a:pPr>
            <a:r>
              <a:rPr lang="pl-PL" b="1" i="0" u="none" strike="noStrike" dirty="0">
                <a:solidFill>
                  <a:srgbClr val="1B1C1D"/>
                </a:solidFill>
                <a:effectLst/>
                <a:latin typeface="Google Sans Text"/>
              </a:rPr>
              <a:t> </a:t>
            </a:r>
            <a:r>
              <a:rPr lang="en-US" b="1" i="0" u="none" strike="noStrike" dirty="0">
                <a:solidFill>
                  <a:srgbClr val="1B1C1D"/>
                </a:solidFill>
                <a:effectLst/>
                <a:latin typeface="Google Sans Text"/>
              </a:rPr>
              <a:t>Decide - "Are results final?":</a:t>
            </a:r>
            <a:r>
              <a:rPr lang="en-US" b="0" i="0" u="none" strike="noStrike" dirty="0">
                <a:solidFill>
                  <a:srgbClr val="1B1C1D"/>
                </a:solidFill>
                <a:effectLst/>
                <a:latin typeface="Google Sans Text"/>
              </a:rPr>
              <a:t> After a useful step, the L</a:t>
            </a:r>
            <a:r>
              <a:rPr lang="pl-PL" b="0" i="0" u="none" strike="noStrike" dirty="0">
                <a:solidFill>
                  <a:srgbClr val="1B1C1D"/>
                </a:solidFill>
                <a:effectLst/>
                <a:latin typeface="Google Sans Text"/>
              </a:rPr>
              <a:t>R</a:t>
            </a:r>
            <a:r>
              <a:rPr lang="en-US" b="0" i="0" u="none" strike="noStrike" dirty="0">
                <a:solidFill>
                  <a:srgbClr val="1B1C1D"/>
                </a:solidFill>
                <a:effectLst/>
                <a:latin typeface="Google Sans Text"/>
              </a:rPr>
              <a:t>M determines if the overall objective has been met.</a:t>
            </a:r>
            <a:endParaRPr lang="en-US" sz="1600" b="0" i="0" u="none" strike="noStrike" dirty="0">
              <a:solidFill>
                <a:srgbClr val="000000"/>
              </a:solidFill>
              <a:effectLst/>
              <a:latin typeface="Arial" panose="020B0604020202020204" pitchFamily="34" charset="0"/>
            </a:endParaRPr>
          </a:p>
          <a:p>
            <a:pPr marL="449263" indent="-182563" rtl="0" fontAlgn="base">
              <a:spcBef>
                <a:spcPts val="0"/>
              </a:spcBef>
              <a:spcAft>
                <a:spcPts val="0"/>
              </a:spcAft>
              <a:buFont typeface="Arial" panose="020B0604020202020204" pitchFamily="34" charset="0"/>
              <a:buChar char="•"/>
            </a:pPr>
            <a:r>
              <a:rPr lang="en-US" b="1" i="0" u="none" strike="noStrike" dirty="0">
                <a:solidFill>
                  <a:srgbClr val="1B1C1D"/>
                </a:solidFill>
                <a:effectLst/>
                <a:latin typeface="Google Sans Text"/>
              </a:rPr>
              <a:t>If NO:</a:t>
            </a:r>
            <a:r>
              <a:rPr lang="en-US" b="0" i="0" u="none" strike="noStrike" dirty="0">
                <a:solidFill>
                  <a:srgbClr val="1B1C1D"/>
                </a:solidFill>
                <a:effectLst/>
                <a:latin typeface="Google Sans Text"/>
              </a:rPr>
              <a:t> The loop continues to the next iteration to add another tool.</a:t>
            </a:r>
            <a:endParaRPr lang="en-US" sz="1600" b="0" i="0" u="none" strike="noStrike" dirty="0">
              <a:solidFill>
                <a:srgbClr val="000000"/>
              </a:solidFill>
              <a:effectLst/>
              <a:latin typeface="Arial" panose="020B0604020202020204" pitchFamily="34" charset="0"/>
            </a:endParaRPr>
          </a:p>
          <a:p>
            <a:pPr marL="449263" indent="-182563" rtl="0" fontAlgn="base">
              <a:spcBef>
                <a:spcPts val="0"/>
              </a:spcBef>
              <a:spcAft>
                <a:spcPts val="0"/>
              </a:spcAft>
              <a:buFont typeface="Arial" panose="020B0604020202020204" pitchFamily="34" charset="0"/>
              <a:buChar char="•"/>
            </a:pPr>
            <a:r>
              <a:rPr lang="en-US" b="1" i="0" u="none" strike="noStrike" dirty="0">
                <a:solidFill>
                  <a:srgbClr val="1B1C1D"/>
                </a:solidFill>
                <a:effectLst/>
                <a:latin typeface="Google Sans Text"/>
              </a:rPr>
              <a:t>If YES:</a:t>
            </a:r>
            <a:r>
              <a:rPr lang="en-US" b="0" i="0" u="none" strike="noStrike" dirty="0">
                <a:solidFill>
                  <a:srgbClr val="1B1C1D"/>
                </a:solidFill>
                <a:effectLst/>
                <a:latin typeface="Google Sans Text"/>
              </a:rPr>
              <a:t> The loop terminates.</a:t>
            </a:r>
            <a:endParaRPr lang="en-US" sz="1600" b="0" i="0" u="none" strike="noStrike" dirty="0">
              <a:solidFill>
                <a:srgbClr val="000000"/>
              </a:solidFill>
              <a:effectLst/>
              <a:latin typeface="Arial" panose="020B0604020202020204" pitchFamily="34" charset="0"/>
            </a:endParaRPr>
          </a:p>
          <a:p>
            <a:pPr rtl="0" fontAlgn="base">
              <a:spcBef>
                <a:spcPts val="0"/>
              </a:spcBef>
              <a:spcAft>
                <a:spcPts val="600"/>
              </a:spcAft>
              <a:buFont typeface="+mj-lt"/>
              <a:buAutoNum type="arabicPeriod" startAt="5"/>
            </a:pPr>
            <a:r>
              <a:rPr lang="pl-PL" b="1" i="0" u="none" strike="noStrike" dirty="0">
                <a:solidFill>
                  <a:srgbClr val="1B1C1D"/>
                </a:solidFill>
                <a:effectLst/>
                <a:latin typeface="Google Sans Text"/>
              </a:rPr>
              <a:t> </a:t>
            </a:r>
            <a:r>
              <a:rPr lang="en-US" b="1" i="0" u="none" strike="noStrike" dirty="0">
                <a:solidFill>
                  <a:srgbClr val="1B1C1D"/>
                </a:solidFill>
                <a:effectLst/>
                <a:latin typeface="Google Sans Text"/>
              </a:rPr>
              <a:t>Output:</a:t>
            </a:r>
            <a:r>
              <a:rPr lang="en-US" b="0" i="0" u="none" strike="noStrike" dirty="0">
                <a:solidFill>
                  <a:srgbClr val="1B1C1D"/>
                </a:solidFill>
                <a:effectLst/>
                <a:latin typeface="Google Sans Text"/>
              </a:rPr>
              <a:t> The system outputs the final, complete, and validated data processing script.</a:t>
            </a:r>
            <a:endParaRPr lang="en-US" sz="1600" b="0" i="0" u="none" strike="noStrike"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40346259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Prostokąt 10">
            <a:extLst>
              <a:ext uri="{FF2B5EF4-FFF2-40B4-BE49-F238E27FC236}">
                <a16:creationId xmlns:a16="http://schemas.microsoft.com/office/drawing/2014/main" id="{48D62147-EB7B-483A-B792-7E9D4009D1C3}"/>
              </a:ext>
            </a:extLst>
          </p:cNvPr>
          <p:cNvSpPr/>
          <p:nvPr/>
        </p:nvSpPr>
        <p:spPr>
          <a:xfrm>
            <a:off x="4730624" y="3180233"/>
            <a:ext cx="1327018" cy="1112492"/>
          </a:xfrm>
          <a:prstGeom prst="rect">
            <a:avLst/>
          </a:prstGeom>
          <a:solidFill>
            <a:schemeClr val="accent6">
              <a:lumMod val="75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400" dirty="0"/>
              <a:t>L</a:t>
            </a:r>
            <a:r>
              <a:rPr lang="pl-PL" sz="1400" dirty="0"/>
              <a:t>R</a:t>
            </a:r>
            <a:r>
              <a:rPr lang="en-US" sz="1400" dirty="0"/>
              <a:t>M: Evaluate results and parameters based on last prompt</a:t>
            </a:r>
          </a:p>
        </p:txBody>
      </p:sp>
      <p:sp>
        <p:nvSpPr>
          <p:cNvPr id="12" name="Prostokąt 11">
            <a:extLst>
              <a:ext uri="{FF2B5EF4-FFF2-40B4-BE49-F238E27FC236}">
                <a16:creationId xmlns:a16="http://schemas.microsoft.com/office/drawing/2014/main" id="{9A6ED580-3328-4DA1-9BCE-42195EAC19EC}"/>
              </a:ext>
            </a:extLst>
          </p:cNvPr>
          <p:cNvSpPr/>
          <p:nvPr/>
        </p:nvSpPr>
        <p:spPr>
          <a:xfrm>
            <a:off x="10452788" y="5076896"/>
            <a:ext cx="1242168" cy="6561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Retain the last tool in the pipeline</a:t>
            </a:r>
          </a:p>
        </p:txBody>
      </p:sp>
      <p:sp>
        <p:nvSpPr>
          <p:cNvPr id="16" name="Prostokąt 15">
            <a:extLst>
              <a:ext uri="{FF2B5EF4-FFF2-40B4-BE49-F238E27FC236}">
                <a16:creationId xmlns:a16="http://schemas.microsoft.com/office/drawing/2014/main" id="{2F20D462-78EB-4566-9699-8E986F7B3F9F}"/>
              </a:ext>
            </a:extLst>
          </p:cNvPr>
          <p:cNvSpPr/>
          <p:nvPr/>
        </p:nvSpPr>
        <p:spPr>
          <a:xfrm>
            <a:off x="2747644" y="3079560"/>
            <a:ext cx="1776182" cy="1307721"/>
          </a:xfrm>
          <a:prstGeom prst="rect">
            <a:avLst/>
          </a:prstGeom>
          <a:solidFill>
            <a:schemeClr val="tx1">
              <a:lumMod val="65000"/>
              <a:lumOff val="35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400" dirty="0"/>
              <a:t>Build prompt for visual evaluation based on last used tool, metaknowledge, parameters and objective</a:t>
            </a:r>
          </a:p>
        </p:txBody>
      </p:sp>
      <p:cxnSp>
        <p:nvCxnSpPr>
          <p:cNvPr id="61" name="Łącznik prosty ze strzałką 60">
            <a:extLst>
              <a:ext uri="{FF2B5EF4-FFF2-40B4-BE49-F238E27FC236}">
                <a16:creationId xmlns:a16="http://schemas.microsoft.com/office/drawing/2014/main" id="{23E8175F-E19A-41B1-888F-ED7C8CFBC2CB}"/>
              </a:ext>
            </a:extLst>
          </p:cNvPr>
          <p:cNvCxnSpPr>
            <a:cxnSpLocks/>
            <a:stCxn id="16" idx="3"/>
            <a:endCxn id="11" idx="1"/>
          </p:cNvCxnSpPr>
          <p:nvPr/>
        </p:nvCxnSpPr>
        <p:spPr>
          <a:xfrm>
            <a:off x="4523826" y="3733421"/>
            <a:ext cx="206798" cy="305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64" name="Łącznik prosty ze strzałką 41">
            <a:extLst>
              <a:ext uri="{FF2B5EF4-FFF2-40B4-BE49-F238E27FC236}">
                <a16:creationId xmlns:a16="http://schemas.microsoft.com/office/drawing/2014/main" id="{BACF3648-B7CC-4701-83BC-ECE34AAEB132}"/>
              </a:ext>
            </a:extLst>
          </p:cNvPr>
          <p:cNvCxnSpPr>
            <a:cxnSpLocks/>
            <a:stCxn id="59" idx="0"/>
            <a:endCxn id="94" idx="2"/>
          </p:cNvCxnSpPr>
          <p:nvPr/>
        </p:nvCxnSpPr>
        <p:spPr>
          <a:xfrm rot="16200000" flipV="1">
            <a:off x="169658" y="4416483"/>
            <a:ext cx="1058271" cy="210385"/>
          </a:xfrm>
          <a:prstGeom prst="bent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67" name="Łącznik prosty ze strzałką 66">
            <a:extLst>
              <a:ext uri="{FF2B5EF4-FFF2-40B4-BE49-F238E27FC236}">
                <a16:creationId xmlns:a16="http://schemas.microsoft.com/office/drawing/2014/main" id="{EF037707-C976-42A1-9562-6A039DEF9C40}"/>
              </a:ext>
            </a:extLst>
          </p:cNvPr>
          <p:cNvCxnSpPr>
            <a:cxnSpLocks/>
            <a:stCxn id="191" idx="1"/>
            <a:endCxn id="190" idx="3"/>
          </p:cNvCxnSpPr>
          <p:nvPr/>
        </p:nvCxnSpPr>
        <p:spPr>
          <a:xfrm flipH="1">
            <a:off x="3189363" y="5387888"/>
            <a:ext cx="186231" cy="91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80" name="Równoległobok 79">
            <a:extLst>
              <a:ext uri="{FF2B5EF4-FFF2-40B4-BE49-F238E27FC236}">
                <a16:creationId xmlns:a16="http://schemas.microsoft.com/office/drawing/2014/main" id="{DAC9CECC-FB53-44B2-91C9-A1F2AA686AED}"/>
              </a:ext>
            </a:extLst>
          </p:cNvPr>
          <p:cNvSpPr/>
          <p:nvPr/>
        </p:nvSpPr>
        <p:spPr>
          <a:xfrm>
            <a:off x="159700" y="710706"/>
            <a:ext cx="2038350" cy="644917"/>
          </a:xfrm>
          <a:prstGeom prst="parallelogram">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Input data, metadata, objectives etc.</a:t>
            </a:r>
          </a:p>
        </p:txBody>
      </p:sp>
      <p:sp>
        <p:nvSpPr>
          <p:cNvPr id="148" name="Równoległobok 147">
            <a:extLst>
              <a:ext uri="{FF2B5EF4-FFF2-40B4-BE49-F238E27FC236}">
                <a16:creationId xmlns:a16="http://schemas.microsoft.com/office/drawing/2014/main" id="{8CEEFD96-69F0-4492-AE2F-BCEA32C467C7}"/>
              </a:ext>
            </a:extLst>
          </p:cNvPr>
          <p:cNvSpPr/>
          <p:nvPr/>
        </p:nvSpPr>
        <p:spPr>
          <a:xfrm>
            <a:off x="3189363" y="5890311"/>
            <a:ext cx="2125403" cy="523221"/>
          </a:xfrm>
          <a:prstGeom prst="parallelogram">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Stop and output the processing script</a:t>
            </a:r>
          </a:p>
        </p:txBody>
      </p:sp>
      <p:cxnSp>
        <p:nvCxnSpPr>
          <p:cNvPr id="149" name="Łącznik prosty ze strzałką 148">
            <a:extLst>
              <a:ext uri="{FF2B5EF4-FFF2-40B4-BE49-F238E27FC236}">
                <a16:creationId xmlns:a16="http://schemas.microsoft.com/office/drawing/2014/main" id="{98C33DE2-8F97-4DC5-BFB1-0BD8B43F819D}"/>
              </a:ext>
            </a:extLst>
          </p:cNvPr>
          <p:cNvCxnSpPr>
            <a:cxnSpLocks/>
            <a:stCxn id="209" idx="1"/>
            <a:endCxn id="208" idx="3"/>
          </p:cNvCxnSpPr>
          <p:nvPr/>
        </p:nvCxnSpPr>
        <p:spPr>
          <a:xfrm flipH="1" flipV="1">
            <a:off x="8601839" y="6148568"/>
            <a:ext cx="189486" cy="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1" name="Łącznik prosty ze strzałką 41">
            <a:extLst>
              <a:ext uri="{FF2B5EF4-FFF2-40B4-BE49-F238E27FC236}">
                <a16:creationId xmlns:a16="http://schemas.microsoft.com/office/drawing/2014/main" id="{EC74290A-2FDE-46F0-9657-3FE559B4B297}"/>
              </a:ext>
            </a:extLst>
          </p:cNvPr>
          <p:cNvCxnSpPr>
            <a:cxnSpLocks/>
            <a:stCxn id="73" idx="2"/>
            <a:endCxn id="52" idx="1"/>
          </p:cNvCxnSpPr>
          <p:nvPr/>
        </p:nvCxnSpPr>
        <p:spPr>
          <a:xfrm flipV="1">
            <a:off x="2155068" y="1671333"/>
            <a:ext cx="3940932" cy="495190"/>
          </a:xfrm>
          <a:prstGeom prst="bent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4" name="Prostokąt 33">
            <a:extLst>
              <a:ext uri="{FF2B5EF4-FFF2-40B4-BE49-F238E27FC236}">
                <a16:creationId xmlns:a16="http://schemas.microsoft.com/office/drawing/2014/main" id="{0CB19740-0828-4A81-85B5-BBEFE3ACFF22}"/>
              </a:ext>
            </a:extLst>
          </p:cNvPr>
          <p:cNvSpPr/>
          <p:nvPr/>
        </p:nvSpPr>
        <p:spPr>
          <a:xfrm>
            <a:off x="5115286" y="708913"/>
            <a:ext cx="1389031" cy="644916"/>
          </a:xfrm>
          <a:prstGeom prst="rect">
            <a:avLst/>
          </a:prstGeom>
          <a:solidFill>
            <a:schemeClr val="accent6">
              <a:lumMod val="75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pl-PL" sz="1400" dirty="0"/>
              <a:t>LRM: </a:t>
            </a:r>
            <a:r>
              <a:rPr lang="en-US" sz="1400" dirty="0"/>
              <a:t>Metaknowledge construction</a:t>
            </a:r>
          </a:p>
        </p:txBody>
      </p:sp>
      <p:sp>
        <p:nvSpPr>
          <p:cNvPr id="35" name="pole tekstowe 34">
            <a:extLst>
              <a:ext uri="{FF2B5EF4-FFF2-40B4-BE49-F238E27FC236}">
                <a16:creationId xmlns:a16="http://schemas.microsoft.com/office/drawing/2014/main" id="{20BF4B4F-FCB3-4C61-AA0B-13385B2A09BD}"/>
              </a:ext>
            </a:extLst>
          </p:cNvPr>
          <p:cNvSpPr txBox="1"/>
          <p:nvPr/>
        </p:nvSpPr>
        <p:spPr>
          <a:xfrm>
            <a:off x="4858300" y="-3483"/>
            <a:ext cx="1838820" cy="584775"/>
          </a:xfrm>
          <a:prstGeom prst="rect">
            <a:avLst/>
          </a:prstGeom>
          <a:noFill/>
        </p:spPr>
        <p:txBody>
          <a:bodyPr wrap="square" rtlCol="0">
            <a:spAutoFit/>
          </a:bodyPr>
          <a:lstStyle/>
          <a:p>
            <a:r>
              <a:rPr lang="en-US" sz="3200" dirty="0"/>
              <a:t>Flowchart</a:t>
            </a:r>
          </a:p>
        </p:txBody>
      </p:sp>
      <p:sp>
        <p:nvSpPr>
          <p:cNvPr id="52" name="Prostokąt 51">
            <a:extLst>
              <a:ext uri="{FF2B5EF4-FFF2-40B4-BE49-F238E27FC236}">
                <a16:creationId xmlns:a16="http://schemas.microsoft.com/office/drawing/2014/main" id="{45D45FD5-5486-4477-9AE6-868F0CB4F69F}"/>
              </a:ext>
            </a:extLst>
          </p:cNvPr>
          <p:cNvSpPr/>
          <p:nvPr/>
        </p:nvSpPr>
        <p:spPr>
          <a:xfrm>
            <a:off x="6096000" y="1441710"/>
            <a:ext cx="1552919" cy="4592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Indexing by RAG module</a:t>
            </a:r>
          </a:p>
        </p:txBody>
      </p:sp>
      <p:cxnSp>
        <p:nvCxnSpPr>
          <p:cNvPr id="53" name="Łącznik prosty ze strzałką 41">
            <a:extLst>
              <a:ext uri="{FF2B5EF4-FFF2-40B4-BE49-F238E27FC236}">
                <a16:creationId xmlns:a16="http://schemas.microsoft.com/office/drawing/2014/main" id="{B1B37F6C-A890-4E53-AB88-A39127DBD2C3}"/>
              </a:ext>
            </a:extLst>
          </p:cNvPr>
          <p:cNvCxnSpPr>
            <a:cxnSpLocks/>
            <a:stCxn id="34" idx="2"/>
            <a:endCxn id="52" idx="1"/>
          </p:cNvCxnSpPr>
          <p:nvPr/>
        </p:nvCxnSpPr>
        <p:spPr>
          <a:xfrm rot="16200000" flipH="1">
            <a:off x="5794149" y="1369482"/>
            <a:ext cx="317504" cy="286198"/>
          </a:xfrm>
          <a:prstGeom prst="bentConnector2">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69" name="Równoległobok 68">
            <a:extLst>
              <a:ext uri="{FF2B5EF4-FFF2-40B4-BE49-F238E27FC236}">
                <a16:creationId xmlns:a16="http://schemas.microsoft.com/office/drawing/2014/main" id="{2979A980-0257-4050-808C-506A3AA8F493}"/>
              </a:ext>
            </a:extLst>
          </p:cNvPr>
          <p:cNvSpPr/>
          <p:nvPr/>
        </p:nvSpPr>
        <p:spPr>
          <a:xfrm>
            <a:off x="170444" y="1520530"/>
            <a:ext cx="2038349" cy="284720"/>
          </a:xfrm>
          <a:prstGeom prst="parallelogram">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Load tool registry</a:t>
            </a:r>
          </a:p>
        </p:txBody>
      </p:sp>
      <p:sp>
        <p:nvSpPr>
          <p:cNvPr id="73" name="Równoległobok 72">
            <a:extLst>
              <a:ext uri="{FF2B5EF4-FFF2-40B4-BE49-F238E27FC236}">
                <a16:creationId xmlns:a16="http://schemas.microsoft.com/office/drawing/2014/main" id="{E470C7C5-F1FA-494B-960C-53D4783F5180}"/>
              </a:ext>
            </a:extLst>
          </p:cNvPr>
          <p:cNvSpPr/>
          <p:nvPr/>
        </p:nvSpPr>
        <p:spPr>
          <a:xfrm>
            <a:off x="166026" y="1969295"/>
            <a:ext cx="2038349" cy="394455"/>
          </a:xfrm>
          <a:prstGeom prst="parallelogram">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Load knowledge base</a:t>
            </a:r>
          </a:p>
        </p:txBody>
      </p:sp>
      <p:sp>
        <p:nvSpPr>
          <p:cNvPr id="81" name="Prostokąt 80">
            <a:extLst>
              <a:ext uri="{FF2B5EF4-FFF2-40B4-BE49-F238E27FC236}">
                <a16:creationId xmlns:a16="http://schemas.microsoft.com/office/drawing/2014/main" id="{82F4E064-E461-4DAA-9B6D-2CB94DF56677}"/>
              </a:ext>
            </a:extLst>
          </p:cNvPr>
          <p:cNvSpPr/>
          <p:nvPr/>
        </p:nvSpPr>
        <p:spPr>
          <a:xfrm>
            <a:off x="7847215" y="1319129"/>
            <a:ext cx="2135992" cy="6957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Built starting section of processing script based on data type and objective</a:t>
            </a:r>
          </a:p>
        </p:txBody>
      </p:sp>
      <p:cxnSp>
        <p:nvCxnSpPr>
          <p:cNvPr id="82" name="Łącznik prosty ze strzałką 81">
            <a:extLst>
              <a:ext uri="{FF2B5EF4-FFF2-40B4-BE49-F238E27FC236}">
                <a16:creationId xmlns:a16="http://schemas.microsoft.com/office/drawing/2014/main" id="{5F23770F-1FE9-48D7-819B-A6C0A68320CC}"/>
              </a:ext>
            </a:extLst>
          </p:cNvPr>
          <p:cNvCxnSpPr>
            <a:cxnSpLocks/>
            <a:stCxn id="52" idx="3"/>
            <a:endCxn id="81" idx="1"/>
          </p:cNvCxnSpPr>
          <p:nvPr/>
        </p:nvCxnSpPr>
        <p:spPr>
          <a:xfrm flipV="1">
            <a:off x="7648919" y="1666984"/>
            <a:ext cx="198296" cy="434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94" name="Prostokąt 93">
            <a:extLst>
              <a:ext uri="{FF2B5EF4-FFF2-40B4-BE49-F238E27FC236}">
                <a16:creationId xmlns:a16="http://schemas.microsoft.com/office/drawing/2014/main" id="{FE3BE2D9-A322-40BD-BC59-170E72547E3D}"/>
              </a:ext>
            </a:extLst>
          </p:cNvPr>
          <p:cNvSpPr/>
          <p:nvPr/>
        </p:nvSpPr>
        <p:spPr>
          <a:xfrm>
            <a:off x="170444" y="3455939"/>
            <a:ext cx="846311" cy="5366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Execute script</a:t>
            </a:r>
          </a:p>
        </p:txBody>
      </p:sp>
      <p:sp>
        <p:nvSpPr>
          <p:cNvPr id="95" name="Prostokąt 94">
            <a:extLst>
              <a:ext uri="{FF2B5EF4-FFF2-40B4-BE49-F238E27FC236}">
                <a16:creationId xmlns:a16="http://schemas.microsoft.com/office/drawing/2014/main" id="{8E0D8071-C29F-494D-927A-E9228364D2D9}"/>
              </a:ext>
            </a:extLst>
          </p:cNvPr>
          <p:cNvSpPr/>
          <p:nvPr/>
        </p:nvSpPr>
        <p:spPr>
          <a:xfrm>
            <a:off x="1166986" y="3076331"/>
            <a:ext cx="1412088" cy="13109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Visualize results and calculate relevant parameters based on metaknowledge</a:t>
            </a:r>
          </a:p>
        </p:txBody>
      </p:sp>
      <p:cxnSp>
        <p:nvCxnSpPr>
          <p:cNvPr id="96" name="Łącznik prosty ze strzałką 95">
            <a:extLst>
              <a:ext uri="{FF2B5EF4-FFF2-40B4-BE49-F238E27FC236}">
                <a16:creationId xmlns:a16="http://schemas.microsoft.com/office/drawing/2014/main" id="{435B1AFE-FE2E-46A5-A7F7-F628E12C80FE}"/>
              </a:ext>
            </a:extLst>
          </p:cNvPr>
          <p:cNvCxnSpPr>
            <a:cxnSpLocks/>
            <a:stCxn id="208" idx="1"/>
            <a:endCxn id="206" idx="3"/>
          </p:cNvCxnSpPr>
          <p:nvPr/>
        </p:nvCxnSpPr>
        <p:spPr>
          <a:xfrm flipH="1">
            <a:off x="7207752" y="6148568"/>
            <a:ext cx="180111" cy="600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1" name="Łącznik prosty ze strzałką 41">
            <a:extLst>
              <a:ext uri="{FF2B5EF4-FFF2-40B4-BE49-F238E27FC236}">
                <a16:creationId xmlns:a16="http://schemas.microsoft.com/office/drawing/2014/main" id="{C972097C-0A41-4E90-B74D-600CB0556DD0}"/>
              </a:ext>
            </a:extLst>
          </p:cNvPr>
          <p:cNvCxnSpPr>
            <a:cxnSpLocks/>
            <a:stCxn id="81" idx="2"/>
            <a:endCxn id="94" idx="0"/>
          </p:cNvCxnSpPr>
          <p:nvPr/>
        </p:nvCxnSpPr>
        <p:spPr>
          <a:xfrm rot="5400000">
            <a:off x="4033856" y="-1425417"/>
            <a:ext cx="1441101" cy="8321611"/>
          </a:xfrm>
          <a:prstGeom prst="bentConnector3">
            <a:avLst>
              <a:gd name="adj1" fmla="val 40422"/>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6" name="Łącznik prosty ze strzałką 125">
            <a:extLst>
              <a:ext uri="{FF2B5EF4-FFF2-40B4-BE49-F238E27FC236}">
                <a16:creationId xmlns:a16="http://schemas.microsoft.com/office/drawing/2014/main" id="{0602CB67-1458-40C3-A5C1-8DEA8107D151}"/>
              </a:ext>
            </a:extLst>
          </p:cNvPr>
          <p:cNvCxnSpPr>
            <a:cxnSpLocks/>
            <a:stCxn id="94" idx="3"/>
            <a:endCxn id="95" idx="1"/>
          </p:cNvCxnSpPr>
          <p:nvPr/>
        </p:nvCxnSpPr>
        <p:spPr>
          <a:xfrm>
            <a:off x="1016755" y="3724240"/>
            <a:ext cx="150231" cy="756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2" name="Łącznik prosty ze strzałką 131">
            <a:extLst>
              <a:ext uri="{FF2B5EF4-FFF2-40B4-BE49-F238E27FC236}">
                <a16:creationId xmlns:a16="http://schemas.microsoft.com/office/drawing/2014/main" id="{7EE02AFA-A227-49B9-906A-785E3056626D}"/>
              </a:ext>
            </a:extLst>
          </p:cNvPr>
          <p:cNvCxnSpPr>
            <a:cxnSpLocks/>
            <a:stCxn id="95" idx="3"/>
            <a:endCxn id="16" idx="1"/>
          </p:cNvCxnSpPr>
          <p:nvPr/>
        </p:nvCxnSpPr>
        <p:spPr>
          <a:xfrm>
            <a:off x="2579074" y="3731806"/>
            <a:ext cx="168570" cy="161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35" name="Romb 134">
            <a:extLst>
              <a:ext uri="{FF2B5EF4-FFF2-40B4-BE49-F238E27FC236}">
                <a16:creationId xmlns:a16="http://schemas.microsoft.com/office/drawing/2014/main" id="{089F4FCC-5220-48D2-8169-FB87D619387A}"/>
              </a:ext>
            </a:extLst>
          </p:cNvPr>
          <p:cNvSpPr/>
          <p:nvPr/>
        </p:nvSpPr>
        <p:spPr>
          <a:xfrm>
            <a:off x="6290661" y="3295270"/>
            <a:ext cx="1417511" cy="871063"/>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Are results useful?</a:t>
            </a:r>
          </a:p>
        </p:txBody>
      </p:sp>
      <p:cxnSp>
        <p:nvCxnSpPr>
          <p:cNvPr id="143" name="Łącznik prosty ze strzałką 142">
            <a:extLst>
              <a:ext uri="{FF2B5EF4-FFF2-40B4-BE49-F238E27FC236}">
                <a16:creationId xmlns:a16="http://schemas.microsoft.com/office/drawing/2014/main" id="{940BD416-740D-4E39-B1AC-78532E2FAE90}"/>
              </a:ext>
            </a:extLst>
          </p:cNvPr>
          <p:cNvCxnSpPr>
            <a:cxnSpLocks/>
            <a:stCxn id="11" idx="3"/>
            <a:endCxn id="135" idx="1"/>
          </p:cNvCxnSpPr>
          <p:nvPr/>
        </p:nvCxnSpPr>
        <p:spPr>
          <a:xfrm flipV="1">
            <a:off x="6057642" y="3730802"/>
            <a:ext cx="233019" cy="567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75" name="pole tekstowe 174">
            <a:extLst>
              <a:ext uri="{FF2B5EF4-FFF2-40B4-BE49-F238E27FC236}">
                <a16:creationId xmlns:a16="http://schemas.microsoft.com/office/drawing/2014/main" id="{62400C9D-50D2-4652-A027-A008125DC429}"/>
              </a:ext>
            </a:extLst>
          </p:cNvPr>
          <p:cNvSpPr txBox="1"/>
          <p:nvPr/>
        </p:nvSpPr>
        <p:spPr>
          <a:xfrm>
            <a:off x="5473717" y="6223656"/>
            <a:ext cx="350999" cy="307777"/>
          </a:xfrm>
          <a:prstGeom prst="rect">
            <a:avLst/>
          </a:prstGeom>
          <a:noFill/>
        </p:spPr>
        <p:txBody>
          <a:bodyPr wrap="square" rtlCol="0">
            <a:spAutoFit/>
          </a:bodyPr>
          <a:lstStyle/>
          <a:p>
            <a:r>
              <a:rPr lang="en-US" sz="1400"/>
              <a:t>Y</a:t>
            </a:r>
          </a:p>
        </p:txBody>
      </p:sp>
      <p:sp>
        <p:nvSpPr>
          <p:cNvPr id="176" name="pole tekstowe 175">
            <a:extLst>
              <a:ext uri="{FF2B5EF4-FFF2-40B4-BE49-F238E27FC236}">
                <a16:creationId xmlns:a16="http://schemas.microsoft.com/office/drawing/2014/main" id="{2F69B7FC-BDB2-41FA-9AB3-2F2DE9D08ED2}"/>
              </a:ext>
            </a:extLst>
          </p:cNvPr>
          <p:cNvSpPr txBox="1"/>
          <p:nvPr/>
        </p:nvSpPr>
        <p:spPr>
          <a:xfrm>
            <a:off x="6478240" y="5524827"/>
            <a:ext cx="350999" cy="307777"/>
          </a:xfrm>
          <a:prstGeom prst="rect">
            <a:avLst/>
          </a:prstGeom>
          <a:noFill/>
        </p:spPr>
        <p:txBody>
          <a:bodyPr wrap="square" rtlCol="0">
            <a:spAutoFit/>
          </a:bodyPr>
          <a:lstStyle/>
          <a:p>
            <a:r>
              <a:rPr lang="en-US" sz="1400" dirty="0"/>
              <a:t>N</a:t>
            </a:r>
          </a:p>
        </p:txBody>
      </p:sp>
      <p:cxnSp>
        <p:nvCxnSpPr>
          <p:cNvPr id="177" name="Łącznik prosty ze strzałką 41">
            <a:extLst>
              <a:ext uri="{FF2B5EF4-FFF2-40B4-BE49-F238E27FC236}">
                <a16:creationId xmlns:a16="http://schemas.microsoft.com/office/drawing/2014/main" id="{CA8738A0-A5C4-41D2-B55F-740DF6CE012F}"/>
              </a:ext>
            </a:extLst>
          </p:cNvPr>
          <p:cNvCxnSpPr>
            <a:cxnSpLocks/>
            <a:stCxn id="135" idx="0"/>
            <a:endCxn id="12" idx="0"/>
          </p:cNvCxnSpPr>
          <p:nvPr/>
        </p:nvCxnSpPr>
        <p:spPr>
          <a:xfrm rot="16200000" flipH="1">
            <a:off x="8145831" y="2148856"/>
            <a:ext cx="1781626" cy="4074455"/>
          </a:xfrm>
          <a:prstGeom prst="bentConnector3">
            <a:avLst>
              <a:gd name="adj1" fmla="val -1283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82" name="Prostokąt 181">
            <a:extLst>
              <a:ext uri="{FF2B5EF4-FFF2-40B4-BE49-F238E27FC236}">
                <a16:creationId xmlns:a16="http://schemas.microsoft.com/office/drawing/2014/main" id="{B625D78F-EBA0-4AC3-9119-BB60A373389D}"/>
              </a:ext>
            </a:extLst>
          </p:cNvPr>
          <p:cNvSpPr/>
          <p:nvPr/>
        </p:nvSpPr>
        <p:spPr>
          <a:xfrm>
            <a:off x="6958114" y="5048116"/>
            <a:ext cx="1242168" cy="6561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Remove the last tool from the pipeline</a:t>
            </a:r>
          </a:p>
        </p:txBody>
      </p:sp>
      <p:cxnSp>
        <p:nvCxnSpPr>
          <p:cNvPr id="183" name="Łącznik prosty ze strzałką 41">
            <a:extLst>
              <a:ext uri="{FF2B5EF4-FFF2-40B4-BE49-F238E27FC236}">
                <a16:creationId xmlns:a16="http://schemas.microsoft.com/office/drawing/2014/main" id="{F5F01402-A84A-4965-80F4-B58579782413}"/>
              </a:ext>
            </a:extLst>
          </p:cNvPr>
          <p:cNvCxnSpPr>
            <a:cxnSpLocks/>
            <a:stCxn id="135" idx="2"/>
            <a:endCxn id="97" idx="1"/>
          </p:cNvCxnSpPr>
          <p:nvPr/>
        </p:nvCxnSpPr>
        <p:spPr>
          <a:xfrm rot="5400000" flipH="1" flipV="1">
            <a:off x="7062586" y="3456459"/>
            <a:ext cx="646704" cy="773043"/>
          </a:xfrm>
          <a:prstGeom prst="bentConnector4">
            <a:avLst>
              <a:gd name="adj1" fmla="val -35348"/>
              <a:gd name="adj2" fmla="val 95842"/>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90" name="Prostokąt 189">
            <a:extLst>
              <a:ext uri="{FF2B5EF4-FFF2-40B4-BE49-F238E27FC236}">
                <a16:creationId xmlns:a16="http://schemas.microsoft.com/office/drawing/2014/main" id="{739A4B80-6F0C-4E7D-8CA8-05D49B73F422}"/>
              </a:ext>
            </a:extLst>
          </p:cNvPr>
          <p:cNvSpPr/>
          <p:nvPr/>
        </p:nvSpPr>
        <p:spPr>
          <a:xfrm>
            <a:off x="1630151" y="5056205"/>
            <a:ext cx="1559212" cy="665194"/>
          </a:xfrm>
          <a:prstGeom prst="rect">
            <a:avLst/>
          </a:prstGeom>
          <a:solidFill>
            <a:schemeClr val="accent6">
              <a:lumMod val="75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400" dirty="0"/>
              <a:t>L</a:t>
            </a:r>
            <a:r>
              <a:rPr lang="pl-PL" sz="1400" dirty="0"/>
              <a:t>R</a:t>
            </a:r>
            <a:r>
              <a:rPr lang="en-US" sz="1400" dirty="0"/>
              <a:t>M: propose and add next tool based on prompt </a:t>
            </a:r>
          </a:p>
        </p:txBody>
      </p:sp>
      <p:sp>
        <p:nvSpPr>
          <p:cNvPr id="191" name="Prostokąt 190">
            <a:extLst>
              <a:ext uri="{FF2B5EF4-FFF2-40B4-BE49-F238E27FC236}">
                <a16:creationId xmlns:a16="http://schemas.microsoft.com/office/drawing/2014/main" id="{DA6CD2AB-F48D-4E10-BBFF-CD66DA29547F}"/>
              </a:ext>
            </a:extLst>
          </p:cNvPr>
          <p:cNvSpPr/>
          <p:nvPr/>
        </p:nvSpPr>
        <p:spPr>
          <a:xfrm>
            <a:off x="3375594" y="5056204"/>
            <a:ext cx="2762580" cy="663367"/>
          </a:xfrm>
          <a:prstGeom prst="rect">
            <a:avLst/>
          </a:prstGeom>
          <a:solidFill>
            <a:schemeClr val="tx1">
              <a:lumMod val="65000"/>
              <a:lumOff val="35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400" dirty="0"/>
              <a:t>Build prompt for next tool selection based on last results, knowledge base, domain expert and objective </a:t>
            </a:r>
          </a:p>
        </p:txBody>
      </p:sp>
      <p:sp>
        <p:nvSpPr>
          <p:cNvPr id="206" name="Romb 205">
            <a:extLst>
              <a:ext uri="{FF2B5EF4-FFF2-40B4-BE49-F238E27FC236}">
                <a16:creationId xmlns:a16="http://schemas.microsoft.com/office/drawing/2014/main" id="{A755D8A5-6B5B-4921-8C65-A96B9453E870}"/>
              </a:ext>
            </a:extLst>
          </p:cNvPr>
          <p:cNvSpPr/>
          <p:nvPr/>
        </p:nvSpPr>
        <p:spPr>
          <a:xfrm>
            <a:off x="5633554" y="5714178"/>
            <a:ext cx="1574198" cy="880788"/>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Are results final?</a:t>
            </a:r>
          </a:p>
        </p:txBody>
      </p:sp>
      <p:sp>
        <p:nvSpPr>
          <p:cNvPr id="208" name="Prostokąt 207">
            <a:extLst>
              <a:ext uri="{FF2B5EF4-FFF2-40B4-BE49-F238E27FC236}">
                <a16:creationId xmlns:a16="http://schemas.microsoft.com/office/drawing/2014/main" id="{BED29D14-E2BC-4E2A-89EE-BE1A91118B57}"/>
              </a:ext>
            </a:extLst>
          </p:cNvPr>
          <p:cNvSpPr/>
          <p:nvPr/>
        </p:nvSpPr>
        <p:spPr>
          <a:xfrm>
            <a:off x="7387863" y="5820489"/>
            <a:ext cx="1213976" cy="656158"/>
          </a:xfrm>
          <a:prstGeom prst="rect">
            <a:avLst/>
          </a:prstGeom>
          <a:solidFill>
            <a:schemeClr val="accent6">
              <a:lumMod val="75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400" dirty="0"/>
              <a:t>L</a:t>
            </a:r>
            <a:r>
              <a:rPr lang="pl-PL" sz="1400" dirty="0"/>
              <a:t>R</a:t>
            </a:r>
            <a:r>
              <a:rPr lang="en-US" sz="1400" dirty="0"/>
              <a:t>M: evaluate results for termination</a:t>
            </a:r>
          </a:p>
        </p:txBody>
      </p:sp>
      <p:sp>
        <p:nvSpPr>
          <p:cNvPr id="209" name="Prostokąt 208">
            <a:extLst>
              <a:ext uri="{FF2B5EF4-FFF2-40B4-BE49-F238E27FC236}">
                <a16:creationId xmlns:a16="http://schemas.microsoft.com/office/drawing/2014/main" id="{662C0C3E-DFF9-49C0-9EC9-D103E8D153E5}"/>
              </a:ext>
            </a:extLst>
          </p:cNvPr>
          <p:cNvSpPr/>
          <p:nvPr/>
        </p:nvSpPr>
        <p:spPr>
          <a:xfrm>
            <a:off x="8791325" y="5820492"/>
            <a:ext cx="2919306" cy="656158"/>
          </a:xfrm>
          <a:prstGeom prst="rect">
            <a:avLst/>
          </a:prstGeom>
          <a:solidFill>
            <a:schemeClr val="tx1">
              <a:lumMod val="65000"/>
              <a:lumOff val="35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400" dirty="0"/>
              <a:t>Build prompt for termination decision based on last results, knowledge base, domain expert and objective </a:t>
            </a:r>
          </a:p>
        </p:txBody>
      </p:sp>
      <p:cxnSp>
        <p:nvCxnSpPr>
          <p:cNvPr id="210" name="Łącznik prosty ze strzałką 41">
            <a:extLst>
              <a:ext uri="{FF2B5EF4-FFF2-40B4-BE49-F238E27FC236}">
                <a16:creationId xmlns:a16="http://schemas.microsoft.com/office/drawing/2014/main" id="{5D911BF7-7CA2-428E-9A16-E9CF59A0DE68}"/>
              </a:ext>
            </a:extLst>
          </p:cNvPr>
          <p:cNvCxnSpPr>
            <a:cxnSpLocks/>
            <a:stCxn id="12" idx="3"/>
            <a:endCxn id="209" idx="3"/>
          </p:cNvCxnSpPr>
          <p:nvPr/>
        </p:nvCxnSpPr>
        <p:spPr>
          <a:xfrm>
            <a:off x="11694956" y="5404975"/>
            <a:ext cx="15675" cy="743596"/>
          </a:xfrm>
          <a:prstGeom prst="bentConnector3">
            <a:avLst>
              <a:gd name="adj1" fmla="val 1067707"/>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27" name="pole tekstowe 226">
            <a:extLst>
              <a:ext uri="{FF2B5EF4-FFF2-40B4-BE49-F238E27FC236}">
                <a16:creationId xmlns:a16="http://schemas.microsoft.com/office/drawing/2014/main" id="{A2BAE8C1-D568-4406-A280-5A90BC210FFD}"/>
              </a:ext>
            </a:extLst>
          </p:cNvPr>
          <p:cNvSpPr txBox="1"/>
          <p:nvPr/>
        </p:nvSpPr>
        <p:spPr>
          <a:xfrm>
            <a:off x="6709849" y="4056202"/>
            <a:ext cx="350999" cy="307777"/>
          </a:xfrm>
          <a:prstGeom prst="rect">
            <a:avLst/>
          </a:prstGeom>
          <a:noFill/>
        </p:spPr>
        <p:txBody>
          <a:bodyPr wrap="square" rtlCol="0">
            <a:spAutoFit/>
          </a:bodyPr>
          <a:lstStyle/>
          <a:p>
            <a:r>
              <a:rPr lang="en-US" sz="1400" dirty="0"/>
              <a:t>N</a:t>
            </a:r>
          </a:p>
        </p:txBody>
      </p:sp>
      <p:sp>
        <p:nvSpPr>
          <p:cNvPr id="228" name="pole tekstowe 227">
            <a:extLst>
              <a:ext uri="{FF2B5EF4-FFF2-40B4-BE49-F238E27FC236}">
                <a16:creationId xmlns:a16="http://schemas.microsoft.com/office/drawing/2014/main" id="{0E39C441-BAAD-4E52-9B63-C26CA75A23DB}"/>
              </a:ext>
            </a:extLst>
          </p:cNvPr>
          <p:cNvSpPr txBox="1"/>
          <p:nvPr/>
        </p:nvSpPr>
        <p:spPr>
          <a:xfrm>
            <a:off x="6712139" y="3086183"/>
            <a:ext cx="350999" cy="307777"/>
          </a:xfrm>
          <a:prstGeom prst="rect">
            <a:avLst/>
          </a:prstGeom>
          <a:noFill/>
        </p:spPr>
        <p:txBody>
          <a:bodyPr wrap="square" rtlCol="0">
            <a:spAutoFit/>
          </a:bodyPr>
          <a:lstStyle/>
          <a:p>
            <a:r>
              <a:rPr lang="en-US" sz="1400" dirty="0"/>
              <a:t>Y</a:t>
            </a:r>
          </a:p>
        </p:txBody>
      </p:sp>
      <p:cxnSp>
        <p:nvCxnSpPr>
          <p:cNvPr id="233" name="Łącznik prosty ze strzałką 41">
            <a:extLst>
              <a:ext uri="{FF2B5EF4-FFF2-40B4-BE49-F238E27FC236}">
                <a16:creationId xmlns:a16="http://schemas.microsoft.com/office/drawing/2014/main" id="{1B308D93-DF07-4E61-AE91-0DC52E6AA749}"/>
              </a:ext>
            </a:extLst>
          </p:cNvPr>
          <p:cNvCxnSpPr>
            <a:cxnSpLocks/>
            <a:stCxn id="206" idx="0"/>
            <a:endCxn id="191" idx="3"/>
          </p:cNvCxnSpPr>
          <p:nvPr/>
        </p:nvCxnSpPr>
        <p:spPr>
          <a:xfrm rot="16200000" flipV="1">
            <a:off x="6116269" y="5409793"/>
            <a:ext cx="326290" cy="282479"/>
          </a:xfrm>
          <a:prstGeom prst="bentConnector2">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40" name="Łącznik prosty ze strzałką 239">
            <a:extLst>
              <a:ext uri="{FF2B5EF4-FFF2-40B4-BE49-F238E27FC236}">
                <a16:creationId xmlns:a16="http://schemas.microsoft.com/office/drawing/2014/main" id="{FE7E984F-140A-4A2E-A197-39867B37000A}"/>
              </a:ext>
            </a:extLst>
          </p:cNvPr>
          <p:cNvCxnSpPr>
            <a:cxnSpLocks/>
            <a:stCxn id="80" idx="2"/>
            <a:endCxn id="65" idx="1"/>
          </p:cNvCxnSpPr>
          <p:nvPr/>
        </p:nvCxnSpPr>
        <p:spPr>
          <a:xfrm flipV="1">
            <a:off x="2117435" y="1031371"/>
            <a:ext cx="210974" cy="179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54" name="Łącznik prosty ze strzałką 253">
            <a:extLst>
              <a:ext uri="{FF2B5EF4-FFF2-40B4-BE49-F238E27FC236}">
                <a16:creationId xmlns:a16="http://schemas.microsoft.com/office/drawing/2014/main" id="{3A99B43A-9EDC-4B72-9935-985306A31458}"/>
              </a:ext>
            </a:extLst>
          </p:cNvPr>
          <p:cNvCxnSpPr>
            <a:cxnSpLocks/>
            <a:stCxn id="69" idx="2"/>
            <a:endCxn id="52" idx="1"/>
          </p:cNvCxnSpPr>
          <p:nvPr/>
        </p:nvCxnSpPr>
        <p:spPr>
          <a:xfrm>
            <a:off x="2173203" y="1662890"/>
            <a:ext cx="3922797" cy="844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58" name="Prostokąt 257">
            <a:extLst>
              <a:ext uri="{FF2B5EF4-FFF2-40B4-BE49-F238E27FC236}">
                <a16:creationId xmlns:a16="http://schemas.microsoft.com/office/drawing/2014/main" id="{A0316CFF-2D32-4308-AA19-BF6B05E35884}"/>
              </a:ext>
            </a:extLst>
          </p:cNvPr>
          <p:cNvSpPr/>
          <p:nvPr/>
        </p:nvSpPr>
        <p:spPr>
          <a:xfrm>
            <a:off x="69011" y="608869"/>
            <a:ext cx="10161562" cy="1899115"/>
          </a:xfrm>
          <a:prstGeom prst="rect">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cxnSp>
        <p:nvCxnSpPr>
          <p:cNvPr id="292" name="Łącznik prosty ze strzałką 41">
            <a:extLst>
              <a:ext uri="{FF2B5EF4-FFF2-40B4-BE49-F238E27FC236}">
                <a16:creationId xmlns:a16="http://schemas.microsoft.com/office/drawing/2014/main" id="{3710B398-D426-4726-B110-C359E7C6248B}"/>
              </a:ext>
            </a:extLst>
          </p:cNvPr>
          <p:cNvCxnSpPr>
            <a:cxnSpLocks/>
            <a:stCxn id="70" idx="2"/>
            <a:endCxn id="213" idx="0"/>
          </p:cNvCxnSpPr>
          <p:nvPr/>
        </p:nvCxnSpPr>
        <p:spPr>
          <a:xfrm rot="5400000">
            <a:off x="9808146" y="4378916"/>
            <a:ext cx="196203" cy="289048"/>
          </a:xfrm>
          <a:prstGeom prst="bent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98" name="pole tekstowe 297">
            <a:extLst>
              <a:ext uri="{FF2B5EF4-FFF2-40B4-BE49-F238E27FC236}">
                <a16:creationId xmlns:a16="http://schemas.microsoft.com/office/drawing/2014/main" id="{A10B7E36-858B-4826-B633-356674F8F58A}"/>
              </a:ext>
            </a:extLst>
          </p:cNvPr>
          <p:cNvSpPr txBox="1"/>
          <p:nvPr/>
        </p:nvSpPr>
        <p:spPr>
          <a:xfrm>
            <a:off x="7315772" y="567267"/>
            <a:ext cx="2280468" cy="523220"/>
          </a:xfrm>
          <a:prstGeom prst="rect">
            <a:avLst/>
          </a:prstGeom>
          <a:noFill/>
        </p:spPr>
        <p:txBody>
          <a:bodyPr wrap="square" rtlCol="0">
            <a:spAutoFit/>
          </a:bodyPr>
          <a:lstStyle/>
          <a:p>
            <a:r>
              <a:rPr lang="en-US" sz="2800" u="sng" dirty="0"/>
              <a:t>Initialization</a:t>
            </a:r>
          </a:p>
        </p:txBody>
      </p:sp>
      <p:sp>
        <p:nvSpPr>
          <p:cNvPr id="299" name="Prostokąt 298">
            <a:extLst>
              <a:ext uri="{FF2B5EF4-FFF2-40B4-BE49-F238E27FC236}">
                <a16:creationId xmlns:a16="http://schemas.microsoft.com/office/drawing/2014/main" id="{F5067B59-024E-49D5-B18E-8C4897842D6B}"/>
              </a:ext>
            </a:extLst>
          </p:cNvPr>
          <p:cNvSpPr/>
          <p:nvPr/>
        </p:nvSpPr>
        <p:spPr>
          <a:xfrm>
            <a:off x="69011" y="2705442"/>
            <a:ext cx="11952545" cy="3995602"/>
          </a:xfrm>
          <a:prstGeom prst="rect">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07" name="Prostokąt 306">
            <a:extLst>
              <a:ext uri="{FF2B5EF4-FFF2-40B4-BE49-F238E27FC236}">
                <a16:creationId xmlns:a16="http://schemas.microsoft.com/office/drawing/2014/main" id="{9351F20B-DA5B-40DB-869C-4173E9BB783A}"/>
              </a:ext>
            </a:extLst>
          </p:cNvPr>
          <p:cNvSpPr/>
          <p:nvPr/>
        </p:nvSpPr>
        <p:spPr>
          <a:xfrm>
            <a:off x="10678448" y="623544"/>
            <a:ext cx="1105739" cy="345534"/>
          </a:xfrm>
          <a:prstGeom prst="rect">
            <a:avLst/>
          </a:prstGeom>
          <a:solidFill>
            <a:schemeClr val="accent6">
              <a:lumMod val="75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400" dirty="0"/>
              <a:t>L</a:t>
            </a:r>
            <a:r>
              <a:rPr lang="pl-PL" sz="1400" dirty="0"/>
              <a:t>R</a:t>
            </a:r>
            <a:r>
              <a:rPr lang="en-US" sz="1400" dirty="0"/>
              <a:t>M</a:t>
            </a:r>
          </a:p>
        </p:txBody>
      </p:sp>
      <p:sp>
        <p:nvSpPr>
          <p:cNvPr id="310" name="Prostokąt 309">
            <a:extLst>
              <a:ext uri="{FF2B5EF4-FFF2-40B4-BE49-F238E27FC236}">
                <a16:creationId xmlns:a16="http://schemas.microsoft.com/office/drawing/2014/main" id="{084C2EA6-EE50-4FDC-855E-2DB93EDC8E0E}"/>
              </a:ext>
            </a:extLst>
          </p:cNvPr>
          <p:cNvSpPr/>
          <p:nvPr/>
        </p:nvSpPr>
        <p:spPr>
          <a:xfrm>
            <a:off x="10678449" y="1065755"/>
            <a:ext cx="1105739" cy="345534"/>
          </a:xfrm>
          <a:prstGeom prst="rect">
            <a:avLst/>
          </a:prstGeom>
          <a:solidFill>
            <a:schemeClr val="tx1">
              <a:lumMod val="65000"/>
              <a:lumOff val="35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400"/>
              <a:t>Prompting</a:t>
            </a:r>
          </a:p>
        </p:txBody>
      </p:sp>
      <p:sp>
        <p:nvSpPr>
          <p:cNvPr id="311" name="pole tekstowe 310">
            <a:extLst>
              <a:ext uri="{FF2B5EF4-FFF2-40B4-BE49-F238E27FC236}">
                <a16:creationId xmlns:a16="http://schemas.microsoft.com/office/drawing/2014/main" id="{9BB1D1DC-9D90-479D-AB98-58D8FB22EEB9}"/>
              </a:ext>
            </a:extLst>
          </p:cNvPr>
          <p:cNvSpPr txBox="1"/>
          <p:nvPr/>
        </p:nvSpPr>
        <p:spPr>
          <a:xfrm>
            <a:off x="4836302" y="2677865"/>
            <a:ext cx="2280468" cy="523220"/>
          </a:xfrm>
          <a:prstGeom prst="rect">
            <a:avLst/>
          </a:prstGeom>
          <a:noFill/>
        </p:spPr>
        <p:txBody>
          <a:bodyPr wrap="square" rtlCol="0">
            <a:spAutoFit/>
          </a:bodyPr>
          <a:lstStyle/>
          <a:p>
            <a:r>
              <a:rPr lang="en-US" sz="2800" u="sng" dirty="0"/>
              <a:t>Main loop</a:t>
            </a:r>
          </a:p>
        </p:txBody>
      </p:sp>
      <p:sp>
        <p:nvSpPr>
          <p:cNvPr id="334" name="Prostokąt 333">
            <a:extLst>
              <a:ext uri="{FF2B5EF4-FFF2-40B4-BE49-F238E27FC236}">
                <a16:creationId xmlns:a16="http://schemas.microsoft.com/office/drawing/2014/main" id="{F2E607FC-3958-40EC-BD6F-FC83B08FCB45}"/>
              </a:ext>
            </a:extLst>
          </p:cNvPr>
          <p:cNvSpPr/>
          <p:nvPr/>
        </p:nvSpPr>
        <p:spPr>
          <a:xfrm>
            <a:off x="10678448" y="1501864"/>
            <a:ext cx="1105739" cy="3455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Utilities</a:t>
            </a:r>
          </a:p>
        </p:txBody>
      </p:sp>
      <p:sp>
        <p:nvSpPr>
          <p:cNvPr id="65" name="Prostokąt 64">
            <a:extLst>
              <a:ext uri="{FF2B5EF4-FFF2-40B4-BE49-F238E27FC236}">
                <a16:creationId xmlns:a16="http://schemas.microsoft.com/office/drawing/2014/main" id="{FD7EB388-099E-4BD7-9D13-04D2D54103F3}"/>
              </a:ext>
            </a:extLst>
          </p:cNvPr>
          <p:cNvSpPr/>
          <p:nvPr/>
        </p:nvSpPr>
        <p:spPr>
          <a:xfrm>
            <a:off x="2328409" y="708912"/>
            <a:ext cx="2539511" cy="644917"/>
          </a:xfrm>
          <a:prstGeom prst="rect">
            <a:avLst/>
          </a:prstGeom>
          <a:solidFill>
            <a:schemeClr val="tx1">
              <a:lumMod val="65000"/>
              <a:lumOff val="35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400" dirty="0"/>
              <a:t>Build prompt for</a:t>
            </a:r>
            <a:r>
              <a:rPr lang="pl-PL" sz="1400" dirty="0"/>
              <a:t> </a:t>
            </a:r>
            <a:r>
              <a:rPr lang="pl-PL" sz="1400" dirty="0" err="1"/>
              <a:t>structured</a:t>
            </a:r>
            <a:r>
              <a:rPr lang="en-US" sz="1400" dirty="0"/>
              <a:t> </a:t>
            </a:r>
            <a:r>
              <a:rPr lang="pl-PL" sz="1400" dirty="0"/>
              <a:t>m</a:t>
            </a:r>
            <a:r>
              <a:rPr lang="en-US" sz="1400" dirty="0" err="1"/>
              <a:t>etaknowledge</a:t>
            </a:r>
            <a:r>
              <a:rPr lang="en-US" sz="1400" dirty="0"/>
              <a:t> construction </a:t>
            </a:r>
            <a:r>
              <a:rPr lang="pl-PL" sz="1400" dirty="0" err="1"/>
              <a:t>based</a:t>
            </a:r>
            <a:r>
              <a:rPr lang="pl-PL" sz="1400" dirty="0"/>
              <a:t> on data </a:t>
            </a:r>
            <a:r>
              <a:rPr lang="pl-PL" sz="1400" dirty="0" err="1"/>
              <a:t>description</a:t>
            </a:r>
            <a:endParaRPr lang="en-US" sz="1400" dirty="0"/>
          </a:p>
        </p:txBody>
      </p:sp>
      <p:cxnSp>
        <p:nvCxnSpPr>
          <p:cNvPr id="75" name="Łącznik prosty ze strzałką 74">
            <a:extLst>
              <a:ext uri="{FF2B5EF4-FFF2-40B4-BE49-F238E27FC236}">
                <a16:creationId xmlns:a16="http://schemas.microsoft.com/office/drawing/2014/main" id="{1347CA3D-5E00-48D3-9FFC-31956EFB784F}"/>
              </a:ext>
            </a:extLst>
          </p:cNvPr>
          <p:cNvCxnSpPr>
            <a:cxnSpLocks/>
            <a:stCxn id="65" idx="3"/>
            <a:endCxn id="34" idx="1"/>
          </p:cNvCxnSpPr>
          <p:nvPr/>
        </p:nvCxnSpPr>
        <p:spPr>
          <a:xfrm>
            <a:off x="4867920" y="1031371"/>
            <a:ext cx="247366"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32" name="Łącznik prosty ze strzałką 231">
            <a:extLst>
              <a:ext uri="{FF2B5EF4-FFF2-40B4-BE49-F238E27FC236}">
                <a16:creationId xmlns:a16="http://schemas.microsoft.com/office/drawing/2014/main" id="{A3D83ADB-8327-485C-AFCE-2D0AE667056A}"/>
              </a:ext>
            </a:extLst>
          </p:cNvPr>
          <p:cNvCxnSpPr>
            <a:cxnSpLocks/>
            <a:stCxn id="206" idx="1"/>
            <a:endCxn id="148" idx="2"/>
          </p:cNvCxnSpPr>
          <p:nvPr/>
        </p:nvCxnSpPr>
        <p:spPr>
          <a:xfrm flipH="1" flipV="1">
            <a:off x="5249363" y="6151922"/>
            <a:ext cx="384191" cy="265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41" name="pole tekstowe 240">
            <a:extLst>
              <a:ext uri="{FF2B5EF4-FFF2-40B4-BE49-F238E27FC236}">
                <a16:creationId xmlns:a16="http://schemas.microsoft.com/office/drawing/2014/main" id="{77ED37A8-C93E-475D-A86F-0DA6FA27A9F5}"/>
              </a:ext>
            </a:extLst>
          </p:cNvPr>
          <p:cNvSpPr txBox="1"/>
          <p:nvPr/>
        </p:nvSpPr>
        <p:spPr>
          <a:xfrm>
            <a:off x="10678448" y="156956"/>
            <a:ext cx="1291774" cy="461665"/>
          </a:xfrm>
          <a:prstGeom prst="rect">
            <a:avLst/>
          </a:prstGeom>
          <a:noFill/>
        </p:spPr>
        <p:txBody>
          <a:bodyPr wrap="square" rtlCol="0">
            <a:spAutoFit/>
          </a:bodyPr>
          <a:lstStyle/>
          <a:p>
            <a:r>
              <a:rPr lang="pl-PL" sz="2400" u="sng" dirty="0"/>
              <a:t>Legend</a:t>
            </a:r>
            <a:endParaRPr lang="en-US" sz="2400" u="sng" dirty="0"/>
          </a:p>
        </p:txBody>
      </p:sp>
      <p:sp>
        <p:nvSpPr>
          <p:cNvPr id="242" name="Prostokąt 241">
            <a:extLst>
              <a:ext uri="{FF2B5EF4-FFF2-40B4-BE49-F238E27FC236}">
                <a16:creationId xmlns:a16="http://schemas.microsoft.com/office/drawing/2014/main" id="{69978A21-722E-478C-B193-731705FF870C}"/>
              </a:ext>
            </a:extLst>
          </p:cNvPr>
          <p:cNvSpPr/>
          <p:nvPr/>
        </p:nvSpPr>
        <p:spPr>
          <a:xfrm>
            <a:off x="10584327" y="178758"/>
            <a:ext cx="1291774" cy="1774527"/>
          </a:xfrm>
          <a:prstGeom prst="rect">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59" name="Prostokąt 58">
            <a:extLst>
              <a:ext uri="{FF2B5EF4-FFF2-40B4-BE49-F238E27FC236}">
                <a16:creationId xmlns:a16="http://schemas.microsoft.com/office/drawing/2014/main" id="{F472D8DD-C731-4722-B9E3-C838D0ECB2EE}"/>
              </a:ext>
            </a:extLst>
          </p:cNvPr>
          <p:cNvSpPr/>
          <p:nvPr/>
        </p:nvSpPr>
        <p:spPr>
          <a:xfrm>
            <a:off x="159700" y="5050811"/>
            <a:ext cx="1288569" cy="6633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sz="1400" dirty="0" err="1"/>
              <a:t>Translate</a:t>
            </a:r>
            <a:r>
              <a:rPr lang="pl-PL" sz="1400" dirty="0"/>
              <a:t> step </a:t>
            </a:r>
            <a:r>
              <a:rPr lang="pl-PL" sz="1400" dirty="0" err="1"/>
              <a:t>sequence</a:t>
            </a:r>
            <a:r>
              <a:rPr lang="pl-PL" sz="1400" dirty="0"/>
              <a:t> to </a:t>
            </a:r>
            <a:r>
              <a:rPr lang="pl-PL" sz="1400" dirty="0" err="1"/>
              <a:t>direct</a:t>
            </a:r>
            <a:r>
              <a:rPr lang="pl-PL" sz="1400" dirty="0"/>
              <a:t> </a:t>
            </a:r>
            <a:r>
              <a:rPr lang="pl-PL" sz="1400" dirty="0" err="1"/>
              <a:t>code</a:t>
            </a:r>
            <a:endParaRPr lang="en-US" sz="1400" dirty="0"/>
          </a:p>
        </p:txBody>
      </p:sp>
      <p:cxnSp>
        <p:nvCxnSpPr>
          <p:cNvPr id="62" name="Łącznik prosty ze strzałką 61">
            <a:extLst>
              <a:ext uri="{FF2B5EF4-FFF2-40B4-BE49-F238E27FC236}">
                <a16:creationId xmlns:a16="http://schemas.microsoft.com/office/drawing/2014/main" id="{A5498AAE-BF10-44EC-BD13-A67E862D1068}"/>
              </a:ext>
            </a:extLst>
          </p:cNvPr>
          <p:cNvCxnSpPr>
            <a:cxnSpLocks/>
            <a:stCxn id="190" idx="1"/>
            <a:endCxn id="59" idx="3"/>
          </p:cNvCxnSpPr>
          <p:nvPr/>
        </p:nvCxnSpPr>
        <p:spPr>
          <a:xfrm flipH="1" flipV="1">
            <a:off x="1448269" y="5382495"/>
            <a:ext cx="181882" cy="630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70" name="Prostokąt 69">
            <a:extLst>
              <a:ext uri="{FF2B5EF4-FFF2-40B4-BE49-F238E27FC236}">
                <a16:creationId xmlns:a16="http://schemas.microsoft.com/office/drawing/2014/main" id="{7001A0CF-C7A0-46F1-A912-99CC521D6054}"/>
              </a:ext>
            </a:extLst>
          </p:cNvPr>
          <p:cNvSpPr/>
          <p:nvPr/>
        </p:nvSpPr>
        <p:spPr>
          <a:xfrm>
            <a:off x="9076527" y="3780099"/>
            <a:ext cx="1948487" cy="6452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sz="1400" dirty="0" err="1"/>
              <a:t>Assess</a:t>
            </a:r>
            <a:r>
              <a:rPr lang="pl-PL" sz="1400" dirty="0"/>
              <a:t> the </a:t>
            </a:r>
            <a:r>
              <a:rPr lang="pl-PL" sz="1400" dirty="0" err="1"/>
              <a:t>possibility</a:t>
            </a:r>
            <a:r>
              <a:rPr lang="pl-PL" sz="1400" dirty="0"/>
              <a:t> to </a:t>
            </a:r>
            <a:r>
              <a:rPr lang="pl-PL" sz="1400" dirty="0" err="1"/>
              <a:t>manipulate</a:t>
            </a:r>
            <a:r>
              <a:rPr lang="pl-PL" sz="1400" dirty="0"/>
              <a:t> </a:t>
            </a:r>
            <a:r>
              <a:rPr lang="pl-PL" sz="1400" dirty="0" err="1"/>
              <a:t>parameters</a:t>
            </a:r>
            <a:r>
              <a:rPr lang="pl-PL" sz="1400" dirty="0"/>
              <a:t> and </a:t>
            </a:r>
            <a:r>
              <a:rPr lang="pl-PL" sz="1400" dirty="0" err="1"/>
              <a:t>try</a:t>
            </a:r>
            <a:r>
              <a:rPr lang="pl-PL" sz="1400" dirty="0"/>
              <a:t> </a:t>
            </a:r>
            <a:r>
              <a:rPr lang="pl-PL" sz="1400" dirty="0" err="1"/>
              <a:t>again</a:t>
            </a:r>
            <a:endParaRPr lang="en-US" sz="1400" dirty="0"/>
          </a:p>
        </p:txBody>
      </p:sp>
      <p:cxnSp>
        <p:nvCxnSpPr>
          <p:cNvPr id="77" name="Łącznik prosty ze strzałką 76">
            <a:extLst>
              <a:ext uri="{FF2B5EF4-FFF2-40B4-BE49-F238E27FC236}">
                <a16:creationId xmlns:a16="http://schemas.microsoft.com/office/drawing/2014/main" id="{904E85F7-D197-465E-ACCE-E4C74AF9FE7B}"/>
              </a:ext>
            </a:extLst>
          </p:cNvPr>
          <p:cNvCxnSpPr>
            <a:cxnSpLocks/>
            <a:stCxn id="182" idx="1"/>
            <a:endCxn id="191" idx="3"/>
          </p:cNvCxnSpPr>
          <p:nvPr/>
        </p:nvCxnSpPr>
        <p:spPr>
          <a:xfrm flipH="1">
            <a:off x="6138174" y="5376195"/>
            <a:ext cx="819940" cy="1169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97" name="Romb 96">
            <a:extLst>
              <a:ext uri="{FF2B5EF4-FFF2-40B4-BE49-F238E27FC236}">
                <a16:creationId xmlns:a16="http://schemas.microsoft.com/office/drawing/2014/main" id="{409DB494-9668-4382-B2A1-6F982C166F3B}"/>
              </a:ext>
            </a:extLst>
          </p:cNvPr>
          <p:cNvSpPr/>
          <p:nvPr/>
        </p:nvSpPr>
        <p:spPr>
          <a:xfrm>
            <a:off x="7772460" y="3218676"/>
            <a:ext cx="1989063" cy="601905"/>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sz="1400" dirty="0" err="1"/>
              <a:t>Compound</a:t>
            </a:r>
            <a:r>
              <a:rPr lang="pl-PL" sz="1400" dirty="0"/>
              <a:t> </a:t>
            </a:r>
            <a:r>
              <a:rPr lang="pl-PL" sz="1400" dirty="0" err="1"/>
              <a:t>tool</a:t>
            </a:r>
            <a:r>
              <a:rPr lang="pl-PL" sz="1400" dirty="0"/>
              <a:t>?</a:t>
            </a:r>
            <a:endParaRPr lang="en-US" sz="1400" dirty="0"/>
          </a:p>
        </p:txBody>
      </p:sp>
      <p:sp>
        <p:nvSpPr>
          <p:cNvPr id="99" name="pole tekstowe 98">
            <a:extLst>
              <a:ext uri="{FF2B5EF4-FFF2-40B4-BE49-F238E27FC236}">
                <a16:creationId xmlns:a16="http://schemas.microsoft.com/office/drawing/2014/main" id="{C01AD022-0D77-40EC-A225-FFD075139E10}"/>
              </a:ext>
            </a:extLst>
          </p:cNvPr>
          <p:cNvSpPr txBox="1"/>
          <p:nvPr/>
        </p:nvSpPr>
        <p:spPr>
          <a:xfrm>
            <a:off x="8333003" y="3795888"/>
            <a:ext cx="353006" cy="307777"/>
          </a:xfrm>
          <a:prstGeom prst="rect">
            <a:avLst/>
          </a:prstGeom>
          <a:noFill/>
        </p:spPr>
        <p:txBody>
          <a:bodyPr wrap="square" rtlCol="0">
            <a:spAutoFit/>
          </a:bodyPr>
          <a:lstStyle/>
          <a:p>
            <a:r>
              <a:rPr lang="en-US" sz="1400" dirty="0"/>
              <a:t>N</a:t>
            </a:r>
          </a:p>
        </p:txBody>
      </p:sp>
      <p:sp>
        <p:nvSpPr>
          <p:cNvPr id="101" name="pole tekstowe 100">
            <a:extLst>
              <a:ext uri="{FF2B5EF4-FFF2-40B4-BE49-F238E27FC236}">
                <a16:creationId xmlns:a16="http://schemas.microsoft.com/office/drawing/2014/main" id="{7B5B0863-720D-4583-BD2D-618480BB6FCF}"/>
              </a:ext>
            </a:extLst>
          </p:cNvPr>
          <p:cNvSpPr txBox="1"/>
          <p:nvPr/>
        </p:nvSpPr>
        <p:spPr>
          <a:xfrm>
            <a:off x="9638871" y="3182443"/>
            <a:ext cx="353006" cy="307777"/>
          </a:xfrm>
          <a:prstGeom prst="rect">
            <a:avLst/>
          </a:prstGeom>
          <a:noFill/>
        </p:spPr>
        <p:txBody>
          <a:bodyPr wrap="square" rtlCol="0">
            <a:spAutoFit/>
          </a:bodyPr>
          <a:lstStyle/>
          <a:p>
            <a:r>
              <a:rPr lang="en-US" sz="1400" dirty="0"/>
              <a:t>Y</a:t>
            </a:r>
          </a:p>
        </p:txBody>
      </p:sp>
      <p:cxnSp>
        <p:nvCxnSpPr>
          <p:cNvPr id="103" name="Łącznik prosty ze strzałką 41">
            <a:extLst>
              <a:ext uri="{FF2B5EF4-FFF2-40B4-BE49-F238E27FC236}">
                <a16:creationId xmlns:a16="http://schemas.microsoft.com/office/drawing/2014/main" id="{6685E0BF-12E2-48C2-952F-FEECA39570B9}"/>
              </a:ext>
            </a:extLst>
          </p:cNvPr>
          <p:cNvCxnSpPr>
            <a:cxnSpLocks/>
            <a:stCxn id="97" idx="3"/>
            <a:endCxn id="70" idx="0"/>
          </p:cNvCxnSpPr>
          <p:nvPr/>
        </p:nvCxnSpPr>
        <p:spPr>
          <a:xfrm>
            <a:off x="9761523" y="3519629"/>
            <a:ext cx="289248" cy="260470"/>
          </a:xfrm>
          <a:prstGeom prst="bentConnector2">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06" name="Łącznik prosty ze strzałką 41">
            <a:extLst>
              <a:ext uri="{FF2B5EF4-FFF2-40B4-BE49-F238E27FC236}">
                <a16:creationId xmlns:a16="http://schemas.microsoft.com/office/drawing/2014/main" id="{BFE3D67D-FEE7-4D7F-AC6E-25147B9B0A5C}"/>
              </a:ext>
            </a:extLst>
          </p:cNvPr>
          <p:cNvCxnSpPr>
            <a:cxnSpLocks/>
            <a:stCxn id="97" idx="2"/>
            <a:endCxn id="182" idx="3"/>
          </p:cNvCxnSpPr>
          <p:nvPr/>
        </p:nvCxnSpPr>
        <p:spPr>
          <a:xfrm rot="5400000">
            <a:off x="7705830" y="4315033"/>
            <a:ext cx="1555614" cy="566710"/>
          </a:xfrm>
          <a:prstGeom prst="bentConnector2">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13" name="Romb 212">
            <a:extLst>
              <a:ext uri="{FF2B5EF4-FFF2-40B4-BE49-F238E27FC236}">
                <a16:creationId xmlns:a16="http://schemas.microsoft.com/office/drawing/2014/main" id="{F74E1FF3-5BF3-4044-8378-7AB35D8D9971}"/>
              </a:ext>
            </a:extLst>
          </p:cNvPr>
          <p:cNvSpPr/>
          <p:nvPr/>
        </p:nvSpPr>
        <p:spPr>
          <a:xfrm>
            <a:off x="9170530" y="4621542"/>
            <a:ext cx="1182385" cy="603531"/>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sz="1400" dirty="0" err="1"/>
              <a:t>Did</a:t>
            </a:r>
            <a:r>
              <a:rPr lang="pl-PL" sz="1400" dirty="0"/>
              <a:t> </a:t>
            </a:r>
            <a:r>
              <a:rPr lang="pl-PL" sz="1400" dirty="0" err="1"/>
              <a:t>it</a:t>
            </a:r>
            <a:r>
              <a:rPr lang="pl-PL" sz="1400" dirty="0"/>
              <a:t> </a:t>
            </a:r>
            <a:r>
              <a:rPr lang="pl-PL" sz="1400" dirty="0" err="1"/>
              <a:t>help</a:t>
            </a:r>
            <a:r>
              <a:rPr lang="pl-PL" sz="1400" dirty="0"/>
              <a:t>?</a:t>
            </a:r>
            <a:endParaRPr lang="en-US" sz="1400" dirty="0"/>
          </a:p>
        </p:txBody>
      </p:sp>
      <p:sp>
        <p:nvSpPr>
          <p:cNvPr id="219" name="pole tekstowe 218">
            <a:extLst>
              <a:ext uri="{FF2B5EF4-FFF2-40B4-BE49-F238E27FC236}">
                <a16:creationId xmlns:a16="http://schemas.microsoft.com/office/drawing/2014/main" id="{799A780F-0BAC-44CD-B55D-760BD0A9CB86}"/>
              </a:ext>
            </a:extLst>
          </p:cNvPr>
          <p:cNvSpPr txBox="1"/>
          <p:nvPr/>
        </p:nvSpPr>
        <p:spPr>
          <a:xfrm>
            <a:off x="9043964" y="4637209"/>
            <a:ext cx="353006" cy="307777"/>
          </a:xfrm>
          <a:prstGeom prst="rect">
            <a:avLst/>
          </a:prstGeom>
          <a:noFill/>
        </p:spPr>
        <p:txBody>
          <a:bodyPr wrap="square" rtlCol="0">
            <a:spAutoFit/>
          </a:bodyPr>
          <a:lstStyle/>
          <a:p>
            <a:r>
              <a:rPr lang="en-US" sz="1400" dirty="0"/>
              <a:t>N</a:t>
            </a:r>
          </a:p>
        </p:txBody>
      </p:sp>
      <p:sp>
        <p:nvSpPr>
          <p:cNvPr id="220" name="pole tekstowe 219">
            <a:extLst>
              <a:ext uri="{FF2B5EF4-FFF2-40B4-BE49-F238E27FC236}">
                <a16:creationId xmlns:a16="http://schemas.microsoft.com/office/drawing/2014/main" id="{A0423317-D924-4764-A59A-7AE819CDF73A}"/>
              </a:ext>
            </a:extLst>
          </p:cNvPr>
          <p:cNvSpPr txBox="1"/>
          <p:nvPr/>
        </p:nvSpPr>
        <p:spPr>
          <a:xfrm>
            <a:off x="10226349" y="4625976"/>
            <a:ext cx="353006" cy="307777"/>
          </a:xfrm>
          <a:prstGeom prst="rect">
            <a:avLst/>
          </a:prstGeom>
          <a:noFill/>
        </p:spPr>
        <p:txBody>
          <a:bodyPr wrap="square" rtlCol="0">
            <a:spAutoFit/>
          </a:bodyPr>
          <a:lstStyle/>
          <a:p>
            <a:r>
              <a:rPr lang="en-US" sz="1400" dirty="0"/>
              <a:t>Y</a:t>
            </a:r>
          </a:p>
        </p:txBody>
      </p:sp>
      <p:cxnSp>
        <p:nvCxnSpPr>
          <p:cNvPr id="221" name="Łącznik prosty ze strzałką 41">
            <a:extLst>
              <a:ext uri="{FF2B5EF4-FFF2-40B4-BE49-F238E27FC236}">
                <a16:creationId xmlns:a16="http://schemas.microsoft.com/office/drawing/2014/main" id="{1CC41ABA-56BF-44E0-8A04-D64A83E7E9D6}"/>
              </a:ext>
            </a:extLst>
          </p:cNvPr>
          <p:cNvCxnSpPr>
            <a:cxnSpLocks/>
            <a:stCxn id="213" idx="1"/>
            <a:endCxn id="182" idx="3"/>
          </p:cNvCxnSpPr>
          <p:nvPr/>
        </p:nvCxnSpPr>
        <p:spPr>
          <a:xfrm rot="10800000" flipV="1">
            <a:off x="8200282" y="4923307"/>
            <a:ext cx="970248" cy="452887"/>
          </a:xfrm>
          <a:prstGeom prst="bentConnector3">
            <a:avLst>
              <a:gd name="adj1" fmla="val 31503"/>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25" name="Łącznik prosty ze strzałką 41">
            <a:extLst>
              <a:ext uri="{FF2B5EF4-FFF2-40B4-BE49-F238E27FC236}">
                <a16:creationId xmlns:a16="http://schemas.microsoft.com/office/drawing/2014/main" id="{7160CB16-7602-4BB0-AD3D-A1B5AD0BB44C}"/>
              </a:ext>
            </a:extLst>
          </p:cNvPr>
          <p:cNvCxnSpPr>
            <a:cxnSpLocks/>
            <a:stCxn id="213" idx="3"/>
            <a:endCxn id="12" idx="0"/>
          </p:cNvCxnSpPr>
          <p:nvPr/>
        </p:nvCxnSpPr>
        <p:spPr>
          <a:xfrm>
            <a:off x="10352915" y="4923308"/>
            <a:ext cx="720957" cy="153588"/>
          </a:xfrm>
          <a:prstGeom prst="bentConnector2">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24515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raz 3">
            <a:extLst>
              <a:ext uri="{FF2B5EF4-FFF2-40B4-BE49-F238E27FC236}">
                <a16:creationId xmlns:a16="http://schemas.microsoft.com/office/drawing/2014/main" id="{4354A661-B750-4DD8-BA8E-72095E7704BB}"/>
              </a:ext>
            </a:extLst>
          </p:cNvPr>
          <p:cNvPicPr>
            <a:picLocks noChangeAspect="1"/>
          </p:cNvPicPr>
          <p:nvPr/>
        </p:nvPicPr>
        <p:blipFill>
          <a:blip r:embed="rId2"/>
          <a:stretch>
            <a:fillRect/>
          </a:stretch>
        </p:blipFill>
        <p:spPr>
          <a:xfrm>
            <a:off x="103112" y="27137"/>
            <a:ext cx="11985775" cy="6803726"/>
          </a:xfrm>
          <a:prstGeom prst="rect">
            <a:avLst/>
          </a:prstGeom>
        </p:spPr>
      </p:pic>
    </p:spTree>
    <p:extLst>
      <p:ext uri="{BB962C8B-B14F-4D97-AF65-F5344CB8AC3E}">
        <p14:creationId xmlns:p14="http://schemas.microsoft.com/office/powerpoint/2010/main" val="39484068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ole tekstowe 4">
            <a:extLst>
              <a:ext uri="{FF2B5EF4-FFF2-40B4-BE49-F238E27FC236}">
                <a16:creationId xmlns:a16="http://schemas.microsoft.com/office/drawing/2014/main" id="{B3C834C9-D5E7-46C8-96BE-331BB8260282}"/>
              </a:ext>
            </a:extLst>
          </p:cNvPr>
          <p:cNvSpPr txBox="1"/>
          <p:nvPr/>
        </p:nvSpPr>
        <p:spPr>
          <a:xfrm>
            <a:off x="68366" y="71527"/>
            <a:ext cx="12123634" cy="5555367"/>
          </a:xfrm>
          <a:prstGeom prst="rect">
            <a:avLst/>
          </a:prstGeom>
          <a:noFill/>
        </p:spPr>
        <p:txBody>
          <a:bodyPr wrap="square">
            <a:spAutoFit/>
          </a:bodyPr>
          <a:lstStyle/>
          <a:p>
            <a:pPr rtl="0">
              <a:spcBef>
                <a:spcPts val="600"/>
              </a:spcBef>
              <a:spcAft>
                <a:spcPts val="600"/>
              </a:spcAft>
            </a:pPr>
            <a:r>
              <a:rPr lang="pl-PL" sz="2800" b="1" i="0" strike="noStrike" dirty="0">
                <a:solidFill>
                  <a:srgbClr val="1B1C1D"/>
                </a:solidFill>
                <a:effectLst/>
                <a:latin typeface="Google Sans"/>
              </a:rPr>
              <a:t>10</a:t>
            </a:r>
            <a:r>
              <a:rPr lang="en-US" sz="2800" b="1" i="0" strike="noStrike" dirty="0">
                <a:solidFill>
                  <a:srgbClr val="1B1C1D"/>
                </a:solidFill>
                <a:effectLst/>
                <a:latin typeface="Google Sans"/>
              </a:rPr>
              <a:t>. Development Plan: Phased Approach</a:t>
            </a:r>
            <a:endParaRPr lang="en-US" sz="2800" b="1" dirty="0">
              <a:effectLst/>
            </a:endParaRPr>
          </a:p>
          <a:p>
            <a:pPr rtl="0">
              <a:spcBef>
                <a:spcPts val="0"/>
              </a:spcBef>
            </a:pPr>
            <a:r>
              <a:rPr lang="en-US" i="0" strike="noStrike" dirty="0">
                <a:solidFill>
                  <a:srgbClr val="1B1C1D"/>
                </a:solidFill>
                <a:effectLst/>
                <a:latin typeface="Google Sans"/>
              </a:rPr>
              <a:t>The project will be built iteratively, starting with a small-scale prototype (Phase 1) to validate the core reasoning mechanism using a limited set of tools and knowledge base articles. The focus of Phase 1 is on the "Initialization" stage of the workflow.</a:t>
            </a:r>
            <a:endParaRPr lang="pl-PL" i="0" strike="noStrike" dirty="0">
              <a:solidFill>
                <a:srgbClr val="1B1C1D"/>
              </a:solidFill>
              <a:effectLst/>
              <a:latin typeface="Google Sans"/>
            </a:endParaRPr>
          </a:p>
          <a:p>
            <a:pPr rtl="0">
              <a:spcBef>
                <a:spcPts val="0"/>
              </a:spcBef>
            </a:pPr>
            <a:endParaRPr lang="pl-PL" i="0" strike="noStrike" dirty="0">
              <a:solidFill>
                <a:srgbClr val="1B1C1D"/>
              </a:solidFill>
              <a:effectLst/>
              <a:latin typeface="Google Sans"/>
            </a:endParaRPr>
          </a:p>
          <a:p>
            <a:pPr rtl="0">
              <a:spcBef>
                <a:spcPts val="0"/>
              </a:spcBef>
            </a:pPr>
            <a:r>
              <a:rPr lang="pl-PL" b="1" i="0" u="sng" strike="noStrike" dirty="0" err="1">
                <a:solidFill>
                  <a:srgbClr val="1B1C1D"/>
                </a:solidFill>
                <a:effectLst/>
                <a:latin typeface="Google Sans"/>
              </a:rPr>
              <a:t>Phase</a:t>
            </a:r>
            <a:r>
              <a:rPr lang="pl-PL" b="1" i="0" u="sng" strike="noStrike" dirty="0">
                <a:solidFill>
                  <a:srgbClr val="1B1C1D"/>
                </a:solidFill>
                <a:effectLst/>
                <a:latin typeface="Google Sans"/>
              </a:rPr>
              <a:t> 1: </a:t>
            </a:r>
            <a:r>
              <a:rPr lang="en-US" b="1" i="0" u="sng" strike="noStrike" dirty="0">
                <a:solidFill>
                  <a:srgbClr val="1B1C1D"/>
                </a:solidFill>
                <a:effectLst/>
                <a:latin typeface="Google Sans"/>
              </a:rPr>
              <a:t>Core Reasoning Prototype (Current Focus)</a:t>
            </a:r>
            <a:endParaRPr lang="pl-PL" b="1" i="0" u="sng" strike="noStrike" dirty="0">
              <a:solidFill>
                <a:srgbClr val="1B1C1D"/>
              </a:solidFill>
              <a:effectLst/>
              <a:latin typeface="Google Sans"/>
            </a:endParaRPr>
          </a:p>
          <a:p>
            <a:pPr marL="285750" indent="-285750" rtl="0">
              <a:spcBef>
                <a:spcPts val="0"/>
              </a:spcBef>
              <a:buFont typeface="Arial" panose="020B0604020202020204" pitchFamily="34" charset="0"/>
              <a:buChar char="•"/>
            </a:pPr>
            <a:r>
              <a:rPr lang="en-US" b="1" i="0" strike="noStrike" dirty="0">
                <a:solidFill>
                  <a:srgbClr val="1B1C1D"/>
                </a:solidFill>
                <a:effectLst/>
                <a:latin typeface="Google Sans"/>
              </a:rPr>
              <a:t>Objective:</a:t>
            </a:r>
            <a:r>
              <a:rPr lang="en-US" i="0" strike="noStrike" dirty="0">
                <a:solidFill>
                  <a:srgbClr val="1B1C1D"/>
                </a:solidFill>
                <a:effectLst/>
                <a:latin typeface="Google Sans"/>
              </a:rPr>
              <a:t> To validate that the L</a:t>
            </a:r>
            <a:r>
              <a:rPr lang="pl-PL" i="0" strike="noStrike" dirty="0">
                <a:solidFill>
                  <a:srgbClr val="1B1C1D"/>
                </a:solidFill>
                <a:effectLst/>
                <a:latin typeface="Google Sans"/>
              </a:rPr>
              <a:t>R</a:t>
            </a:r>
            <a:r>
              <a:rPr lang="en-US" i="0" strike="noStrike" dirty="0">
                <a:solidFill>
                  <a:srgbClr val="1B1C1D"/>
                </a:solidFill>
                <a:effectLst/>
                <a:latin typeface="Google Sans"/>
              </a:rPr>
              <a:t>M can make an intelligent, context-aware initial decision based on a small, curated knowledge base.  </a:t>
            </a:r>
            <a:endParaRPr lang="pl-PL" i="0" strike="noStrike" dirty="0">
              <a:solidFill>
                <a:srgbClr val="1B1C1D"/>
              </a:solidFill>
              <a:effectLst/>
              <a:latin typeface="Google Sans"/>
            </a:endParaRPr>
          </a:p>
          <a:p>
            <a:pPr marL="285750" indent="-285750" rtl="0">
              <a:spcBef>
                <a:spcPts val="0"/>
              </a:spcBef>
              <a:buFont typeface="Arial" panose="020B0604020202020204" pitchFamily="34" charset="0"/>
              <a:buChar char="•"/>
            </a:pPr>
            <a:r>
              <a:rPr lang="en-US" b="1" i="0" strike="noStrike" dirty="0">
                <a:solidFill>
                  <a:srgbClr val="1B1C1D"/>
                </a:solidFill>
                <a:effectLst/>
                <a:latin typeface="Google Sans"/>
              </a:rPr>
              <a:t>Scope:</a:t>
            </a:r>
            <a:r>
              <a:rPr lang="en-US" i="0" strike="noStrike" dirty="0">
                <a:solidFill>
                  <a:srgbClr val="1B1C1D"/>
                </a:solidFill>
                <a:effectLst/>
                <a:latin typeface="Google Sans"/>
              </a:rPr>
              <a:t>    </a:t>
            </a:r>
            <a:endParaRPr lang="pl-PL" dirty="0">
              <a:solidFill>
                <a:srgbClr val="1B1C1D"/>
              </a:solidFill>
              <a:latin typeface="Google Sans"/>
            </a:endParaRPr>
          </a:p>
          <a:p>
            <a:pPr marL="742950" lvl="1" indent="-285750">
              <a:buFont typeface="Arial" panose="020B0604020202020204" pitchFamily="34" charset="0"/>
              <a:buChar char="•"/>
            </a:pPr>
            <a:r>
              <a:rPr lang="en-US" b="1" i="0" strike="noStrike" dirty="0">
                <a:solidFill>
                  <a:srgbClr val="1B1C1D"/>
                </a:solidFill>
                <a:effectLst/>
                <a:latin typeface="Google Sans"/>
              </a:rPr>
              <a:t>Knowledge Base: </a:t>
            </a:r>
            <a:r>
              <a:rPr lang="en-US" i="0" strike="noStrike" dirty="0">
                <a:solidFill>
                  <a:srgbClr val="1B1C1D"/>
                </a:solidFill>
                <a:effectLst/>
                <a:latin typeface="Google Sans"/>
              </a:rPr>
              <a:t>A small set of 2-3 related tools and 5-10 relevant research papers.    </a:t>
            </a:r>
            <a:endParaRPr lang="pl-PL" i="0" strike="noStrike" dirty="0">
              <a:solidFill>
                <a:srgbClr val="1B1C1D"/>
              </a:solidFill>
              <a:effectLst/>
              <a:latin typeface="Google Sans"/>
            </a:endParaRPr>
          </a:p>
          <a:p>
            <a:pPr marL="742950" lvl="1" indent="-285750">
              <a:buFont typeface="Arial" panose="020B0604020202020204" pitchFamily="34" charset="0"/>
              <a:buChar char="•"/>
            </a:pPr>
            <a:r>
              <a:rPr lang="en-US" b="1" i="0" strike="noStrike" dirty="0">
                <a:solidFill>
                  <a:srgbClr val="1B1C1D"/>
                </a:solidFill>
                <a:effectLst/>
                <a:latin typeface="Google Sans"/>
              </a:rPr>
              <a:t>Modules:</a:t>
            </a:r>
            <a:r>
              <a:rPr lang="en-US" i="0" strike="noStrike" dirty="0">
                <a:solidFill>
                  <a:srgbClr val="1B1C1D"/>
                </a:solidFill>
                <a:effectLst/>
                <a:latin typeface="Google Sans"/>
              </a:rPr>
              <a:t> Implement a basic RAG indexing module and a simple interface to query the LLM orchestrator.    </a:t>
            </a:r>
            <a:endParaRPr lang="pl-PL" i="0" strike="noStrike" dirty="0">
              <a:solidFill>
                <a:srgbClr val="1B1C1D"/>
              </a:solidFill>
              <a:effectLst/>
              <a:latin typeface="Google Sans"/>
            </a:endParaRPr>
          </a:p>
          <a:p>
            <a:pPr marL="742950" lvl="1" indent="-285750">
              <a:buFont typeface="Arial" panose="020B0604020202020204" pitchFamily="34" charset="0"/>
              <a:buChar char="•"/>
            </a:pPr>
            <a:r>
              <a:rPr lang="en-US" b="1" i="0" strike="noStrike" dirty="0">
                <a:solidFill>
                  <a:srgbClr val="1B1C1D"/>
                </a:solidFill>
                <a:effectLst/>
                <a:latin typeface="Google Sans"/>
              </a:rPr>
              <a:t>Functionality:</a:t>
            </a:r>
            <a:r>
              <a:rPr lang="en-US" i="0" strike="noStrike" dirty="0">
                <a:solidFill>
                  <a:srgbClr val="1B1C1D"/>
                </a:solidFill>
                <a:effectLst/>
                <a:latin typeface="Google Sans"/>
              </a:rPr>
              <a:t> Focus solely on the </a:t>
            </a:r>
            <a:r>
              <a:rPr lang="en-US" b="1" i="0" strike="noStrike" dirty="0">
                <a:solidFill>
                  <a:srgbClr val="1B1C1D"/>
                </a:solidFill>
                <a:effectLst/>
                <a:latin typeface="Google Sans"/>
              </a:rPr>
              <a:t>"Initialization" </a:t>
            </a:r>
            <a:r>
              <a:rPr lang="en-US" i="0" strike="noStrike" dirty="0">
                <a:solidFill>
                  <a:srgbClr val="1B1C1D"/>
                </a:solidFill>
                <a:effectLst/>
                <a:latin typeface="Google Sans"/>
              </a:rPr>
              <a:t>phase of the workflow. The system will be given simple test data and a high-level objective. The goal is for the L</a:t>
            </a:r>
            <a:r>
              <a:rPr lang="pl-PL" i="0" strike="noStrike" dirty="0">
                <a:solidFill>
                  <a:srgbClr val="1B1C1D"/>
                </a:solidFill>
                <a:effectLst/>
                <a:latin typeface="Google Sans"/>
              </a:rPr>
              <a:t>R</a:t>
            </a:r>
            <a:r>
              <a:rPr lang="en-US" i="0" strike="noStrike" dirty="0">
                <a:solidFill>
                  <a:srgbClr val="1B1C1D"/>
                </a:solidFill>
                <a:effectLst/>
                <a:latin typeface="Google Sans"/>
              </a:rPr>
              <a:t>M to successfully:      </a:t>
            </a:r>
            <a:endParaRPr lang="pl-PL" i="0" strike="noStrike" dirty="0">
              <a:solidFill>
                <a:srgbClr val="1B1C1D"/>
              </a:solidFill>
              <a:effectLst/>
              <a:latin typeface="Google Sans"/>
            </a:endParaRPr>
          </a:p>
          <a:p>
            <a:pPr marL="1200150" lvl="2" indent="-285750">
              <a:buFont typeface="Arial" panose="020B0604020202020204" pitchFamily="34" charset="0"/>
              <a:buChar char="•"/>
            </a:pPr>
            <a:r>
              <a:rPr lang="en-US" i="0" strike="noStrike" dirty="0">
                <a:solidFill>
                  <a:srgbClr val="1B1C1D"/>
                </a:solidFill>
                <a:effectLst/>
                <a:latin typeface="Google Sans"/>
              </a:rPr>
              <a:t>1. Construct "Metaknowledge" about the task.      </a:t>
            </a:r>
            <a:endParaRPr lang="pl-PL" i="0" strike="noStrike" dirty="0">
              <a:solidFill>
                <a:srgbClr val="1B1C1D"/>
              </a:solidFill>
              <a:effectLst/>
              <a:latin typeface="Google Sans"/>
            </a:endParaRPr>
          </a:p>
          <a:p>
            <a:pPr marL="1200150" lvl="2" indent="-285750">
              <a:buFont typeface="Arial" panose="020B0604020202020204" pitchFamily="34" charset="0"/>
              <a:buChar char="•"/>
            </a:pPr>
            <a:r>
              <a:rPr lang="en-US" i="0" strike="noStrike" dirty="0">
                <a:solidFill>
                  <a:srgbClr val="1B1C1D"/>
                </a:solidFill>
                <a:effectLst/>
                <a:latin typeface="Google Sans"/>
              </a:rPr>
              <a:t>2. Query the RAG index to find relevant tools and papers.      </a:t>
            </a:r>
            <a:endParaRPr lang="pl-PL" i="0" strike="noStrike" dirty="0">
              <a:solidFill>
                <a:srgbClr val="1B1C1D"/>
              </a:solidFill>
              <a:effectLst/>
              <a:latin typeface="Google Sans"/>
            </a:endParaRPr>
          </a:p>
          <a:p>
            <a:pPr marL="1200150" lvl="2" indent="-285750">
              <a:buFont typeface="Arial" panose="020B0604020202020204" pitchFamily="34" charset="0"/>
              <a:buChar char="•"/>
            </a:pPr>
            <a:r>
              <a:rPr lang="en-US" i="0" strike="noStrike" dirty="0">
                <a:solidFill>
                  <a:srgbClr val="1B1C1D"/>
                </a:solidFill>
                <a:effectLst/>
                <a:latin typeface="Google Sans"/>
              </a:rPr>
              <a:t>3. Propose the first logical step or tool for the analysis.      </a:t>
            </a:r>
            <a:endParaRPr lang="pl-PL" i="0" strike="noStrike" dirty="0">
              <a:solidFill>
                <a:srgbClr val="1B1C1D"/>
              </a:solidFill>
              <a:effectLst/>
              <a:latin typeface="Google Sans"/>
            </a:endParaRPr>
          </a:p>
          <a:p>
            <a:pPr marL="1200150" lvl="2" indent="-285750">
              <a:buFont typeface="Arial" panose="020B0604020202020204" pitchFamily="34" charset="0"/>
              <a:buChar char="•"/>
            </a:pPr>
            <a:r>
              <a:rPr lang="en-US" i="0" strike="noStrike" dirty="0">
                <a:solidFill>
                  <a:srgbClr val="1B1C1D"/>
                </a:solidFill>
                <a:effectLst/>
                <a:latin typeface="Google Sans"/>
              </a:rPr>
              <a:t>4. Generate the initial section of the Data processing script.  </a:t>
            </a:r>
            <a:endParaRPr lang="pl-PL" i="0" strike="noStrike" dirty="0">
              <a:solidFill>
                <a:srgbClr val="1B1C1D"/>
              </a:solidFill>
              <a:effectLst/>
              <a:latin typeface="Google Sans"/>
            </a:endParaRPr>
          </a:p>
          <a:p>
            <a:pPr marL="285750" indent="-285750">
              <a:buFont typeface="Arial" panose="020B0604020202020204" pitchFamily="34" charset="0"/>
              <a:buChar char="•"/>
            </a:pPr>
            <a:r>
              <a:rPr lang="en-US" b="1" i="0" strike="noStrike" dirty="0">
                <a:solidFill>
                  <a:srgbClr val="1B1C1D"/>
                </a:solidFill>
                <a:effectLst/>
                <a:latin typeface="Google Sans"/>
              </a:rPr>
              <a:t>Out of Scope for Phase 1: </a:t>
            </a:r>
            <a:r>
              <a:rPr lang="en-US" i="0" strike="noStrike" dirty="0">
                <a:solidFill>
                  <a:srgbClr val="1B1C1D"/>
                </a:solidFill>
                <a:effectLst/>
                <a:latin typeface="Google Sans"/>
              </a:rPr>
              <a:t>The Main Loop, script execution, visual/quantitative feedback, and self-correction mechanisms.</a:t>
            </a:r>
            <a:endParaRPr lang="pl-PL" i="0" strike="noStrike" dirty="0">
              <a:solidFill>
                <a:srgbClr val="1B1C1D"/>
              </a:solidFill>
              <a:effectLst/>
              <a:latin typeface="Google Sans"/>
            </a:endParaRPr>
          </a:p>
          <a:p>
            <a:endParaRPr lang="pl-PL" sz="1600" dirty="0">
              <a:solidFill>
                <a:srgbClr val="1B1C1D"/>
              </a:solidFill>
              <a:latin typeface="Google Sans"/>
            </a:endParaRPr>
          </a:p>
          <a:p>
            <a:r>
              <a:rPr lang="en-US" b="1" i="0" u="sng" strike="noStrike" dirty="0">
                <a:solidFill>
                  <a:srgbClr val="1B1C1D"/>
                </a:solidFill>
                <a:effectLst/>
                <a:latin typeface="Google Sans"/>
              </a:rPr>
              <a:t>Phase 2: To be determined</a:t>
            </a:r>
            <a:endParaRPr lang="pl-PL" b="1" i="0" u="sng" strike="noStrike" dirty="0">
              <a:solidFill>
                <a:srgbClr val="1B1C1D"/>
              </a:solidFill>
              <a:effectLst/>
              <a:latin typeface="Google Sans"/>
            </a:endParaRPr>
          </a:p>
        </p:txBody>
      </p:sp>
    </p:spTree>
    <p:extLst>
      <p:ext uri="{BB962C8B-B14F-4D97-AF65-F5344CB8AC3E}">
        <p14:creationId xmlns:p14="http://schemas.microsoft.com/office/powerpoint/2010/main" val="11602690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ole tekstowe 4">
            <a:extLst>
              <a:ext uri="{FF2B5EF4-FFF2-40B4-BE49-F238E27FC236}">
                <a16:creationId xmlns:a16="http://schemas.microsoft.com/office/drawing/2014/main" id="{B3C834C9-D5E7-46C8-96BE-331BB8260282}"/>
              </a:ext>
            </a:extLst>
          </p:cNvPr>
          <p:cNvSpPr txBox="1"/>
          <p:nvPr/>
        </p:nvSpPr>
        <p:spPr>
          <a:xfrm>
            <a:off x="68366" y="71527"/>
            <a:ext cx="8730401" cy="6447919"/>
          </a:xfrm>
          <a:prstGeom prst="rect">
            <a:avLst/>
          </a:prstGeom>
          <a:noFill/>
        </p:spPr>
        <p:txBody>
          <a:bodyPr wrap="square">
            <a:spAutoFit/>
          </a:bodyPr>
          <a:lstStyle/>
          <a:p>
            <a:pPr rtl="0">
              <a:spcBef>
                <a:spcPts val="600"/>
              </a:spcBef>
              <a:spcAft>
                <a:spcPts val="600"/>
              </a:spcAft>
            </a:pPr>
            <a:r>
              <a:rPr lang="pl-PL" sz="2800" b="1" i="0" strike="noStrike" dirty="0">
                <a:solidFill>
                  <a:srgbClr val="1B1C1D"/>
                </a:solidFill>
                <a:effectLst/>
                <a:latin typeface="Google Sans"/>
              </a:rPr>
              <a:t>11</a:t>
            </a:r>
            <a:r>
              <a:rPr lang="en-US" sz="2800" b="1" i="0" strike="noStrike" dirty="0">
                <a:solidFill>
                  <a:srgbClr val="1B1C1D"/>
                </a:solidFill>
                <a:effectLst/>
                <a:latin typeface="Google Sans"/>
              </a:rPr>
              <a:t>. </a:t>
            </a:r>
            <a:r>
              <a:rPr lang="pl-PL" sz="2800" b="1" i="0" strike="noStrike" dirty="0" err="1">
                <a:solidFill>
                  <a:srgbClr val="1B1C1D"/>
                </a:solidFill>
                <a:effectLst/>
                <a:latin typeface="Google Sans"/>
              </a:rPr>
              <a:t>Tool</a:t>
            </a:r>
            <a:r>
              <a:rPr lang="pl-PL" sz="2800" b="1" i="0" strike="noStrike" dirty="0">
                <a:solidFill>
                  <a:srgbClr val="1B1C1D"/>
                </a:solidFill>
                <a:effectLst/>
                <a:latin typeface="Google Sans"/>
              </a:rPr>
              <a:t> </a:t>
            </a:r>
            <a:r>
              <a:rPr lang="pl-PL" sz="2800" b="1" i="0" strike="noStrike" dirty="0" err="1">
                <a:solidFill>
                  <a:srgbClr val="1B1C1D"/>
                </a:solidFill>
                <a:effectLst/>
                <a:latin typeface="Google Sans"/>
              </a:rPr>
              <a:t>package</a:t>
            </a:r>
            <a:r>
              <a:rPr lang="pl-PL" sz="2800" b="1" i="0" strike="noStrike" dirty="0">
                <a:solidFill>
                  <a:srgbClr val="1B1C1D"/>
                </a:solidFill>
                <a:effectLst/>
                <a:latin typeface="Google Sans"/>
              </a:rPr>
              <a:t> </a:t>
            </a:r>
            <a:r>
              <a:rPr lang="pl-PL" sz="2800" b="1" i="0" strike="noStrike" dirty="0" err="1">
                <a:solidFill>
                  <a:srgbClr val="1B1C1D"/>
                </a:solidFill>
                <a:effectLst/>
                <a:latin typeface="Google Sans"/>
              </a:rPr>
              <a:t>structure</a:t>
            </a:r>
            <a:endParaRPr lang="en-US" sz="2800" b="1" dirty="0">
              <a:effectLst/>
            </a:endParaRPr>
          </a:p>
          <a:p>
            <a:pPr rtl="0">
              <a:spcBef>
                <a:spcPts val="0"/>
              </a:spcBef>
              <a:spcAft>
                <a:spcPts val="600"/>
              </a:spcAft>
            </a:pPr>
            <a:r>
              <a:rPr lang="en-US" sz="1800" b="1" i="0" u="sng" strike="noStrike" dirty="0">
                <a:solidFill>
                  <a:srgbClr val="1B1C1D"/>
                </a:solidFill>
                <a:effectLst/>
                <a:latin typeface="Google Sans"/>
              </a:rPr>
              <a:t>One Python File Per Tool (tool.py + tool.md)</a:t>
            </a:r>
            <a:endParaRPr lang="pl-PL" b="1" u="sng" dirty="0">
              <a:solidFill>
                <a:srgbClr val="1B1C1D"/>
              </a:solidFill>
              <a:latin typeface="Google Sans"/>
            </a:endParaRPr>
          </a:p>
          <a:p>
            <a:pPr marL="285750" indent="-285750" rtl="0" fontAlgn="base">
              <a:spcBef>
                <a:spcPts val="0"/>
              </a:spcBef>
              <a:spcAft>
                <a:spcPts val="0"/>
              </a:spcAft>
              <a:buFont typeface="Arial" panose="020B0604020202020204" pitchFamily="34" charset="0"/>
              <a:buChar char="•"/>
            </a:pPr>
            <a:r>
              <a:rPr lang="en-US" sz="1800" b="1" i="0" u="none" strike="noStrike" dirty="0">
                <a:solidFill>
                  <a:srgbClr val="1B1C1D"/>
                </a:solidFill>
                <a:effectLst/>
                <a:latin typeface="Google Sans Text"/>
              </a:rPr>
              <a:t>Robustness for RAG:</a:t>
            </a:r>
            <a:r>
              <a:rPr lang="en-US" sz="1800" b="0" i="0" u="none" strike="noStrike" dirty="0">
                <a:solidFill>
                  <a:srgbClr val="1B1C1D"/>
                </a:solidFill>
                <a:effectLst/>
                <a:latin typeface="Google Sans Text"/>
              </a:rPr>
              <a:t> By creating a direct one-to-one mapping between the tool's code (</a:t>
            </a:r>
            <a:r>
              <a:rPr lang="en-US" sz="1800" b="0" i="0" u="none" strike="noStrike" dirty="0">
                <a:solidFill>
                  <a:srgbClr val="1B1C1D"/>
                </a:solidFill>
                <a:effectLst/>
                <a:latin typeface="Courier New" panose="02070309020205020404" pitchFamily="49" charset="0"/>
                <a:cs typeface="Courier New" panose="02070309020205020404" pitchFamily="49" charset="0"/>
              </a:rPr>
              <a:t>create_spectrogram.py</a:t>
            </a:r>
            <a:r>
              <a:rPr lang="en-US" sz="1800" b="0" i="0" u="none" strike="noStrike" dirty="0">
                <a:solidFill>
                  <a:srgbClr val="1B1C1D"/>
                </a:solidFill>
                <a:effectLst/>
                <a:latin typeface="Google Sans Text"/>
              </a:rPr>
              <a:t>) and its documentation (</a:t>
            </a:r>
            <a:r>
              <a:rPr lang="en-US" sz="1800" b="0" i="0" u="none" strike="noStrike" dirty="0">
                <a:solidFill>
                  <a:srgbClr val="1B1C1D"/>
                </a:solidFill>
                <a:effectLst/>
                <a:latin typeface="Courier New" panose="02070309020205020404" pitchFamily="49" charset="0"/>
                <a:cs typeface="Courier New" panose="02070309020205020404" pitchFamily="49" charset="0"/>
              </a:rPr>
              <a:t>create_spectrogram.md</a:t>
            </a:r>
            <a:r>
              <a:rPr lang="en-US" sz="1800" b="0" i="0" u="none" strike="noStrike" dirty="0">
                <a:solidFill>
                  <a:srgbClr val="1B1C1D"/>
                </a:solidFill>
                <a:effectLst/>
                <a:latin typeface="Google Sans Text"/>
              </a:rPr>
              <a:t>), the entire system </a:t>
            </a:r>
            <a:r>
              <a:rPr lang="pl-PL" sz="1800" b="0" i="0" u="none" strike="noStrike" dirty="0" err="1">
                <a:solidFill>
                  <a:srgbClr val="1B1C1D"/>
                </a:solidFill>
                <a:effectLst/>
                <a:latin typeface="Google Sans Text"/>
              </a:rPr>
              <a:t>is</a:t>
            </a:r>
            <a:r>
              <a:rPr lang="pl-PL" sz="1800" b="0" i="0" u="none" strike="noStrike" dirty="0">
                <a:solidFill>
                  <a:srgbClr val="1B1C1D"/>
                </a:solidFill>
                <a:effectLst/>
                <a:latin typeface="Google Sans Text"/>
              </a:rPr>
              <a:t> </a:t>
            </a:r>
            <a:r>
              <a:rPr lang="en-US" sz="1800" b="0" i="0" u="none" strike="noStrike" dirty="0">
                <a:solidFill>
                  <a:srgbClr val="1B1C1D"/>
                </a:solidFill>
                <a:effectLst/>
                <a:latin typeface="Google Sans Text"/>
              </a:rPr>
              <a:t>incredibly robust.</a:t>
            </a:r>
            <a:endParaRPr lang="pl-PL" dirty="0">
              <a:solidFill>
                <a:srgbClr val="000000"/>
              </a:solidFill>
              <a:latin typeface="Arial" panose="020B0604020202020204" pitchFamily="34" charset="0"/>
            </a:endParaRPr>
          </a:p>
          <a:p>
            <a:pPr marL="742950" lvl="1" indent="-285750" fontAlgn="base">
              <a:buFont typeface="Arial" panose="020B0604020202020204" pitchFamily="34" charset="0"/>
              <a:buChar char="•"/>
            </a:pPr>
            <a:r>
              <a:rPr lang="en-US" b="0" i="0" u="none" strike="noStrike" dirty="0">
                <a:solidFill>
                  <a:srgbClr val="1B1C1D"/>
                </a:solidFill>
                <a:effectLst/>
                <a:latin typeface="Google Sans Text"/>
              </a:rPr>
              <a:t>The RAG indexing script has a simple, unbreakable rule: for every tool implementation, find the matching documentation file.</a:t>
            </a:r>
            <a:endParaRPr lang="pl-PL" dirty="0">
              <a:solidFill>
                <a:srgbClr val="000000"/>
              </a:solidFill>
              <a:latin typeface="Arial" panose="020B0604020202020204" pitchFamily="34" charset="0"/>
            </a:endParaRPr>
          </a:p>
          <a:p>
            <a:pPr marL="742950" lvl="1" indent="-285750" fontAlgn="base">
              <a:buFont typeface="Arial" panose="020B0604020202020204" pitchFamily="34" charset="0"/>
              <a:buChar char="•"/>
            </a:pPr>
            <a:r>
              <a:rPr lang="en-US" sz="1800" b="0" i="0" u="none" strike="noStrike" dirty="0">
                <a:solidFill>
                  <a:srgbClr val="1B1C1D"/>
                </a:solidFill>
                <a:effectLst/>
                <a:latin typeface="Google Sans Text"/>
              </a:rPr>
              <a:t>It's easy to validate. If a .</a:t>
            </a:r>
            <a:r>
              <a:rPr lang="en-US" sz="1800" b="0" i="0" u="none" strike="noStrike" dirty="0" err="1">
                <a:solidFill>
                  <a:srgbClr val="1B1C1D"/>
                </a:solidFill>
                <a:effectLst/>
                <a:latin typeface="Google Sans Text"/>
              </a:rPr>
              <a:t>py</a:t>
            </a:r>
            <a:r>
              <a:rPr lang="en-US" sz="1800" b="0" i="0" u="none" strike="noStrike" dirty="0">
                <a:solidFill>
                  <a:srgbClr val="1B1C1D"/>
                </a:solidFill>
                <a:effectLst/>
                <a:latin typeface="Google Sans Text"/>
              </a:rPr>
              <a:t> file exists without a corresponding .md file, the system can flag it as an error.</a:t>
            </a:r>
            <a:endParaRPr lang="pl-PL" dirty="0">
              <a:solidFill>
                <a:srgbClr val="000000"/>
              </a:solidFill>
              <a:latin typeface="Arial" panose="020B0604020202020204" pitchFamily="34" charset="0"/>
            </a:endParaRPr>
          </a:p>
          <a:p>
            <a:pPr marL="742950" lvl="1" indent="-285750" fontAlgn="base">
              <a:buFont typeface="Arial" panose="020B0604020202020204" pitchFamily="34" charset="0"/>
              <a:buChar char="•"/>
            </a:pPr>
            <a:r>
              <a:rPr lang="en-US" sz="1800" b="0" i="0" u="none" strike="noStrike" dirty="0">
                <a:solidFill>
                  <a:srgbClr val="1B1C1D"/>
                </a:solidFill>
                <a:effectLst/>
                <a:latin typeface="Google Sans Text"/>
              </a:rPr>
              <a:t>It ensures that the documentation retrieved by the LLM is always perfectly and unambiguously linked to the specific tool it's considering.</a:t>
            </a:r>
            <a:endParaRPr lang="en-US" sz="1800" b="0" i="0" u="none" strike="noStrike" dirty="0">
              <a:solidFill>
                <a:srgbClr val="000000"/>
              </a:solidFill>
              <a:effectLst/>
              <a:latin typeface="Arial" panose="020B0604020202020204" pitchFamily="34" charset="0"/>
            </a:endParaRPr>
          </a:p>
          <a:p>
            <a:pPr marL="285750" indent="-285750">
              <a:buFont typeface="Arial" panose="020B0604020202020204" pitchFamily="34" charset="0"/>
              <a:buChar char="•"/>
            </a:pPr>
            <a:r>
              <a:rPr lang="en-US" sz="1800" b="1" i="0" u="none" strike="noStrike" dirty="0">
                <a:solidFill>
                  <a:srgbClr val="1B1C1D"/>
                </a:solidFill>
                <a:effectLst/>
                <a:latin typeface="Google Sans Text"/>
              </a:rPr>
              <a:t>Maintainability:</a:t>
            </a:r>
            <a:r>
              <a:rPr lang="en-US" sz="1800" b="0" i="0" u="none" strike="noStrike" dirty="0">
                <a:solidFill>
                  <a:srgbClr val="1B1C1D"/>
                </a:solidFill>
                <a:effectLst/>
                <a:latin typeface="Google Sans Text"/>
              </a:rPr>
              <a:t> This structure is a gift to </a:t>
            </a:r>
            <a:r>
              <a:rPr lang="pl-PL" sz="1800" b="0" i="0" u="none" strike="noStrike" dirty="0">
                <a:solidFill>
                  <a:srgbClr val="1B1C1D"/>
                </a:solidFill>
                <a:effectLst/>
                <a:latin typeface="Google Sans Text"/>
              </a:rPr>
              <a:t>my</a:t>
            </a:r>
            <a:r>
              <a:rPr lang="en-US" sz="1800" b="0" i="0" u="none" strike="noStrike" dirty="0">
                <a:solidFill>
                  <a:srgbClr val="1B1C1D"/>
                </a:solidFill>
                <a:effectLst/>
                <a:latin typeface="Google Sans Text"/>
              </a:rPr>
              <a:t> future self. When </a:t>
            </a:r>
            <a:r>
              <a:rPr lang="pl-PL" sz="1800" b="0" i="0" u="none" strike="noStrike" dirty="0">
                <a:solidFill>
                  <a:srgbClr val="1B1C1D"/>
                </a:solidFill>
                <a:effectLst/>
                <a:latin typeface="Google Sans Text"/>
              </a:rPr>
              <a:t>I</a:t>
            </a:r>
            <a:r>
              <a:rPr lang="en-US" sz="1800" b="0" i="0" u="none" strike="noStrike" dirty="0">
                <a:solidFill>
                  <a:srgbClr val="1B1C1D"/>
                </a:solidFill>
                <a:effectLst/>
                <a:latin typeface="Google Sans Text"/>
              </a:rPr>
              <a:t> need to update the </a:t>
            </a:r>
            <a:r>
              <a:rPr lang="en-US" sz="1800" b="0" i="0" u="none" strike="noStrike" dirty="0" err="1">
                <a:solidFill>
                  <a:srgbClr val="1B1C1D"/>
                </a:solidFill>
                <a:effectLst/>
                <a:latin typeface="Google Sans Text"/>
              </a:rPr>
              <a:t>lowpass_filter</a:t>
            </a:r>
            <a:r>
              <a:rPr lang="en-US" sz="1800" b="0" i="0" u="none" strike="noStrike" dirty="0">
                <a:solidFill>
                  <a:srgbClr val="1B1C1D"/>
                </a:solidFill>
                <a:effectLst/>
                <a:latin typeface="Google Sans Text"/>
              </a:rPr>
              <a:t>, you only need to touch two small, clearly named files. This is superior to managing one giant </a:t>
            </a:r>
            <a:r>
              <a:rPr lang="en-US" sz="1800" b="0" i="0" u="none" strike="noStrike" dirty="0">
                <a:solidFill>
                  <a:srgbClr val="1B1C1D"/>
                </a:solidFill>
                <a:effectLst/>
                <a:latin typeface="Courier New" panose="02070309020205020404" pitchFamily="49" charset="0"/>
                <a:cs typeface="Courier New" panose="02070309020205020404" pitchFamily="49" charset="0"/>
              </a:rPr>
              <a:t>tools.py </a:t>
            </a:r>
            <a:r>
              <a:rPr lang="en-US" sz="1800" b="0" i="0" u="none" strike="noStrike" dirty="0">
                <a:solidFill>
                  <a:srgbClr val="1B1C1D"/>
                </a:solidFill>
                <a:effectLst/>
                <a:latin typeface="Google Sans Text"/>
              </a:rPr>
              <a:t>file and one giant documentation file.</a:t>
            </a:r>
            <a:endParaRPr lang="pl-PL" dirty="0">
              <a:solidFill>
                <a:srgbClr val="1B1C1D"/>
              </a:solidFill>
              <a:latin typeface="Google Sans Text"/>
            </a:endParaRPr>
          </a:p>
          <a:p>
            <a:pPr rtl="0">
              <a:spcBef>
                <a:spcPts val="0"/>
              </a:spcBef>
              <a:spcAft>
                <a:spcPts val="600"/>
              </a:spcAft>
            </a:pPr>
            <a:r>
              <a:rPr lang="en-US" sz="1800" b="1" i="0" u="sng" strike="noStrike" dirty="0">
                <a:solidFill>
                  <a:srgbClr val="1B1C1D"/>
                </a:solidFill>
                <a:effectLst/>
                <a:latin typeface="Google Sans"/>
              </a:rPr>
              <a:t>Logical Subfolders (transforms/, </a:t>
            </a:r>
            <a:r>
              <a:rPr lang="en-US" sz="1800" b="1" i="0" u="sng" strike="noStrike" dirty="0" err="1">
                <a:solidFill>
                  <a:srgbClr val="1B1C1D"/>
                </a:solidFill>
                <a:effectLst/>
                <a:latin typeface="Google Sans"/>
              </a:rPr>
              <a:t>sigproc</a:t>
            </a:r>
            <a:r>
              <a:rPr lang="en-US" sz="1800" b="1" i="0" u="sng" strike="noStrike" dirty="0">
                <a:solidFill>
                  <a:srgbClr val="1B1C1D"/>
                </a:solidFill>
                <a:effectLst/>
                <a:latin typeface="Google Sans"/>
              </a:rPr>
              <a:t>/, etc.)</a:t>
            </a:r>
            <a:endParaRPr lang="pl-PL" sz="1800" b="1" i="0" u="sng" strike="noStrike" dirty="0">
              <a:solidFill>
                <a:srgbClr val="1B1C1D"/>
              </a:solidFill>
              <a:effectLst/>
              <a:latin typeface="Google Sans"/>
            </a:endParaRPr>
          </a:p>
          <a:p>
            <a:pPr rtl="0">
              <a:spcBef>
                <a:spcPts val="0"/>
              </a:spcBef>
              <a:spcAft>
                <a:spcPts val="600"/>
              </a:spcAft>
            </a:pPr>
            <a:r>
              <a:rPr lang="pl-PL" sz="1800" i="0" strike="noStrike" dirty="0">
                <a:solidFill>
                  <a:srgbClr val="1B1C1D"/>
                </a:solidFill>
                <a:latin typeface="Google Sans"/>
              </a:rPr>
              <a:t>S</a:t>
            </a:r>
            <a:r>
              <a:rPr lang="en-US" sz="1800" b="0" i="0" u="none" strike="noStrike" dirty="0" err="1">
                <a:solidFill>
                  <a:srgbClr val="1B1C1D"/>
                </a:solidFill>
                <a:effectLst/>
                <a:latin typeface="Google Sans Text"/>
              </a:rPr>
              <a:t>trategy</a:t>
            </a:r>
            <a:r>
              <a:rPr lang="en-US" sz="1800" b="0" i="0" u="none" strike="noStrike" dirty="0">
                <a:solidFill>
                  <a:srgbClr val="1B1C1D"/>
                </a:solidFill>
                <a:effectLst/>
                <a:latin typeface="Google Sans Text"/>
              </a:rPr>
              <a:t> for </a:t>
            </a:r>
            <a:r>
              <a:rPr lang="pl-PL" sz="1800" b="0" i="0" u="none" strike="noStrike" dirty="0" err="1">
                <a:solidFill>
                  <a:srgbClr val="1B1C1D"/>
                </a:solidFill>
                <a:effectLst/>
                <a:latin typeface="Google Sans Text"/>
              </a:rPr>
              <a:t>maintainability</a:t>
            </a:r>
            <a:r>
              <a:rPr lang="pl-PL" sz="1800" b="0" i="0" u="none" strike="noStrike" dirty="0">
                <a:solidFill>
                  <a:srgbClr val="1B1C1D"/>
                </a:solidFill>
                <a:effectLst/>
                <a:latin typeface="Google Sans Text"/>
              </a:rPr>
              <a:t> and </a:t>
            </a:r>
            <a:r>
              <a:rPr lang="en-US" sz="1800" b="0" i="0" u="none" strike="noStrike" dirty="0">
                <a:solidFill>
                  <a:srgbClr val="1B1C1D"/>
                </a:solidFill>
                <a:effectLst/>
                <a:latin typeface="Google Sans Text"/>
              </a:rPr>
              <a:t>long-term growth.</a:t>
            </a:r>
            <a:endParaRPr lang="en-US" b="0" dirty="0">
              <a:effectLst/>
            </a:endParaRPr>
          </a:p>
          <a:p>
            <a:pPr marL="285750" indent="-285750" rtl="0" fontAlgn="base">
              <a:spcBef>
                <a:spcPts val="0"/>
              </a:spcBef>
              <a:spcAft>
                <a:spcPts val="0"/>
              </a:spcAft>
              <a:buFont typeface="Arial" panose="020B0604020202020204" pitchFamily="34" charset="0"/>
              <a:buChar char="•"/>
            </a:pPr>
            <a:r>
              <a:rPr lang="en-US" sz="1800" b="1" i="0" u="none" strike="noStrike" dirty="0">
                <a:solidFill>
                  <a:srgbClr val="1B1C1D"/>
                </a:solidFill>
                <a:effectLst/>
                <a:latin typeface="Google Sans Text"/>
              </a:rPr>
              <a:t>Scalability:</a:t>
            </a:r>
            <a:r>
              <a:rPr lang="en-US" sz="1800" b="0" i="0" u="none" strike="noStrike" dirty="0">
                <a:solidFill>
                  <a:srgbClr val="1B1C1D"/>
                </a:solidFill>
                <a:effectLst/>
                <a:latin typeface="Google Sans Text"/>
              </a:rPr>
              <a:t> </a:t>
            </a:r>
            <a:r>
              <a:rPr lang="pl-PL" sz="1800" b="0" i="0" u="none" strike="noStrike" dirty="0">
                <a:solidFill>
                  <a:srgbClr val="1B1C1D"/>
                </a:solidFill>
                <a:effectLst/>
                <a:latin typeface="Google Sans Text"/>
              </a:rPr>
              <a:t>I </a:t>
            </a:r>
            <a:r>
              <a:rPr lang="pl-PL" sz="1800" b="0" i="0" u="none" strike="noStrike" dirty="0" err="1">
                <a:solidFill>
                  <a:srgbClr val="1B1C1D"/>
                </a:solidFill>
                <a:effectLst/>
                <a:latin typeface="Google Sans Text"/>
              </a:rPr>
              <a:t>will</a:t>
            </a:r>
            <a:r>
              <a:rPr lang="pl-PL" sz="1800" b="0" i="0" u="none" strike="noStrike" dirty="0">
                <a:solidFill>
                  <a:srgbClr val="1B1C1D"/>
                </a:solidFill>
                <a:effectLst/>
                <a:latin typeface="Google Sans Text"/>
              </a:rPr>
              <a:t> </a:t>
            </a:r>
            <a:r>
              <a:rPr lang="en-US" sz="1800" b="0" i="0" u="none" strike="noStrike" dirty="0">
                <a:solidFill>
                  <a:srgbClr val="1B1C1D"/>
                </a:solidFill>
                <a:effectLst/>
                <a:latin typeface="Google Sans Text"/>
              </a:rPr>
              <a:t>start small, but the toolkit will grow. This folder structure prevents the main tools directory from becoming a cluttered mess with hundreds of files.</a:t>
            </a:r>
            <a:endParaRPr lang="en-US" sz="1800" b="0" i="0" u="none" strike="noStrike" dirty="0">
              <a:solidFill>
                <a:srgbClr val="000000"/>
              </a:solidFill>
              <a:effectLst/>
              <a:latin typeface="Arial" panose="020B0604020202020204" pitchFamily="34" charset="0"/>
            </a:endParaRPr>
          </a:p>
          <a:p>
            <a:pPr marL="285750" indent="-285750" rtl="0" fontAlgn="base">
              <a:spcBef>
                <a:spcPts val="0"/>
              </a:spcBef>
              <a:spcAft>
                <a:spcPts val="600"/>
              </a:spcAft>
              <a:buFont typeface="Arial" panose="020B0604020202020204" pitchFamily="34" charset="0"/>
              <a:buChar char="•"/>
            </a:pPr>
            <a:r>
              <a:rPr lang="en-US" sz="1800" b="1" i="0" u="none" strike="noStrike" dirty="0">
                <a:solidFill>
                  <a:srgbClr val="1B1C1D"/>
                </a:solidFill>
                <a:effectLst/>
                <a:latin typeface="Google Sans Text"/>
              </a:rPr>
              <a:t>Logical Grouping:</a:t>
            </a:r>
            <a:r>
              <a:rPr lang="en-US" sz="1800" b="0" i="0" u="none" strike="noStrike" dirty="0">
                <a:solidFill>
                  <a:srgbClr val="1B1C1D"/>
                </a:solidFill>
                <a:effectLst/>
                <a:latin typeface="Google Sans Text"/>
              </a:rPr>
              <a:t> It makes the project intuitive to navigate for any human developer. If </a:t>
            </a:r>
            <a:r>
              <a:rPr lang="pl-PL" sz="1800" b="0" i="0" u="none" strike="noStrike" dirty="0">
                <a:solidFill>
                  <a:srgbClr val="1B1C1D"/>
                </a:solidFill>
                <a:effectLst/>
                <a:latin typeface="Google Sans Text"/>
              </a:rPr>
              <a:t>I</a:t>
            </a:r>
            <a:r>
              <a:rPr lang="en-US" sz="1800" b="0" i="0" u="none" strike="noStrike" dirty="0">
                <a:solidFill>
                  <a:srgbClr val="1B1C1D"/>
                </a:solidFill>
                <a:effectLst/>
                <a:latin typeface="Google Sans Text"/>
              </a:rPr>
              <a:t> want to find a filter, </a:t>
            </a:r>
            <a:r>
              <a:rPr lang="pl-PL" sz="1800" b="0" i="0" u="none" strike="noStrike" dirty="0">
                <a:solidFill>
                  <a:srgbClr val="1B1C1D"/>
                </a:solidFill>
                <a:effectLst/>
                <a:latin typeface="Google Sans Text"/>
              </a:rPr>
              <a:t>I</a:t>
            </a:r>
            <a:r>
              <a:rPr lang="en-US" sz="1800" b="0" i="0" u="none" strike="noStrike" dirty="0">
                <a:solidFill>
                  <a:srgbClr val="1B1C1D"/>
                </a:solidFill>
                <a:effectLst/>
                <a:latin typeface="Google Sans Text"/>
              </a:rPr>
              <a:t> know to look in the </a:t>
            </a:r>
            <a:r>
              <a:rPr lang="en-US" sz="1800" b="0" i="0" u="none" strike="noStrike" dirty="0" err="1">
                <a:solidFill>
                  <a:srgbClr val="1B1C1D"/>
                </a:solidFill>
                <a:effectLst/>
                <a:latin typeface="Courier New" panose="02070309020205020404" pitchFamily="49" charset="0"/>
                <a:cs typeface="Courier New" panose="02070309020205020404" pitchFamily="49" charset="0"/>
              </a:rPr>
              <a:t>sigproc</a:t>
            </a:r>
            <a:r>
              <a:rPr lang="en-US" sz="1800" b="0" i="0" u="none" strike="noStrike" dirty="0">
                <a:solidFill>
                  <a:srgbClr val="1B1C1D"/>
                </a:solidFill>
                <a:effectLst/>
                <a:latin typeface="Google Sans Text"/>
              </a:rPr>
              <a:t> directory. </a:t>
            </a:r>
            <a:endParaRPr lang="en-US" sz="1800" b="0" i="0" u="none" strike="noStrike" dirty="0">
              <a:solidFill>
                <a:srgbClr val="000000"/>
              </a:solidFill>
              <a:effectLst/>
              <a:latin typeface="Arial" panose="020B0604020202020204" pitchFamily="34" charset="0"/>
            </a:endParaRPr>
          </a:p>
          <a:p>
            <a:pPr marL="285750" indent="-285750">
              <a:buFont typeface="Arial" panose="020B0604020202020204" pitchFamily="34" charset="0"/>
              <a:buChar char="•"/>
            </a:pPr>
            <a:r>
              <a:rPr lang="en-US" sz="1800" b="1" i="0" u="none" strike="noStrike" dirty="0">
                <a:solidFill>
                  <a:srgbClr val="1B1C1D"/>
                </a:solidFill>
                <a:effectLst/>
                <a:latin typeface="Google Sans Text"/>
              </a:rPr>
              <a:t>Namespace Clarity:</a:t>
            </a:r>
            <a:r>
              <a:rPr lang="en-US" sz="1800" b="0" i="0" u="none" strike="noStrike" dirty="0">
                <a:solidFill>
                  <a:srgbClr val="1B1C1D"/>
                </a:solidFill>
                <a:effectLst/>
                <a:latin typeface="Google Sans Text"/>
              </a:rPr>
              <a:t> It creates a clean, organized project structure.</a:t>
            </a:r>
            <a:endParaRPr lang="en-US" b="1" dirty="0">
              <a:effectLst/>
            </a:endParaRPr>
          </a:p>
        </p:txBody>
      </p:sp>
      <p:sp>
        <p:nvSpPr>
          <p:cNvPr id="3" name="pole tekstowe 2">
            <a:extLst>
              <a:ext uri="{FF2B5EF4-FFF2-40B4-BE49-F238E27FC236}">
                <a16:creationId xmlns:a16="http://schemas.microsoft.com/office/drawing/2014/main" id="{0ADFBEAC-D192-4B8C-95EF-6253464FD9AE}"/>
              </a:ext>
            </a:extLst>
          </p:cNvPr>
          <p:cNvSpPr txBox="1"/>
          <p:nvPr/>
        </p:nvSpPr>
        <p:spPr>
          <a:xfrm>
            <a:off x="8668080" y="0"/>
            <a:ext cx="3523920" cy="6555641"/>
          </a:xfrm>
          <a:prstGeom prst="rect">
            <a:avLst/>
          </a:prstGeom>
          <a:noFill/>
        </p:spPr>
        <p:txBody>
          <a:bodyPr wrap="square">
            <a:spAutoFit/>
          </a:bodyPr>
          <a:lstStyle/>
          <a:p>
            <a:r>
              <a:rPr lang="pl-PL" sz="1200" b="0" i="0" u="none" strike="noStrike" dirty="0" err="1">
                <a:solidFill>
                  <a:srgbClr val="1B1C1D"/>
                </a:solidFill>
                <a:effectLst/>
                <a:latin typeface="Courier New" panose="02070309020205020404" pitchFamily="49" charset="0"/>
                <a:cs typeface="Courier New" panose="02070309020205020404" pitchFamily="49" charset="0"/>
              </a:rPr>
              <a:t>tools</a:t>
            </a:r>
            <a:r>
              <a:rPr lang="pl-PL" sz="1200" b="0" i="0" u="none" strike="noStrike" dirty="0">
                <a:solidFill>
                  <a:srgbClr val="1B1C1D"/>
                </a:solidFill>
                <a:effectLst/>
                <a:latin typeface="Courier New" panose="02070309020205020404" pitchFamily="49" charset="0"/>
                <a:cs typeface="Courier New" panose="02070309020205020404" pitchFamily="49" charset="0"/>
              </a:rPr>
              <a:t>/</a:t>
            </a:r>
            <a:br>
              <a:rPr lang="pl-PL" sz="1200" b="0" i="0" u="none" strike="noStrike" dirty="0">
                <a:solidFill>
                  <a:srgbClr val="1B1C1D"/>
                </a:solidFill>
                <a:effectLst/>
                <a:latin typeface="Courier New" panose="02070309020205020404" pitchFamily="49" charset="0"/>
                <a:cs typeface="Courier New" panose="02070309020205020404" pitchFamily="49" charset="0"/>
              </a:rPr>
            </a:br>
            <a:r>
              <a:rPr lang="pl-PL" sz="1200" b="0" i="0" u="none" strike="noStrike" dirty="0">
                <a:solidFill>
                  <a:srgbClr val="1B1C1D"/>
                </a:solidFill>
                <a:effectLst/>
                <a:latin typeface="Courier New" panose="02070309020205020404" pitchFamily="49" charset="0"/>
                <a:cs typeface="Courier New" panose="02070309020205020404" pitchFamily="49" charset="0"/>
              </a:rPr>
              <a:t>├── __init__.py                 </a:t>
            </a:r>
          </a:p>
          <a:p>
            <a:r>
              <a:rPr lang="pl-PL" sz="1200" b="0" i="0" u="none" strike="noStrike" dirty="0">
                <a:solidFill>
                  <a:srgbClr val="1B1C1D"/>
                </a:solidFill>
                <a:effectLst/>
                <a:latin typeface="Courier New" panose="02070309020205020404" pitchFamily="49" charset="0"/>
                <a:cs typeface="Courier New" panose="02070309020205020404" pitchFamily="49" charset="0"/>
              </a:rPr>
              <a:t>│</a:t>
            </a:r>
            <a:br>
              <a:rPr lang="pl-PL" sz="1200" b="0" i="0" u="none" strike="noStrike" dirty="0">
                <a:solidFill>
                  <a:srgbClr val="1B1C1D"/>
                </a:solidFill>
                <a:effectLst/>
                <a:latin typeface="Courier New" panose="02070309020205020404" pitchFamily="49" charset="0"/>
                <a:cs typeface="Courier New" panose="02070309020205020404" pitchFamily="49" charset="0"/>
              </a:rPr>
            </a:br>
            <a:r>
              <a:rPr lang="pl-PL" sz="1200" b="0" i="0" u="none" strike="noStrike" dirty="0">
                <a:solidFill>
                  <a:srgbClr val="1B1C1D"/>
                </a:solidFill>
                <a:effectLst/>
                <a:latin typeface="Courier New" panose="02070309020205020404" pitchFamily="49" charset="0"/>
                <a:cs typeface="Courier New" panose="02070309020205020404" pitchFamily="49" charset="0"/>
              </a:rPr>
              <a:t>├── </a:t>
            </a:r>
            <a:r>
              <a:rPr lang="pl-PL" sz="1200" b="0" i="0" u="none" strike="noStrike" dirty="0" err="1">
                <a:solidFill>
                  <a:srgbClr val="1B1C1D"/>
                </a:solidFill>
                <a:effectLst/>
                <a:latin typeface="Courier New" panose="02070309020205020404" pitchFamily="49" charset="0"/>
                <a:cs typeface="Courier New" panose="02070309020205020404" pitchFamily="49" charset="0"/>
              </a:rPr>
              <a:t>transforms</a:t>
            </a:r>
            <a:r>
              <a:rPr lang="pl-PL" sz="1200" b="0" i="0" u="none" strike="noStrike" dirty="0">
                <a:solidFill>
                  <a:srgbClr val="1B1C1D"/>
                </a:solidFill>
                <a:effectLst/>
                <a:latin typeface="Courier New" panose="02070309020205020404" pitchFamily="49" charset="0"/>
                <a:cs typeface="Courier New" panose="02070309020205020404" pitchFamily="49" charset="0"/>
              </a:rPr>
              <a:t>/</a:t>
            </a:r>
            <a:br>
              <a:rPr lang="pl-PL" sz="1200" b="0" i="0" u="none" strike="noStrike" dirty="0">
                <a:solidFill>
                  <a:srgbClr val="1B1C1D"/>
                </a:solidFill>
                <a:effectLst/>
                <a:latin typeface="Courier New" panose="02070309020205020404" pitchFamily="49" charset="0"/>
                <a:cs typeface="Courier New" panose="02070309020205020404" pitchFamily="49" charset="0"/>
              </a:rPr>
            </a:br>
            <a:r>
              <a:rPr lang="pl-PL" sz="1200" b="0" i="0" u="none" strike="noStrike" dirty="0">
                <a:solidFill>
                  <a:srgbClr val="1B1C1D"/>
                </a:solidFill>
                <a:effectLst/>
                <a:latin typeface="Courier New" panose="02070309020205020404" pitchFamily="49" charset="0"/>
                <a:cs typeface="Courier New" panose="02070309020205020404" pitchFamily="49" charset="0"/>
              </a:rPr>
              <a:t>│   ├── __init__.py</a:t>
            </a:r>
            <a:br>
              <a:rPr lang="pl-PL" sz="1200" b="0" i="0" u="none" strike="noStrike" dirty="0">
                <a:solidFill>
                  <a:srgbClr val="1B1C1D"/>
                </a:solidFill>
                <a:effectLst/>
                <a:latin typeface="Courier New" panose="02070309020205020404" pitchFamily="49" charset="0"/>
                <a:cs typeface="Courier New" panose="02070309020205020404" pitchFamily="49" charset="0"/>
              </a:rPr>
            </a:br>
            <a:r>
              <a:rPr lang="pl-PL" sz="1200" b="0" i="0" u="none" strike="noStrike" dirty="0">
                <a:solidFill>
                  <a:srgbClr val="1B1C1D"/>
                </a:solidFill>
                <a:effectLst/>
                <a:latin typeface="Courier New" panose="02070309020205020404" pitchFamily="49" charset="0"/>
                <a:cs typeface="Courier New" panose="02070309020205020404" pitchFamily="49" charset="0"/>
              </a:rPr>
              <a:t>│   ├── create_spectrogram.py</a:t>
            </a:r>
            <a:br>
              <a:rPr lang="pl-PL" sz="1200" b="0" i="0" u="none" strike="noStrike" dirty="0">
                <a:solidFill>
                  <a:srgbClr val="1B1C1D"/>
                </a:solidFill>
                <a:effectLst/>
                <a:latin typeface="Courier New" panose="02070309020205020404" pitchFamily="49" charset="0"/>
                <a:cs typeface="Courier New" panose="02070309020205020404" pitchFamily="49" charset="0"/>
              </a:rPr>
            </a:br>
            <a:r>
              <a:rPr lang="pl-PL" sz="1200" b="0" i="0" u="none" strike="noStrike" dirty="0">
                <a:solidFill>
                  <a:srgbClr val="1B1C1D"/>
                </a:solidFill>
                <a:effectLst/>
                <a:latin typeface="Courier New" panose="02070309020205020404" pitchFamily="49" charset="0"/>
                <a:cs typeface="Courier New" panose="02070309020205020404" pitchFamily="49" charset="0"/>
              </a:rPr>
              <a:t>│   ├── create_spectrogram.md</a:t>
            </a:r>
            <a:br>
              <a:rPr lang="pl-PL" sz="1200" b="0" i="0" u="none" strike="noStrike" dirty="0">
                <a:solidFill>
                  <a:srgbClr val="1B1C1D"/>
                </a:solidFill>
                <a:effectLst/>
                <a:latin typeface="Courier New" panose="02070309020205020404" pitchFamily="49" charset="0"/>
                <a:cs typeface="Courier New" panose="02070309020205020404" pitchFamily="49" charset="0"/>
              </a:rPr>
            </a:br>
            <a:r>
              <a:rPr lang="pl-PL" sz="1200" b="0" i="0" u="none" strike="noStrike" dirty="0">
                <a:solidFill>
                  <a:srgbClr val="1B1C1D"/>
                </a:solidFill>
                <a:effectLst/>
                <a:latin typeface="Courier New" panose="02070309020205020404" pitchFamily="49" charset="0"/>
                <a:cs typeface="Courier New" panose="02070309020205020404" pitchFamily="49" charset="0"/>
              </a:rPr>
              <a:t>│   ├── create_fft_spectrum.py</a:t>
            </a:r>
            <a:br>
              <a:rPr lang="pl-PL" sz="1200" b="0" i="0" u="none" strike="noStrike" dirty="0">
                <a:solidFill>
                  <a:srgbClr val="1B1C1D"/>
                </a:solidFill>
                <a:effectLst/>
                <a:latin typeface="Courier New" panose="02070309020205020404" pitchFamily="49" charset="0"/>
                <a:cs typeface="Courier New" panose="02070309020205020404" pitchFamily="49" charset="0"/>
              </a:rPr>
            </a:br>
            <a:r>
              <a:rPr lang="pl-PL" sz="1200" b="0" i="0" u="none" strike="noStrike" dirty="0">
                <a:solidFill>
                  <a:srgbClr val="1B1C1D"/>
                </a:solidFill>
                <a:effectLst/>
                <a:latin typeface="Courier New" panose="02070309020205020404" pitchFamily="49" charset="0"/>
                <a:cs typeface="Courier New" panose="02070309020205020404" pitchFamily="49" charset="0"/>
              </a:rPr>
              <a:t>│   └── create_fft_spectrum.md</a:t>
            </a:r>
            <a:br>
              <a:rPr lang="pl-PL" sz="1200" b="0" i="0" u="none" strike="noStrike" dirty="0">
                <a:solidFill>
                  <a:srgbClr val="1B1C1D"/>
                </a:solidFill>
                <a:effectLst/>
                <a:latin typeface="Courier New" panose="02070309020205020404" pitchFamily="49" charset="0"/>
                <a:cs typeface="Courier New" panose="02070309020205020404" pitchFamily="49" charset="0"/>
              </a:rPr>
            </a:br>
            <a:r>
              <a:rPr lang="pl-PL" sz="1200" b="0" i="0" u="none" strike="noStrike" dirty="0">
                <a:solidFill>
                  <a:srgbClr val="1B1C1D"/>
                </a:solidFill>
                <a:effectLst/>
                <a:latin typeface="Courier New" panose="02070309020205020404" pitchFamily="49" charset="0"/>
                <a:cs typeface="Courier New" panose="02070309020205020404" pitchFamily="49" charset="0"/>
              </a:rPr>
              <a:t>│</a:t>
            </a:r>
            <a:br>
              <a:rPr lang="pl-PL" sz="1200" b="0" i="0" u="none" strike="noStrike" dirty="0">
                <a:solidFill>
                  <a:srgbClr val="1B1C1D"/>
                </a:solidFill>
                <a:effectLst/>
                <a:latin typeface="Courier New" panose="02070309020205020404" pitchFamily="49" charset="0"/>
                <a:cs typeface="Courier New" panose="02070309020205020404" pitchFamily="49" charset="0"/>
              </a:rPr>
            </a:br>
            <a:r>
              <a:rPr lang="pl-PL" sz="1200" b="0" i="0" u="none" strike="noStrike" dirty="0">
                <a:solidFill>
                  <a:srgbClr val="1B1C1D"/>
                </a:solidFill>
                <a:effectLst/>
                <a:latin typeface="Courier New" panose="02070309020205020404" pitchFamily="49" charset="0"/>
                <a:cs typeface="Courier New" panose="02070309020205020404" pitchFamily="49" charset="0"/>
              </a:rPr>
              <a:t>├── </a:t>
            </a:r>
            <a:r>
              <a:rPr lang="pl-PL" sz="1200" b="0" i="0" u="none" strike="noStrike" dirty="0" err="1">
                <a:solidFill>
                  <a:srgbClr val="1B1C1D"/>
                </a:solidFill>
                <a:effectLst/>
                <a:latin typeface="Courier New" panose="02070309020205020404" pitchFamily="49" charset="0"/>
                <a:cs typeface="Courier New" panose="02070309020205020404" pitchFamily="49" charset="0"/>
              </a:rPr>
              <a:t>sigproc</a:t>
            </a:r>
            <a:r>
              <a:rPr lang="pl-PL" sz="1200" b="0" i="0" u="none" strike="noStrike" dirty="0">
                <a:solidFill>
                  <a:srgbClr val="1B1C1D"/>
                </a:solidFill>
                <a:effectLst/>
                <a:latin typeface="Courier New" panose="02070309020205020404" pitchFamily="49" charset="0"/>
                <a:cs typeface="Courier New" panose="02070309020205020404" pitchFamily="49" charset="0"/>
              </a:rPr>
              <a:t>/</a:t>
            </a:r>
            <a:br>
              <a:rPr lang="pl-PL" sz="1200" b="0" i="0" u="none" strike="noStrike" dirty="0">
                <a:solidFill>
                  <a:srgbClr val="1B1C1D"/>
                </a:solidFill>
                <a:effectLst/>
                <a:latin typeface="Courier New" panose="02070309020205020404" pitchFamily="49" charset="0"/>
                <a:cs typeface="Courier New" panose="02070309020205020404" pitchFamily="49" charset="0"/>
              </a:rPr>
            </a:br>
            <a:r>
              <a:rPr lang="pl-PL" sz="1200" b="0" i="0" u="none" strike="noStrike" dirty="0">
                <a:solidFill>
                  <a:srgbClr val="1B1C1D"/>
                </a:solidFill>
                <a:effectLst/>
                <a:latin typeface="Courier New" panose="02070309020205020404" pitchFamily="49" charset="0"/>
                <a:cs typeface="Courier New" panose="02070309020205020404" pitchFamily="49" charset="0"/>
              </a:rPr>
              <a:t>│   ├── __init__.py</a:t>
            </a:r>
            <a:br>
              <a:rPr lang="pl-PL" sz="1200" b="0" i="0" u="none" strike="noStrike" dirty="0">
                <a:solidFill>
                  <a:srgbClr val="1B1C1D"/>
                </a:solidFill>
                <a:effectLst/>
                <a:latin typeface="Courier New" panose="02070309020205020404" pitchFamily="49" charset="0"/>
                <a:cs typeface="Courier New" panose="02070309020205020404" pitchFamily="49" charset="0"/>
              </a:rPr>
            </a:br>
            <a:r>
              <a:rPr lang="pl-PL" sz="1200" b="0" i="0" u="none" strike="noStrike" dirty="0">
                <a:solidFill>
                  <a:srgbClr val="1B1C1D"/>
                </a:solidFill>
                <a:effectLst/>
                <a:latin typeface="Courier New" panose="02070309020205020404" pitchFamily="49" charset="0"/>
                <a:cs typeface="Courier New" panose="02070309020205020404" pitchFamily="49" charset="0"/>
              </a:rPr>
              <a:t>│   ├── lowpass_filter.py</a:t>
            </a:r>
            <a:br>
              <a:rPr lang="pl-PL" sz="1200" b="0" i="0" u="none" strike="noStrike" dirty="0">
                <a:solidFill>
                  <a:srgbClr val="1B1C1D"/>
                </a:solidFill>
                <a:effectLst/>
                <a:latin typeface="Courier New" panose="02070309020205020404" pitchFamily="49" charset="0"/>
                <a:cs typeface="Courier New" panose="02070309020205020404" pitchFamily="49" charset="0"/>
              </a:rPr>
            </a:br>
            <a:r>
              <a:rPr lang="pl-PL" sz="1200" b="0" i="0" u="none" strike="noStrike" dirty="0">
                <a:solidFill>
                  <a:srgbClr val="1B1C1D"/>
                </a:solidFill>
                <a:effectLst/>
                <a:latin typeface="Courier New" panose="02070309020205020404" pitchFamily="49" charset="0"/>
                <a:cs typeface="Courier New" panose="02070309020205020404" pitchFamily="49" charset="0"/>
              </a:rPr>
              <a:t>│   ├── lowpass_filter.md</a:t>
            </a:r>
          </a:p>
          <a:p>
            <a:r>
              <a:rPr lang="pl-PL" sz="1200" b="0" i="0" u="none" strike="noStrike" dirty="0">
                <a:solidFill>
                  <a:srgbClr val="1B1C1D"/>
                </a:solidFill>
                <a:effectLst/>
                <a:latin typeface="Courier New" panose="02070309020205020404" pitchFamily="49" charset="0"/>
                <a:cs typeface="Courier New" panose="02070309020205020404" pitchFamily="49" charset="0"/>
              </a:rPr>
              <a:t>│   ├── highpass_filter.py</a:t>
            </a:r>
            <a:br>
              <a:rPr lang="pl-PL" sz="1200" b="0" i="0" u="none" strike="noStrike" dirty="0">
                <a:solidFill>
                  <a:srgbClr val="1B1C1D"/>
                </a:solidFill>
                <a:effectLst/>
                <a:latin typeface="Courier New" panose="02070309020205020404" pitchFamily="49" charset="0"/>
                <a:cs typeface="Courier New" panose="02070309020205020404" pitchFamily="49" charset="0"/>
              </a:rPr>
            </a:br>
            <a:r>
              <a:rPr lang="pl-PL" sz="1200" b="0" i="0" u="none" strike="noStrike" dirty="0">
                <a:solidFill>
                  <a:srgbClr val="1B1C1D"/>
                </a:solidFill>
                <a:effectLst/>
                <a:latin typeface="Courier New" panose="02070309020205020404" pitchFamily="49" charset="0"/>
                <a:cs typeface="Courier New" panose="02070309020205020404" pitchFamily="49" charset="0"/>
              </a:rPr>
              <a:t>│   ├── highpass_filter.md</a:t>
            </a:r>
            <a:br>
              <a:rPr lang="pl-PL" sz="1200" b="0" i="0" u="none" strike="noStrike" dirty="0">
                <a:solidFill>
                  <a:srgbClr val="1B1C1D"/>
                </a:solidFill>
                <a:effectLst/>
                <a:latin typeface="Courier New" panose="02070309020205020404" pitchFamily="49" charset="0"/>
                <a:cs typeface="Courier New" panose="02070309020205020404" pitchFamily="49" charset="0"/>
              </a:rPr>
            </a:br>
            <a:r>
              <a:rPr lang="pl-PL" sz="1200" b="0" i="0" u="none" strike="noStrike" dirty="0">
                <a:solidFill>
                  <a:srgbClr val="1B1C1D"/>
                </a:solidFill>
                <a:effectLst/>
                <a:latin typeface="Courier New" panose="02070309020205020404" pitchFamily="49" charset="0"/>
                <a:cs typeface="Courier New" panose="02070309020205020404" pitchFamily="49" charset="0"/>
              </a:rPr>
              <a:t>│   ├── bandpass_filter.py</a:t>
            </a:r>
            <a:br>
              <a:rPr lang="pl-PL" sz="1200" b="0" i="0" u="none" strike="noStrike" dirty="0">
                <a:solidFill>
                  <a:srgbClr val="1B1C1D"/>
                </a:solidFill>
                <a:effectLst/>
                <a:latin typeface="Courier New" panose="02070309020205020404" pitchFamily="49" charset="0"/>
                <a:cs typeface="Courier New" panose="02070309020205020404" pitchFamily="49" charset="0"/>
              </a:rPr>
            </a:br>
            <a:r>
              <a:rPr lang="pl-PL" sz="1200" b="0" i="0" u="none" strike="noStrike" dirty="0">
                <a:solidFill>
                  <a:srgbClr val="1B1C1D"/>
                </a:solidFill>
                <a:effectLst/>
                <a:latin typeface="Courier New" panose="02070309020205020404" pitchFamily="49" charset="0"/>
                <a:cs typeface="Courier New" panose="02070309020205020404" pitchFamily="49" charset="0"/>
              </a:rPr>
              <a:t>│   └── bandpass_filter.md</a:t>
            </a:r>
            <a:br>
              <a:rPr lang="pl-PL" sz="1200" b="0" i="0" u="none" strike="noStrike" dirty="0">
                <a:solidFill>
                  <a:srgbClr val="1B1C1D"/>
                </a:solidFill>
                <a:effectLst/>
                <a:latin typeface="Courier New" panose="02070309020205020404" pitchFamily="49" charset="0"/>
                <a:cs typeface="Courier New" panose="02070309020205020404" pitchFamily="49" charset="0"/>
              </a:rPr>
            </a:br>
            <a:r>
              <a:rPr lang="pl-PL" sz="1200" b="0" i="0" u="none" strike="noStrike" dirty="0">
                <a:solidFill>
                  <a:srgbClr val="1B1C1D"/>
                </a:solidFill>
                <a:effectLst/>
                <a:latin typeface="Courier New" panose="02070309020205020404" pitchFamily="49" charset="0"/>
                <a:cs typeface="Courier New" panose="02070309020205020404" pitchFamily="49" charset="0"/>
              </a:rPr>
              <a:t>│  </a:t>
            </a:r>
            <a:br>
              <a:rPr lang="pl-PL" sz="1200" b="0" i="0" u="none" strike="noStrike" dirty="0">
                <a:solidFill>
                  <a:srgbClr val="1B1C1D"/>
                </a:solidFill>
                <a:effectLst/>
                <a:latin typeface="Courier New" panose="02070309020205020404" pitchFamily="49" charset="0"/>
                <a:cs typeface="Courier New" panose="02070309020205020404" pitchFamily="49" charset="0"/>
              </a:rPr>
            </a:br>
            <a:r>
              <a:rPr lang="pl-PL" sz="1200" b="0" i="0" u="none" strike="noStrike" dirty="0">
                <a:solidFill>
                  <a:srgbClr val="1B1C1D"/>
                </a:solidFill>
                <a:effectLst/>
                <a:latin typeface="Courier New" panose="02070309020205020404" pitchFamily="49" charset="0"/>
                <a:cs typeface="Courier New" panose="02070309020205020404" pitchFamily="49" charset="0"/>
              </a:rPr>
              <a:t>├── </a:t>
            </a:r>
            <a:r>
              <a:rPr lang="pl-PL" sz="1200" dirty="0" err="1">
                <a:solidFill>
                  <a:srgbClr val="1B1C1D"/>
                </a:solidFill>
                <a:latin typeface="Courier New" panose="02070309020205020404" pitchFamily="49" charset="0"/>
                <a:cs typeface="Courier New" panose="02070309020205020404" pitchFamily="49" charset="0"/>
              </a:rPr>
              <a:t>u</a:t>
            </a:r>
            <a:r>
              <a:rPr lang="pl-PL" sz="1200" b="0" i="0" u="none" strike="noStrike" dirty="0" err="1">
                <a:solidFill>
                  <a:srgbClr val="1B1C1D"/>
                </a:solidFill>
                <a:effectLst/>
                <a:latin typeface="Courier New" panose="02070309020205020404" pitchFamily="49" charset="0"/>
                <a:cs typeface="Courier New" panose="02070309020205020404" pitchFamily="49" charset="0"/>
              </a:rPr>
              <a:t>tils</a:t>
            </a:r>
            <a:r>
              <a:rPr lang="pl-PL" sz="1200" b="0" i="0" u="none" strike="noStrike" dirty="0">
                <a:solidFill>
                  <a:srgbClr val="1B1C1D"/>
                </a:solidFill>
                <a:effectLst/>
                <a:latin typeface="Courier New" panose="02070309020205020404" pitchFamily="49" charset="0"/>
                <a:cs typeface="Courier New" panose="02070309020205020404" pitchFamily="49" charset="0"/>
              </a:rPr>
              <a:t>/</a:t>
            </a:r>
            <a:br>
              <a:rPr lang="pl-PL" sz="1200" b="0" i="0" u="none" strike="noStrike" dirty="0">
                <a:solidFill>
                  <a:srgbClr val="1B1C1D"/>
                </a:solidFill>
                <a:effectLst/>
                <a:latin typeface="Courier New" panose="02070309020205020404" pitchFamily="49" charset="0"/>
                <a:cs typeface="Courier New" panose="02070309020205020404" pitchFamily="49" charset="0"/>
              </a:rPr>
            </a:br>
            <a:r>
              <a:rPr lang="pl-PL" sz="1200" b="0" i="0" u="none" strike="noStrike" dirty="0">
                <a:solidFill>
                  <a:srgbClr val="1B1C1D"/>
                </a:solidFill>
                <a:effectLst/>
                <a:latin typeface="Courier New" panose="02070309020205020404" pitchFamily="49" charset="0"/>
                <a:cs typeface="Courier New" panose="02070309020205020404" pitchFamily="49" charset="0"/>
              </a:rPr>
              <a:t>│   ├── __init__.py</a:t>
            </a:r>
            <a:br>
              <a:rPr lang="pl-PL" sz="1200" b="0" i="0" u="none" strike="noStrike" dirty="0">
                <a:solidFill>
                  <a:srgbClr val="1B1C1D"/>
                </a:solidFill>
                <a:effectLst/>
                <a:latin typeface="Courier New" panose="02070309020205020404" pitchFamily="49" charset="0"/>
                <a:cs typeface="Courier New" panose="02070309020205020404" pitchFamily="49" charset="0"/>
              </a:rPr>
            </a:br>
            <a:r>
              <a:rPr lang="pl-PL" sz="1200" b="0" i="0" u="none" strike="noStrike" dirty="0">
                <a:solidFill>
                  <a:srgbClr val="1B1C1D"/>
                </a:solidFill>
                <a:effectLst/>
                <a:latin typeface="Courier New" panose="02070309020205020404" pitchFamily="49" charset="0"/>
                <a:cs typeface="Courier New" panose="02070309020205020404" pitchFamily="49" charset="0"/>
              </a:rPr>
              <a:t>│   ├── smooth_data.py</a:t>
            </a:r>
          </a:p>
          <a:p>
            <a:r>
              <a:rPr lang="pl-PL" sz="1200" b="0" i="0" u="none" strike="noStrike" dirty="0">
                <a:solidFill>
                  <a:srgbClr val="1B1C1D"/>
                </a:solidFill>
                <a:effectLst/>
                <a:latin typeface="Courier New" panose="02070309020205020404" pitchFamily="49" charset="0"/>
                <a:cs typeface="Courier New" panose="02070309020205020404" pitchFamily="49" charset="0"/>
              </a:rPr>
              <a:t>│   ├── smooth_data.md</a:t>
            </a:r>
          </a:p>
          <a:p>
            <a:r>
              <a:rPr lang="pl-PL" sz="1200" b="0" i="0" u="none" strike="noStrike" dirty="0">
                <a:solidFill>
                  <a:srgbClr val="1B1C1D"/>
                </a:solidFill>
                <a:effectLst/>
                <a:latin typeface="Courier New" panose="02070309020205020404" pitchFamily="49" charset="0"/>
                <a:cs typeface="Courier New" panose="02070309020205020404" pitchFamily="49" charset="0"/>
              </a:rPr>
              <a:t>│   ├── findpeaks.py</a:t>
            </a:r>
          </a:p>
          <a:p>
            <a:r>
              <a:rPr lang="pl-PL" sz="1200" b="0" i="0" u="none" strike="noStrike" dirty="0">
                <a:solidFill>
                  <a:srgbClr val="1B1C1D"/>
                </a:solidFill>
                <a:effectLst/>
                <a:latin typeface="Courier New" panose="02070309020205020404" pitchFamily="49" charset="0"/>
                <a:cs typeface="Courier New" panose="02070309020205020404" pitchFamily="49" charset="0"/>
              </a:rPr>
              <a:t>│   ├── findpeaks.md</a:t>
            </a:r>
            <a:endParaRPr lang="pl-PL" sz="1200" dirty="0">
              <a:solidFill>
                <a:srgbClr val="1B1C1D"/>
              </a:solidFill>
              <a:latin typeface="Courier New" panose="02070309020205020404" pitchFamily="49" charset="0"/>
              <a:cs typeface="Courier New" panose="02070309020205020404" pitchFamily="49" charset="0"/>
            </a:endParaRPr>
          </a:p>
          <a:p>
            <a:r>
              <a:rPr lang="pl-PL" sz="1200" b="0" i="0" u="none" strike="noStrike" dirty="0">
                <a:solidFill>
                  <a:srgbClr val="1B1C1D"/>
                </a:solidFill>
                <a:effectLst/>
                <a:latin typeface="Courier New" panose="02070309020205020404" pitchFamily="49" charset="0"/>
                <a:cs typeface="Courier New" panose="02070309020205020404" pitchFamily="49" charset="0"/>
              </a:rPr>
              <a:t>│   ├── sigmoid.py</a:t>
            </a:r>
            <a:br>
              <a:rPr lang="pl-PL" sz="1200" b="0" i="0" u="none" strike="noStrike" dirty="0">
                <a:solidFill>
                  <a:srgbClr val="1B1C1D"/>
                </a:solidFill>
                <a:effectLst/>
                <a:latin typeface="Courier New" panose="02070309020205020404" pitchFamily="49" charset="0"/>
                <a:cs typeface="Courier New" panose="02070309020205020404" pitchFamily="49" charset="0"/>
              </a:rPr>
            </a:br>
            <a:r>
              <a:rPr lang="pl-PL" sz="1200" b="0" i="0" u="none" strike="noStrike" dirty="0">
                <a:solidFill>
                  <a:srgbClr val="1B1C1D"/>
                </a:solidFill>
                <a:effectLst/>
                <a:latin typeface="Courier New" panose="02070309020205020404" pitchFamily="49" charset="0"/>
                <a:cs typeface="Courier New" panose="02070309020205020404" pitchFamily="49" charset="0"/>
              </a:rPr>
              <a:t>│   └── sigmoid.md</a:t>
            </a:r>
            <a:br>
              <a:rPr lang="pl-PL" sz="1200" b="0" i="0" u="none" strike="noStrike" dirty="0">
                <a:solidFill>
                  <a:srgbClr val="1B1C1D"/>
                </a:solidFill>
                <a:effectLst/>
                <a:latin typeface="Courier New" panose="02070309020205020404" pitchFamily="49" charset="0"/>
                <a:cs typeface="Courier New" panose="02070309020205020404" pitchFamily="49" charset="0"/>
              </a:rPr>
            </a:br>
            <a:r>
              <a:rPr lang="pl-PL" sz="1200" b="0" i="0" u="none" strike="noStrike" dirty="0">
                <a:solidFill>
                  <a:srgbClr val="1B1C1D"/>
                </a:solidFill>
                <a:effectLst/>
                <a:latin typeface="Courier New" panose="02070309020205020404" pitchFamily="49" charset="0"/>
                <a:cs typeface="Courier New" panose="02070309020205020404" pitchFamily="49" charset="0"/>
              </a:rPr>
              <a:t>│</a:t>
            </a:r>
            <a:br>
              <a:rPr lang="pl-PL" sz="1200" b="0" i="0" u="none" strike="noStrike" dirty="0">
                <a:solidFill>
                  <a:srgbClr val="1B1C1D"/>
                </a:solidFill>
                <a:effectLst/>
                <a:latin typeface="Courier New" panose="02070309020205020404" pitchFamily="49" charset="0"/>
                <a:cs typeface="Courier New" panose="02070309020205020404" pitchFamily="49" charset="0"/>
              </a:rPr>
            </a:br>
            <a:r>
              <a:rPr lang="pl-PL" sz="1200" b="0" i="0" u="none" strike="noStrike" dirty="0">
                <a:solidFill>
                  <a:srgbClr val="1B1C1D"/>
                </a:solidFill>
                <a:effectLst/>
                <a:latin typeface="Courier New" panose="02070309020205020404" pitchFamily="49" charset="0"/>
                <a:cs typeface="Courier New" panose="02070309020205020404" pitchFamily="49" charset="0"/>
              </a:rPr>
              <a:t>└── </a:t>
            </a:r>
            <a:r>
              <a:rPr lang="pl-PL" sz="1200" b="0" i="0" u="none" strike="noStrike" dirty="0" err="1">
                <a:solidFill>
                  <a:srgbClr val="1B1C1D"/>
                </a:solidFill>
                <a:effectLst/>
                <a:latin typeface="Courier New" panose="02070309020205020404" pitchFamily="49" charset="0"/>
                <a:cs typeface="Courier New" panose="02070309020205020404" pitchFamily="49" charset="0"/>
              </a:rPr>
              <a:t>decomposition</a:t>
            </a:r>
            <a:r>
              <a:rPr lang="pl-PL" sz="1200" b="0" i="0" u="none" strike="noStrike" dirty="0">
                <a:solidFill>
                  <a:srgbClr val="1B1C1D"/>
                </a:solidFill>
                <a:effectLst/>
                <a:latin typeface="Courier New" panose="02070309020205020404" pitchFamily="49" charset="0"/>
                <a:cs typeface="Courier New" panose="02070309020205020404" pitchFamily="49" charset="0"/>
              </a:rPr>
              <a:t>/</a:t>
            </a:r>
            <a:br>
              <a:rPr lang="pl-PL" sz="1200" b="0" i="0" u="none" strike="noStrike" dirty="0">
                <a:solidFill>
                  <a:srgbClr val="1B1C1D"/>
                </a:solidFill>
                <a:effectLst/>
                <a:latin typeface="Courier New" panose="02070309020205020404" pitchFamily="49" charset="0"/>
                <a:cs typeface="Courier New" panose="02070309020205020404" pitchFamily="49" charset="0"/>
              </a:rPr>
            </a:br>
            <a:r>
              <a:rPr lang="pl-PL" sz="1200" b="0" i="0" u="none" strike="noStrike" dirty="0">
                <a:solidFill>
                  <a:srgbClr val="1B1C1D"/>
                </a:solidFill>
                <a:effectLst/>
                <a:latin typeface="Courier New" panose="02070309020205020404" pitchFamily="49" charset="0"/>
                <a:cs typeface="Courier New" panose="02070309020205020404" pitchFamily="49" charset="0"/>
              </a:rPr>
              <a:t>    ├── __init__.py</a:t>
            </a:r>
          </a:p>
          <a:p>
            <a:r>
              <a:rPr lang="pl-PL" sz="1200" b="0" i="0" u="none" strike="noStrike" dirty="0">
                <a:solidFill>
                  <a:srgbClr val="1B1C1D"/>
                </a:solidFill>
                <a:effectLst/>
                <a:latin typeface="Courier New" panose="02070309020205020404" pitchFamily="49" charset="0"/>
                <a:cs typeface="Courier New" panose="02070309020205020404" pitchFamily="49" charset="0"/>
              </a:rPr>
              <a:t>    ├── pca_decomposition.py</a:t>
            </a:r>
            <a:br>
              <a:rPr lang="pl-PL" sz="1200" b="0" i="0" u="none" strike="noStrike" dirty="0">
                <a:solidFill>
                  <a:srgbClr val="1B1C1D"/>
                </a:solidFill>
                <a:effectLst/>
                <a:latin typeface="Courier New" panose="02070309020205020404" pitchFamily="49" charset="0"/>
                <a:cs typeface="Courier New" panose="02070309020205020404" pitchFamily="49" charset="0"/>
              </a:rPr>
            </a:br>
            <a:r>
              <a:rPr lang="pl-PL" sz="1200" b="0" i="0" u="none" strike="noStrike" dirty="0">
                <a:solidFill>
                  <a:srgbClr val="1B1C1D"/>
                </a:solidFill>
                <a:effectLst/>
                <a:latin typeface="Courier New" panose="02070309020205020404" pitchFamily="49" charset="0"/>
                <a:cs typeface="Courier New" panose="02070309020205020404" pitchFamily="49" charset="0"/>
              </a:rPr>
              <a:t>    ├── pca_decomposition.md</a:t>
            </a:r>
            <a:br>
              <a:rPr lang="pl-PL" sz="1200" b="0" i="0" u="none" strike="noStrike" dirty="0">
                <a:solidFill>
                  <a:srgbClr val="1B1C1D"/>
                </a:solidFill>
                <a:effectLst/>
                <a:latin typeface="Courier New" panose="02070309020205020404" pitchFamily="49" charset="0"/>
                <a:cs typeface="Courier New" panose="02070309020205020404" pitchFamily="49" charset="0"/>
              </a:rPr>
            </a:br>
            <a:r>
              <a:rPr lang="pl-PL" sz="1200" b="0" i="0" u="none" strike="noStrike" dirty="0">
                <a:solidFill>
                  <a:srgbClr val="1B1C1D"/>
                </a:solidFill>
                <a:effectLst/>
                <a:latin typeface="Courier New" panose="02070309020205020404" pitchFamily="49" charset="0"/>
                <a:cs typeface="Courier New" panose="02070309020205020404" pitchFamily="49" charset="0"/>
              </a:rPr>
              <a:t>    ├── nmf_decomposition.py</a:t>
            </a:r>
            <a:br>
              <a:rPr lang="pl-PL" sz="1200" b="0" i="0" u="none" strike="noStrike" dirty="0">
                <a:solidFill>
                  <a:srgbClr val="1B1C1D"/>
                </a:solidFill>
                <a:effectLst/>
                <a:latin typeface="Courier New" panose="02070309020205020404" pitchFamily="49" charset="0"/>
                <a:cs typeface="Courier New" panose="02070309020205020404" pitchFamily="49" charset="0"/>
              </a:rPr>
            </a:br>
            <a:r>
              <a:rPr lang="pl-PL" sz="1200" b="0" i="0" u="none" strike="noStrike" dirty="0">
                <a:solidFill>
                  <a:srgbClr val="1B1C1D"/>
                </a:solidFill>
                <a:effectLst/>
                <a:latin typeface="Courier New" panose="02070309020205020404" pitchFamily="49" charset="0"/>
                <a:cs typeface="Courier New" panose="02070309020205020404" pitchFamily="49" charset="0"/>
              </a:rPr>
              <a:t>    └── nmf_decomposition.md</a:t>
            </a:r>
            <a:br>
              <a:rPr lang="pl-PL" sz="1200" b="0" i="0" u="none" strike="noStrike" dirty="0">
                <a:solidFill>
                  <a:srgbClr val="1B1C1D"/>
                </a:solidFill>
                <a:effectLst/>
                <a:latin typeface="Courier New" panose="02070309020205020404" pitchFamily="49" charset="0"/>
                <a:cs typeface="Courier New" panose="02070309020205020404" pitchFamily="49" charset="0"/>
              </a:rPr>
            </a:br>
            <a:r>
              <a:rPr lang="pl-PL" sz="1200" b="0" i="0" u="none" strike="noStrike" dirty="0">
                <a:solidFill>
                  <a:srgbClr val="1B1C1D"/>
                </a:solidFill>
                <a:effectLst/>
                <a:latin typeface="Courier New" panose="02070309020205020404" pitchFamily="49" charset="0"/>
                <a:cs typeface="Courier New" panose="02070309020205020404" pitchFamily="49" charset="0"/>
              </a:rPr>
              <a:t>   </a:t>
            </a:r>
            <a:endParaRPr lang="en-US" sz="1200" b="1" dirty="0">
              <a:effectLst/>
            </a:endParaRPr>
          </a:p>
        </p:txBody>
      </p:sp>
    </p:spTree>
    <p:extLst>
      <p:ext uri="{BB962C8B-B14F-4D97-AF65-F5344CB8AC3E}">
        <p14:creationId xmlns:p14="http://schemas.microsoft.com/office/powerpoint/2010/main" val="30237038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ole tekstowe 4">
            <a:extLst>
              <a:ext uri="{FF2B5EF4-FFF2-40B4-BE49-F238E27FC236}">
                <a16:creationId xmlns:a16="http://schemas.microsoft.com/office/drawing/2014/main" id="{B3C834C9-D5E7-46C8-96BE-331BB8260282}"/>
              </a:ext>
            </a:extLst>
          </p:cNvPr>
          <p:cNvSpPr txBox="1"/>
          <p:nvPr/>
        </p:nvSpPr>
        <p:spPr>
          <a:xfrm>
            <a:off x="68365" y="71527"/>
            <a:ext cx="11846544" cy="6309420"/>
          </a:xfrm>
          <a:prstGeom prst="rect">
            <a:avLst/>
          </a:prstGeom>
          <a:noFill/>
        </p:spPr>
        <p:txBody>
          <a:bodyPr wrap="square">
            <a:spAutoFit/>
          </a:bodyPr>
          <a:lstStyle/>
          <a:p>
            <a:pPr rtl="0">
              <a:spcBef>
                <a:spcPts val="600"/>
              </a:spcBef>
              <a:spcAft>
                <a:spcPts val="600"/>
              </a:spcAft>
            </a:pPr>
            <a:r>
              <a:rPr lang="pl-PL" sz="2800" b="1" i="0" strike="noStrike" dirty="0">
                <a:solidFill>
                  <a:srgbClr val="1B1C1D"/>
                </a:solidFill>
                <a:effectLst/>
                <a:latin typeface="Google Sans"/>
              </a:rPr>
              <a:t>11</a:t>
            </a:r>
            <a:r>
              <a:rPr lang="en-US" sz="2800" b="1" i="0" strike="noStrike" dirty="0">
                <a:solidFill>
                  <a:srgbClr val="1B1C1D"/>
                </a:solidFill>
                <a:effectLst/>
                <a:latin typeface="Google Sans"/>
              </a:rPr>
              <a:t>. </a:t>
            </a:r>
            <a:r>
              <a:rPr lang="pl-PL" sz="2800" b="1" i="0" strike="noStrike" dirty="0" err="1">
                <a:solidFill>
                  <a:srgbClr val="1B1C1D"/>
                </a:solidFill>
                <a:effectLst/>
                <a:latin typeface="Google Sans"/>
              </a:rPr>
              <a:t>Tool</a:t>
            </a:r>
            <a:r>
              <a:rPr lang="pl-PL" sz="2800" b="1" i="0" strike="noStrike" dirty="0">
                <a:solidFill>
                  <a:srgbClr val="1B1C1D"/>
                </a:solidFill>
                <a:effectLst/>
                <a:latin typeface="Google Sans"/>
              </a:rPr>
              <a:t> </a:t>
            </a:r>
            <a:r>
              <a:rPr lang="pl-PL" sz="2800" b="1" i="0" strike="noStrike" dirty="0" err="1">
                <a:solidFill>
                  <a:srgbClr val="1B1C1D"/>
                </a:solidFill>
                <a:effectLst/>
                <a:latin typeface="Google Sans"/>
              </a:rPr>
              <a:t>package</a:t>
            </a:r>
            <a:r>
              <a:rPr lang="pl-PL" sz="2800" b="1" i="0" strike="noStrike" dirty="0">
                <a:solidFill>
                  <a:srgbClr val="1B1C1D"/>
                </a:solidFill>
                <a:effectLst/>
                <a:latin typeface="Google Sans"/>
              </a:rPr>
              <a:t> </a:t>
            </a:r>
            <a:r>
              <a:rPr lang="pl-PL" sz="2800" b="1" i="0" strike="noStrike" dirty="0" err="1">
                <a:solidFill>
                  <a:srgbClr val="1B1C1D"/>
                </a:solidFill>
                <a:effectLst/>
                <a:latin typeface="Google Sans"/>
              </a:rPr>
              <a:t>structure</a:t>
            </a:r>
            <a:endParaRPr lang="en-US" sz="2800" b="1" dirty="0">
              <a:effectLst/>
            </a:endParaRPr>
          </a:p>
          <a:p>
            <a:pPr rtl="0">
              <a:spcBef>
                <a:spcPts val="0"/>
              </a:spcBef>
              <a:spcAft>
                <a:spcPts val="600"/>
              </a:spcAft>
            </a:pPr>
            <a:r>
              <a:rPr lang="en-US" sz="1800" b="1" i="0" u="sng" strike="noStrike" dirty="0">
                <a:solidFill>
                  <a:srgbClr val="1B1C1D"/>
                </a:solidFill>
                <a:effectLst/>
                <a:latin typeface="Google Sans"/>
              </a:rPr>
              <a:t>The Role of __init__.py</a:t>
            </a:r>
            <a:endParaRPr lang="en-US" sz="1200" b="1" u="sng" dirty="0">
              <a:effectLst/>
            </a:endParaRPr>
          </a:p>
          <a:p>
            <a:pPr rtl="0">
              <a:spcBef>
                <a:spcPts val="0"/>
              </a:spcBef>
              <a:spcAft>
                <a:spcPts val="1200"/>
              </a:spcAft>
            </a:pPr>
            <a:br>
              <a:rPr lang="en-US" sz="1200" b="0" dirty="0">
                <a:effectLst/>
              </a:rPr>
            </a:br>
            <a:r>
              <a:rPr lang="en-US" sz="1800" b="0" i="0" u="none" strike="noStrike" dirty="0">
                <a:solidFill>
                  <a:srgbClr val="1B1C1D"/>
                </a:solidFill>
                <a:effectLst/>
                <a:latin typeface="Google Sans Text"/>
              </a:rPr>
              <a:t>The </a:t>
            </a:r>
            <a:r>
              <a:rPr lang="en-US" sz="1800" b="0" i="0" u="none" strike="noStrike" dirty="0">
                <a:solidFill>
                  <a:srgbClr val="1B1C1D"/>
                </a:solidFill>
                <a:effectLst/>
                <a:latin typeface="Courier New" panose="02070309020205020404" pitchFamily="49" charset="0"/>
                <a:cs typeface="Courier New" panose="02070309020205020404" pitchFamily="49" charset="0"/>
              </a:rPr>
              <a:t>__init__.py </a:t>
            </a:r>
            <a:r>
              <a:rPr lang="en-US" sz="1800" b="0" i="0" u="none" strike="noStrike" dirty="0">
                <a:solidFill>
                  <a:srgbClr val="1B1C1D"/>
                </a:solidFill>
                <a:effectLst/>
                <a:latin typeface="Google Sans Text"/>
              </a:rPr>
              <a:t>files are what make this structure so powerful. They allow you to control how the tools are imported. </a:t>
            </a:r>
            <a:r>
              <a:rPr lang="pl-PL" sz="1800" b="0" i="0" u="none" strike="noStrike" dirty="0">
                <a:solidFill>
                  <a:srgbClr val="1B1C1D"/>
                </a:solidFill>
                <a:effectLst/>
                <a:latin typeface="Google Sans Text"/>
              </a:rPr>
              <a:t>I</a:t>
            </a:r>
            <a:r>
              <a:rPr lang="en-US" sz="1800" b="0" i="0" u="none" strike="noStrike" dirty="0">
                <a:solidFill>
                  <a:srgbClr val="1B1C1D"/>
                </a:solidFill>
                <a:effectLst/>
                <a:latin typeface="Google Sans Text"/>
              </a:rPr>
              <a:t> can use the main </a:t>
            </a:r>
            <a:r>
              <a:rPr lang="en-US" sz="1800" b="0" i="0" u="none" strike="noStrike" dirty="0">
                <a:solidFill>
                  <a:srgbClr val="1B1C1D"/>
                </a:solidFill>
                <a:effectLst/>
                <a:latin typeface="Courier New" panose="02070309020205020404" pitchFamily="49" charset="0"/>
                <a:cs typeface="Courier New" panose="02070309020205020404" pitchFamily="49" charset="0"/>
              </a:rPr>
              <a:t>tools/__init__.py </a:t>
            </a:r>
            <a:r>
              <a:rPr lang="en-US" sz="1800" b="0" i="0" u="none" strike="noStrike" dirty="0">
                <a:solidFill>
                  <a:srgbClr val="1B1C1D"/>
                </a:solidFill>
                <a:effectLst/>
                <a:latin typeface="Google Sans Text"/>
              </a:rPr>
              <a:t>file to import all the individual tool functions from the subfolders and present them as a single, flat API.</a:t>
            </a:r>
            <a:endParaRPr lang="en-US" sz="1200" b="0" dirty="0">
              <a:effectLst/>
            </a:endParaRPr>
          </a:p>
          <a:p>
            <a:pPr rtl="0">
              <a:spcBef>
                <a:spcPts val="0"/>
              </a:spcBef>
              <a:spcAft>
                <a:spcPts val="1200"/>
              </a:spcAft>
            </a:pPr>
            <a:r>
              <a:rPr lang="en-US" sz="1800" b="0" i="0" u="none" strike="noStrike" dirty="0">
                <a:solidFill>
                  <a:srgbClr val="1B1C1D"/>
                </a:solidFill>
                <a:effectLst/>
                <a:latin typeface="Google Sans Text"/>
              </a:rPr>
              <a:t>For example, inside </a:t>
            </a:r>
            <a:r>
              <a:rPr lang="en-US" sz="1800" b="0" i="0" u="none" strike="noStrike" dirty="0">
                <a:solidFill>
                  <a:srgbClr val="1B1C1D"/>
                </a:solidFill>
                <a:effectLst/>
                <a:latin typeface="Courier New" panose="02070309020205020404" pitchFamily="49" charset="0"/>
                <a:cs typeface="Courier New" panose="02070309020205020404" pitchFamily="49" charset="0"/>
              </a:rPr>
              <a:t>tools/__init__.py</a:t>
            </a:r>
            <a:r>
              <a:rPr lang="en-US" sz="1800" b="0" i="0" u="none" strike="noStrike" dirty="0">
                <a:solidFill>
                  <a:srgbClr val="1B1C1D"/>
                </a:solidFill>
                <a:effectLst/>
                <a:latin typeface="Google Sans Text"/>
              </a:rPr>
              <a:t>, </a:t>
            </a:r>
            <a:r>
              <a:rPr lang="pl-PL" sz="1800" b="0" i="0" u="none" strike="noStrike" dirty="0">
                <a:solidFill>
                  <a:srgbClr val="1B1C1D"/>
                </a:solidFill>
                <a:effectLst/>
                <a:latin typeface="Google Sans Text"/>
              </a:rPr>
              <a:t>I</a:t>
            </a:r>
            <a:r>
              <a:rPr lang="en-US" sz="1800" b="0" i="0" u="none" strike="noStrike" dirty="0">
                <a:solidFill>
                  <a:srgbClr val="1B1C1D"/>
                </a:solidFill>
                <a:effectLst/>
                <a:latin typeface="Google Sans Text"/>
              </a:rPr>
              <a:t> could have:</a:t>
            </a:r>
            <a:endParaRPr lang="en-US" sz="1200" b="0" dirty="0">
              <a:effectLst/>
            </a:endParaRPr>
          </a:p>
          <a:p>
            <a:br>
              <a:rPr lang="en-US" sz="1200" dirty="0"/>
            </a:br>
            <a:r>
              <a:rPr lang="pl-PL" sz="1800" b="0" i="0" u="none" strike="noStrike" dirty="0">
                <a:solidFill>
                  <a:srgbClr val="5F6368"/>
                </a:solidFill>
                <a:effectLst/>
                <a:latin typeface="Courier New" panose="02070309020205020404" pitchFamily="49" charset="0"/>
                <a:cs typeface="Courier New" panose="02070309020205020404" pitchFamily="49" charset="0"/>
              </a:rPr>
              <a:t># tools/__init__.py</a:t>
            </a:r>
            <a:br>
              <a:rPr lang="pl-PL" sz="1800" b="0" i="0" u="none" strike="noStrike" dirty="0">
                <a:solidFill>
                  <a:srgbClr val="1B1C1D"/>
                </a:solidFill>
                <a:effectLst/>
                <a:latin typeface="Courier New" panose="02070309020205020404" pitchFamily="49" charset="0"/>
                <a:cs typeface="Courier New" panose="02070309020205020404" pitchFamily="49" charset="0"/>
              </a:rPr>
            </a:br>
            <a:br>
              <a:rPr lang="pl-PL" sz="1800" b="0" i="0" u="none" strike="noStrike" dirty="0">
                <a:solidFill>
                  <a:srgbClr val="1B1C1D"/>
                </a:solidFill>
                <a:effectLst/>
                <a:latin typeface="Courier New" panose="02070309020205020404" pitchFamily="49" charset="0"/>
                <a:cs typeface="Courier New" panose="02070309020205020404" pitchFamily="49" charset="0"/>
              </a:rPr>
            </a:br>
            <a:r>
              <a:rPr lang="pl-PL" sz="1800" b="0" i="0" u="none" strike="noStrike" dirty="0">
                <a:solidFill>
                  <a:srgbClr val="8430CE"/>
                </a:solidFill>
                <a:effectLst/>
                <a:latin typeface="Courier New" panose="02070309020205020404" pitchFamily="49" charset="0"/>
                <a:cs typeface="Courier New" panose="02070309020205020404" pitchFamily="49" charset="0"/>
              </a:rPr>
              <a:t>from</a:t>
            </a:r>
            <a:r>
              <a:rPr lang="pl-PL" sz="1800" b="0" i="0" u="none" strike="noStrike" dirty="0">
                <a:solidFill>
                  <a:srgbClr val="1B1C1D"/>
                </a:solidFill>
                <a:effectLst/>
                <a:latin typeface="Courier New" panose="02070309020205020404" pitchFamily="49" charset="0"/>
                <a:cs typeface="Courier New" panose="02070309020205020404" pitchFamily="49" charset="0"/>
              </a:rPr>
              <a:t> .</a:t>
            </a:r>
            <a:r>
              <a:rPr lang="pl-PL" sz="1800" b="0" i="0" u="none" strike="noStrike" dirty="0" err="1">
                <a:solidFill>
                  <a:srgbClr val="1B1C1D"/>
                </a:solidFill>
                <a:effectLst/>
                <a:latin typeface="Courier New" panose="02070309020205020404" pitchFamily="49" charset="0"/>
                <a:cs typeface="Courier New" panose="02070309020205020404" pitchFamily="49" charset="0"/>
              </a:rPr>
              <a:t>sigproc.lowpass_filter</a:t>
            </a:r>
            <a:r>
              <a:rPr lang="pl-PL" sz="1800" b="0" i="0" u="none" strike="noStrike" dirty="0">
                <a:solidFill>
                  <a:srgbClr val="1B1C1D"/>
                </a:solidFill>
                <a:effectLst/>
                <a:latin typeface="Courier New" panose="02070309020205020404" pitchFamily="49" charset="0"/>
                <a:cs typeface="Courier New" panose="02070309020205020404" pitchFamily="49" charset="0"/>
              </a:rPr>
              <a:t> </a:t>
            </a:r>
            <a:r>
              <a:rPr lang="pl-PL" sz="1800" b="0" i="0" u="none" strike="noStrike" dirty="0">
                <a:solidFill>
                  <a:srgbClr val="8430CE"/>
                </a:solidFill>
                <a:effectLst/>
                <a:latin typeface="Courier New" panose="02070309020205020404" pitchFamily="49" charset="0"/>
                <a:cs typeface="Courier New" panose="02070309020205020404" pitchFamily="49" charset="0"/>
              </a:rPr>
              <a:t>import</a:t>
            </a:r>
            <a:r>
              <a:rPr lang="pl-PL" sz="1800" b="0" i="0" u="none" strike="noStrike" dirty="0">
                <a:solidFill>
                  <a:srgbClr val="1B1C1D"/>
                </a:solidFill>
                <a:effectLst/>
                <a:latin typeface="Courier New" panose="02070309020205020404" pitchFamily="49" charset="0"/>
                <a:cs typeface="Courier New" panose="02070309020205020404" pitchFamily="49" charset="0"/>
              </a:rPr>
              <a:t> </a:t>
            </a:r>
            <a:r>
              <a:rPr lang="pl-PL" sz="1800" b="0" i="0" u="none" strike="noStrike" dirty="0" err="1">
                <a:solidFill>
                  <a:srgbClr val="1B1C1D"/>
                </a:solidFill>
                <a:effectLst/>
                <a:latin typeface="Courier New" panose="02070309020205020404" pitchFamily="49" charset="0"/>
                <a:cs typeface="Courier New" panose="02070309020205020404" pitchFamily="49" charset="0"/>
              </a:rPr>
              <a:t>lowpass_filter</a:t>
            </a:r>
            <a:br>
              <a:rPr lang="pl-PL" sz="1800" b="0" i="0" u="none" strike="noStrike" dirty="0">
                <a:solidFill>
                  <a:srgbClr val="1B1C1D"/>
                </a:solidFill>
                <a:effectLst/>
                <a:latin typeface="Courier New" panose="02070309020205020404" pitchFamily="49" charset="0"/>
                <a:cs typeface="Courier New" panose="02070309020205020404" pitchFamily="49" charset="0"/>
              </a:rPr>
            </a:br>
            <a:r>
              <a:rPr lang="pl-PL" sz="1800" b="0" i="0" u="none" strike="noStrike" dirty="0">
                <a:solidFill>
                  <a:srgbClr val="8430CE"/>
                </a:solidFill>
                <a:effectLst/>
                <a:latin typeface="Courier New" panose="02070309020205020404" pitchFamily="49" charset="0"/>
                <a:cs typeface="Courier New" panose="02070309020205020404" pitchFamily="49" charset="0"/>
              </a:rPr>
              <a:t>from</a:t>
            </a:r>
            <a:r>
              <a:rPr lang="pl-PL" sz="1800" b="0" i="0" u="none" strike="noStrike" dirty="0">
                <a:solidFill>
                  <a:srgbClr val="1B1C1D"/>
                </a:solidFill>
                <a:effectLst/>
                <a:latin typeface="Courier New" panose="02070309020205020404" pitchFamily="49" charset="0"/>
                <a:cs typeface="Courier New" panose="02070309020205020404" pitchFamily="49" charset="0"/>
              </a:rPr>
              <a:t> .</a:t>
            </a:r>
            <a:r>
              <a:rPr lang="pl-PL" sz="1800" b="0" i="0" u="none" strike="noStrike" dirty="0" err="1">
                <a:solidFill>
                  <a:srgbClr val="1B1C1D"/>
                </a:solidFill>
                <a:effectLst/>
                <a:latin typeface="Courier New" panose="02070309020205020404" pitchFamily="49" charset="0"/>
                <a:cs typeface="Courier New" panose="02070309020205020404" pitchFamily="49" charset="0"/>
              </a:rPr>
              <a:t>sigproc.bandpass_filter</a:t>
            </a:r>
            <a:r>
              <a:rPr lang="pl-PL" sz="1800" b="0" i="0" u="none" strike="noStrike" dirty="0">
                <a:solidFill>
                  <a:srgbClr val="1B1C1D"/>
                </a:solidFill>
                <a:effectLst/>
                <a:latin typeface="Courier New" panose="02070309020205020404" pitchFamily="49" charset="0"/>
                <a:cs typeface="Courier New" panose="02070309020205020404" pitchFamily="49" charset="0"/>
              </a:rPr>
              <a:t> </a:t>
            </a:r>
            <a:r>
              <a:rPr lang="pl-PL" sz="1800" b="0" i="0" u="none" strike="noStrike" dirty="0">
                <a:solidFill>
                  <a:srgbClr val="8430CE"/>
                </a:solidFill>
                <a:effectLst/>
                <a:latin typeface="Courier New" panose="02070309020205020404" pitchFamily="49" charset="0"/>
                <a:cs typeface="Courier New" panose="02070309020205020404" pitchFamily="49" charset="0"/>
              </a:rPr>
              <a:t>import</a:t>
            </a:r>
            <a:r>
              <a:rPr lang="pl-PL" sz="1800" b="0" i="0" u="none" strike="noStrike" dirty="0">
                <a:solidFill>
                  <a:srgbClr val="1B1C1D"/>
                </a:solidFill>
                <a:effectLst/>
                <a:latin typeface="Courier New" panose="02070309020205020404" pitchFamily="49" charset="0"/>
                <a:cs typeface="Courier New" panose="02070309020205020404" pitchFamily="49" charset="0"/>
              </a:rPr>
              <a:t> </a:t>
            </a:r>
            <a:r>
              <a:rPr lang="pl-PL" sz="1800" b="0" i="0" u="none" strike="noStrike" dirty="0" err="1">
                <a:solidFill>
                  <a:srgbClr val="1B1C1D"/>
                </a:solidFill>
                <a:effectLst/>
                <a:latin typeface="Courier New" panose="02070309020205020404" pitchFamily="49" charset="0"/>
                <a:cs typeface="Courier New" panose="02070309020205020404" pitchFamily="49" charset="0"/>
              </a:rPr>
              <a:t>bandpass_filter</a:t>
            </a:r>
            <a:br>
              <a:rPr lang="pl-PL" sz="1800" b="0" i="0" u="none" strike="noStrike" dirty="0">
                <a:solidFill>
                  <a:srgbClr val="1B1C1D"/>
                </a:solidFill>
                <a:effectLst/>
                <a:latin typeface="Courier New" panose="02070309020205020404" pitchFamily="49" charset="0"/>
                <a:cs typeface="Courier New" panose="02070309020205020404" pitchFamily="49" charset="0"/>
              </a:rPr>
            </a:br>
            <a:r>
              <a:rPr lang="pl-PL" sz="1800" b="0" i="0" u="none" strike="noStrike" dirty="0">
                <a:solidFill>
                  <a:srgbClr val="8430CE"/>
                </a:solidFill>
                <a:effectLst/>
                <a:latin typeface="Courier New" panose="02070309020205020404" pitchFamily="49" charset="0"/>
                <a:cs typeface="Courier New" panose="02070309020205020404" pitchFamily="49" charset="0"/>
              </a:rPr>
              <a:t>from</a:t>
            </a:r>
            <a:r>
              <a:rPr lang="pl-PL" sz="1800" b="0" i="0" u="none" strike="noStrike" dirty="0">
                <a:solidFill>
                  <a:srgbClr val="1B1C1D"/>
                </a:solidFill>
                <a:effectLst/>
                <a:latin typeface="Courier New" panose="02070309020205020404" pitchFamily="49" charset="0"/>
                <a:cs typeface="Courier New" panose="02070309020205020404" pitchFamily="49" charset="0"/>
              </a:rPr>
              <a:t> .</a:t>
            </a:r>
            <a:r>
              <a:rPr lang="pl-PL" sz="1800" b="0" i="0" u="none" strike="noStrike" dirty="0" err="1">
                <a:solidFill>
                  <a:srgbClr val="1B1C1D"/>
                </a:solidFill>
                <a:effectLst/>
                <a:latin typeface="Courier New" panose="02070309020205020404" pitchFamily="49" charset="0"/>
                <a:cs typeface="Courier New" panose="02070309020205020404" pitchFamily="49" charset="0"/>
              </a:rPr>
              <a:t>transforms.create_spectrogram</a:t>
            </a:r>
            <a:r>
              <a:rPr lang="pl-PL" sz="1800" b="0" i="0" u="none" strike="noStrike" dirty="0">
                <a:solidFill>
                  <a:srgbClr val="1B1C1D"/>
                </a:solidFill>
                <a:effectLst/>
                <a:latin typeface="Courier New" panose="02070309020205020404" pitchFamily="49" charset="0"/>
                <a:cs typeface="Courier New" panose="02070309020205020404" pitchFamily="49" charset="0"/>
              </a:rPr>
              <a:t> </a:t>
            </a:r>
            <a:r>
              <a:rPr lang="pl-PL" sz="1800" b="0" i="0" u="none" strike="noStrike" dirty="0">
                <a:solidFill>
                  <a:srgbClr val="8430CE"/>
                </a:solidFill>
                <a:effectLst/>
                <a:latin typeface="Courier New" panose="02070309020205020404" pitchFamily="49" charset="0"/>
                <a:cs typeface="Courier New" panose="02070309020205020404" pitchFamily="49" charset="0"/>
              </a:rPr>
              <a:t>import</a:t>
            </a:r>
            <a:r>
              <a:rPr lang="pl-PL" sz="1800" b="0" i="0" u="none" strike="noStrike" dirty="0">
                <a:solidFill>
                  <a:srgbClr val="1B1C1D"/>
                </a:solidFill>
                <a:effectLst/>
                <a:latin typeface="Courier New" panose="02070309020205020404" pitchFamily="49" charset="0"/>
                <a:cs typeface="Courier New" panose="02070309020205020404" pitchFamily="49" charset="0"/>
              </a:rPr>
              <a:t> </a:t>
            </a:r>
            <a:r>
              <a:rPr lang="pl-PL" sz="1800" b="0" i="0" u="none" strike="noStrike" dirty="0" err="1">
                <a:solidFill>
                  <a:srgbClr val="1B1C1D"/>
                </a:solidFill>
                <a:effectLst/>
                <a:latin typeface="Courier New" panose="02070309020205020404" pitchFamily="49" charset="0"/>
                <a:cs typeface="Courier New" panose="02070309020205020404" pitchFamily="49" charset="0"/>
              </a:rPr>
              <a:t>create_signal_spectrogram</a:t>
            </a:r>
            <a:br>
              <a:rPr lang="pl-PL" sz="1800" b="0" i="0" u="none" strike="noStrike" dirty="0">
                <a:solidFill>
                  <a:srgbClr val="1B1C1D"/>
                </a:solidFill>
                <a:effectLst/>
                <a:latin typeface="Courier New" panose="02070309020205020404" pitchFamily="49" charset="0"/>
                <a:cs typeface="Courier New" panose="02070309020205020404" pitchFamily="49" charset="0"/>
              </a:rPr>
            </a:br>
            <a:r>
              <a:rPr lang="pl-PL" sz="1800" b="0" i="0" u="none" strike="noStrike" dirty="0">
                <a:solidFill>
                  <a:srgbClr val="5F6368"/>
                </a:solidFill>
                <a:effectLst/>
                <a:latin typeface="Courier New" panose="02070309020205020404" pitchFamily="49" charset="0"/>
                <a:cs typeface="Courier New" panose="02070309020205020404" pitchFamily="49" charset="0"/>
              </a:rPr>
              <a:t># ... and </a:t>
            </a:r>
            <a:r>
              <a:rPr lang="pl-PL" sz="1800" b="0" i="0" u="none" strike="noStrike" dirty="0" err="1">
                <a:solidFill>
                  <a:srgbClr val="5F6368"/>
                </a:solidFill>
                <a:effectLst/>
                <a:latin typeface="Courier New" panose="02070309020205020404" pitchFamily="49" charset="0"/>
                <a:cs typeface="Courier New" panose="02070309020205020404" pitchFamily="49" charset="0"/>
              </a:rPr>
              <a:t>so</a:t>
            </a:r>
            <a:r>
              <a:rPr lang="pl-PL" sz="1800" b="0" i="0" u="none" strike="noStrike" dirty="0">
                <a:solidFill>
                  <a:srgbClr val="5F6368"/>
                </a:solidFill>
                <a:effectLst/>
                <a:latin typeface="Courier New" panose="02070309020205020404" pitchFamily="49" charset="0"/>
                <a:cs typeface="Courier New" panose="02070309020205020404" pitchFamily="49" charset="0"/>
              </a:rPr>
              <a:t> on for </a:t>
            </a:r>
            <a:r>
              <a:rPr lang="pl-PL" sz="1800" b="0" i="0" u="none" strike="noStrike" dirty="0" err="1">
                <a:solidFill>
                  <a:srgbClr val="5F6368"/>
                </a:solidFill>
                <a:effectLst/>
                <a:latin typeface="Courier New" panose="02070309020205020404" pitchFamily="49" charset="0"/>
                <a:cs typeface="Courier New" panose="02070309020205020404" pitchFamily="49" charset="0"/>
              </a:rPr>
              <a:t>every</a:t>
            </a:r>
            <a:r>
              <a:rPr lang="pl-PL" sz="1800" b="0" i="0" u="none" strike="noStrike" dirty="0">
                <a:solidFill>
                  <a:srgbClr val="5F6368"/>
                </a:solidFill>
                <a:effectLst/>
                <a:latin typeface="Courier New" panose="02070309020205020404" pitchFamily="49" charset="0"/>
                <a:cs typeface="Courier New" panose="02070309020205020404" pitchFamily="49" charset="0"/>
              </a:rPr>
              <a:t> </a:t>
            </a:r>
            <a:r>
              <a:rPr lang="pl-PL" sz="1800" b="0" i="0" u="none" strike="noStrike" dirty="0" err="1">
                <a:solidFill>
                  <a:srgbClr val="5F6368"/>
                </a:solidFill>
                <a:effectLst/>
                <a:latin typeface="Courier New" panose="02070309020205020404" pitchFamily="49" charset="0"/>
                <a:cs typeface="Courier New" panose="02070309020205020404" pitchFamily="49" charset="0"/>
              </a:rPr>
              <a:t>tool</a:t>
            </a:r>
            <a:br>
              <a:rPr lang="pl-PL" sz="1800" b="0" i="0" u="none" strike="noStrike" dirty="0">
                <a:solidFill>
                  <a:srgbClr val="1B1C1D"/>
                </a:solidFill>
                <a:effectLst/>
                <a:latin typeface="Courier New" panose="02070309020205020404" pitchFamily="49" charset="0"/>
                <a:cs typeface="Courier New" panose="02070309020205020404" pitchFamily="49" charset="0"/>
              </a:rPr>
            </a:br>
            <a:br>
              <a:rPr lang="pl-PL" sz="1800" b="0" i="0" u="none" strike="noStrike" dirty="0">
                <a:solidFill>
                  <a:srgbClr val="1B1C1D"/>
                </a:solidFill>
                <a:effectLst/>
                <a:latin typeface="Courier New" panose="02070309020205020404" pitchFamily="49" charset="0"/>
                <a:cs typeface="Courier New" panose="02070309020205020404" pitchFamily="49" charset="0"/>
              </a:rPr>
            </a:br>
            <a:r>
              <a:rPr lang="pl-PL" sz="1800" b="0" i="0" u="none" strike="noStrike" dirty="0" err="1">
                <a:solidFill>
                  <a:srgbClr val="1B1C1D"/>
                </a:solidFill>
                <a:effectLst/>
                <a:latin typeface="Courier New" panose="02070309020205020404" pitchFamily="49" charset="0"/>
                <a:cs typeface="Courier New" panose="02070309020205020404" pitchFamily="49" charset="0"/>
              </a:rPr>
              <a:t>print</a:t>
            </a:r>
            <a:r>
              <a:rPr lang="pl-PL" sz="1800" b="0" i="0" u="none" strike="noStrike" dirty="0">
                <a:solidFill>
                  <a:srgbClr val="1B1C1D"/>
                </a:solidFill>
                <a:effectLst/>
                <a:latin typeface="Courier New" panose="02070309020205020404" pitchFamily="49" charset="0"/>
                <a:cs typeface="Courier New" panose="02070309020205020404" pitchFamily="49" charset="0"/>
              </a:rPr>
              <a:t>(</a:t>
            </a:r>
            <a:r>
              <a:rPr lang="pl-PL" sz="1800" b="0" i="0" u="none" strike="noStrike" dirty="0">
                <a:solidFill>
                  <a:srgbClr val="188038"/>
                </a:solidFill>
                <a:effectLst/>
                <a:latin typeface="Courier New" panose="02070309020205020404" pitchFamily="49" charset="0"/>
                <a:cs typeface="Courier New" panose="02070309020205020404" pitchFamily="49" charset="0"/>
              </a:rPr>
              <a:t>"Analysis </a:t>
            </a:r>
            <a:r>
              <a:rPr lang="pl-PL" sz="1800" b="0" i="0" u="none" strike="noStrike" dirty="0" err="1">
                <a:solidFill>
                  <a:srgbClr val="188038"/>
                </a:solidFill>
                <a:effectLst/>
                <a:latin typeface="Courier New" panose="02070309020205020404" pitchFamily="49" charset="0"/>
                <a:cs typeface="Courier New" panose="02070309020205020404" pitchFamily="49" charset="0"/>
              </a:rPr>
              <a:t>tools</a:t>
            </a:r>
            <a:r>
              <a:rPr lang="pl-PL" sz="1800" b="0" i="0" u="none" strike="noStrike" dirty="0">
                <a:solidFill>
                  <a:srgbClr val="188038"/>
                </a:solidFill>
                <a:effectLst/>
                <a:latin typeface="Courier New" panose="02070309020205020404" pitchFamily="49" charset="0"/>
                <a:cs typeface="Courier New" panose="02070309020205020404" pitchFamily="49" charset="0"/>
              </a:rPr>
              <a:t> </a:t>
            </a:r>
            <a:r>
              <a:rPr lang="pl-PL" sz="1800" b="0" i="0" u="none" strike="noStrike" dirty="0" err="1">
                <a:solidFill>
                  <a:srgbClr val="188038"/>
                </a:solidFill>
                <a:effectLst/>
                <a:latin typeface="Courier New" panose="02070309020205020404" pitchFamily="49" charset="0"/>
                <a:cs typeface="Courier New" panose="02070309020205020404" pitchFamily="49" charset="0"/>
              </a:rPr>
              <a:t>library</a:t>
            </a:r>
            <a:r>
              <a:rPr lang="pl-PL" sz="1800" b="0" i="0" u="none" strike="noStrike" dirty="0">
                <a:solidFill>
                  <a:srgbClr val="188038"/>
                </a:solidFill>
                <a:effectLst/>
                <a:latin typeface="Courier New" panose="02070309020205020404" pitchFamily="49" charset="0"/>
                <a:cs typeface="Courier New" panose="02070309020205020404" pitchFamily="49" charset="0"/>
              </a:rPr>
              <a:t> </a:t>
            </a:r>
            <a:r>
              <a:rPr lang="pl-PL" sz="1800" b="0" i="0" u="none" strike="noStrike" dirty="0" err="1">
                <a:solidFill>
                  <a:srgbClr val="188038"/>
                </a:solidFill>
                <a:effectLst/>
                <a:latin typeface="Courier New" panose="02070309020205020404" pitchFamily="49" charset="0"/>
                <a:cs typeface="Courier New" panose="02070309020205020404" pitchFamily="49" charset="0"/>
              </a:rPr>
              <a:t>initialized</a:t>
            </a:r>
            <a:r>
              <a:rPr lang="pl-PL" sz="1800" b="0" i="0" u="none" strike="noStrike" dirty="0">
                <a:solidFill>
                  <a:srgbClr val="188038"/>
                </a:solidFill>
                <a:effectLst/>
                <a:latin typeface="Courier New" panose="02070309020205020404" pitchFamily="49" charset="0"/>
                <a:cs typeface="Courier New" panose="02070309020205020404" pitchFamily="49" charset="0"/>
              </a:rPr>
              <a:t>."</a:t>
            </a:r>
            <a:r>
              <a:rPr lang="pl-PL" sz="1800" b="0" i="0" u="none" strike="noStrike" dirty="0">
                <a:solidFill>
                  <a:srgbClr val="1B1C1D"/>
                </a:solidFill>
                <a:effectLst/>
                <a:latin typeface="Courier New" panose="02070309020205020404" pitchFamily="49" charset="0"/>
                <a:cs typeface="Courier New" panose="02070309020205020404" pitchFamily="49" charset="0"/>
              </a:rPr>
              <a:t>)</a:t>
            </a:r>
            <a:br>
              <a:rPr lang="pl-PL" sz="1800" b="0" i="0" u="none" strike="noStrike" dirty="0">
                <a:solidFill>
                  <a:srgbClr val="1B1C1D"/>
                </a:solidFill>
                <a:effectLst/>
                <a:latin typeface="Courier New" panose="02070309020205020404" pitchFamily="49" charset="0"/>
                <a:cs typeface="Courier New" panose="02070309020205020404" pitchFamily="49" charset="0"/>
              </a:rPr>
            </a:br>
            <a:endParaRPr lang="pl-PL" sz="1800" b="0" i="0" u="none" strike="noStrike" dirty="0">
              <a:solidFill>
                <a:srgbClr val="1B1C1D"/>
              </a:solidFill>
              <a:effectLst/>
              <a:latin typeface="Courier New" panose="02070309020205020404" pitchFamily="49" charset="0"/>
              <a:cs typeface="Courier New" panose="02070309020205020404" pitchFamily="49" charset="0"/>
            </a:endParaRPr>
          </a:p>
          <a:p>
            <a:pPr rtl="0">
              <a:spcBef>
                <a:spcPts val="0"/>
              </a:spcBef>
              <a:spcAft>
                <a:spcPts val="1200"/>
              </a:spcAft>
            </a:pPr>
            <a:r>
              <a:rPr lang="en-US" sz="1800" b="0" i="0" u="none" strike="noStrike" dirty="0">
                <a:solidFill>
                  <a:srgbClr val="1B1C1D"/>
                </a:solidFill>
                <a:effectLst/>
                <a:latin typeface="Google Sans Text"/>
              </a:rPr>
              <a:t>This means that even though </a:t>
            </a:r>
            <a:r>
              <a:rPr lang="pl-PL" sz="1800" b="0" i="0" u="none" strike="noStrike" dirty="0">
                <a:solidFill>
                  <a:srgbClr val="1B1C1D"/>
                </a:solidFill>
                <a:effectLst/>
                <a:latin typeface="Google Sans Text"/>
              </a:rPr>
              <a:t>the</a:t>
            </a:r>
            <a:r>
              <a:rPr lang="en-US" sz="1800" b="0" i="0" u="none" strike="noStrike" dirty="0">
                <a:solidFill>
                  <a:srgbClr val="1B1C1D"/>
                </a:solidFill>
                <a:effectLst/>
                <a:latin typeface="Google Sans Text"/>
              </a:rPr>
              <a:t> files are neatly organized in subfolders, the orchestrator's generated script can still use a simple and clean call like </a:t>
            </a:r>
            <a:r>
              <a:rPr lang="en-US" sz="1800" b="0" i="0" u="none" strike="noStrike" dirty="0" err="1">
                <a:solidFill>
                  <a:srgbClr val="1B1C1D"/>
                </a:solidFill>
                <a:effectLst/>
                <a:latin typeface="Courier New" panose="02070309020205020404" pitchFamily="49" charset="0"/>
                <a:cs typeface="Courier New" panose="02070309020205020404" pitchFamily="49" charset="0"/>
              </a:rPr>
              <a:t>tools.lowpass_filter</a:t>
            </a:r>
            <a:r>
              <a:rPr lang="en-US" sz="1800" b="0" i="0" u="none" strike="noStrike" dirty="0">
                <a:solidFill>
                  <a:srgbClr val="1B1C1D"/>
                </a:solidFill>
                <a:effectLst/>
                <a:latin typeface="Courier New" panose="02070309020205020404" pitchFamily="49" charset="0"/>
                <a:cs typeface="Courier New" panose="02070309020205020404" pitchFamily="49" charset="0"/>
              </a:rPr>
              <a:t>(...)</a:t>
            </a:r>
            <a:r>
              <a:rPr lang="en-US" sz="1800" b="0" i="0" u="none" strike="noStrike" dirty="0">
                <a:solidFill>
                  <a:srgbClr val="1B1C1D"/>
                </a:solidFill>
                <a:effectLst/>
                <a:latin typeface="Google Sans Text"/>
              </a:rPr>
              <a:t>, just as planned.</a:t>
            </a:r>
            <a:endParaRPr lang="en-US" sz="1200" b="0" dirty="0">
              <a:effectLst/>
            </a:endParaRPr>
          </a:p>
          <a:p>
            <a:br>
              <a:rPr lang="en-US" sz="1200" dirty="0"/>
            </a:br>
            <a:endParaRPr lang="en-US" sz="1200" b="1" dirty="0">
              <a:effectLs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7981458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ole tekstowe 4">
            <a:extLst>
              <a:ext uri="{FF2B5EF4-FFF2-40B4-BE49-F238E27FC236}">
                <a16:creationId xmlns:a16="http://schemas.microsoft.com/office/drawing/2014/main" id="{B3C834C9-D5E7-46C8-96BE-331BB8260282}"/>
              </a:ext>
            </a:extLst>
          </p:cNvPr>
          <p:cNvSpPr txBox="1"/>
          <p:nvPr/>
        </p:nvSpPr>
        <p:spPr>
          <a:xfrm>
            <a:off x="265042" y="258901"/>
            <a:ext cx="11754229" cy="4816703"/>
          </a:xfrm>
          <a:prstGeom prst="rect">
            <a:avLst/>
          </a:prstGeom>
          <a:noFill/>
        </p:spPr>
        <p:txBody>
          <a:bodyPr wrap="square">
            <a:spAutoFit/>
          </a:bodyPr>
          <a:lstStyle/>
          <a:p>
            <a:pPr rtl="0">
              <a:spcBef>
                <a:spcPts val="600"/>
              </a:spcBef>
              <a:spcAft>
                <a:spcPts val="600"/>
              </a:spcAft>
            </a:pPr>
            <a:r>
              <a:rPr lang="pl-PL" sz="2800" b="1" i="0" strike="noStrike" dirty="0">
                <a:solidFill>
                  <a:srgbClr val="1B1C1D"/>
                </a:solidFill>
                <a:effectLst/>
                <a:latin typeface="Google Sans"/>
              </a:rPr>
              <a:t>12</a:t>
            </a:r>
            <a:r>
              <a:rPr lang="en-US" sz="2800" b="1" i="0" strike="noStrike" dirty="0">
                <a:solidFill>
                  <a:srgbClr val="1B1C1D"/>
                </a:solidFill>
                <a:effectLst/>
                <a:latin typeface="Google Sans"/>
              </a:rPr>
              <a:t>. </a:t>
            </a:r>
            <a:r>
              <a:rPr lang="pl-PL" sz="2800" b="1" i="0" strike="noStrike" dirty="0" err="1">
                <a:solidFill>
                  <a:srgbClr val="1B1C1D"/>
                </a:solidFill>
                <a:effectLst/>
                <a:latin typeface="Google Sans"/>
              </a:rPr>
              <a:t>Orchestration</a:t>
            </a:r>
            <a:r>
              <a:rPr lang="pl-PL" sz="2800" b="1" i="0" strike="noStrike" dirty="0">
                <a:solidFill>
                  <a:srgbClr val="1B1C1D"/>
                </a:solidFill>
                <a:effectLst/>
                <a:latin typeface="Google Sans"/>
              </a:rPr>
              <a:t> </a:t>
            </a:r>
            <a:r>
              <a:rPr lang="pl-PL" sz="2800" b="1" i="0" strike="noStrike" dirty="0" err="1">
                <a:solidFill>
                  <a:srgbClr val="1B1C1D"/>
                </a:solidFill>
                <a:effectLst/>
                <a:latin typeface="Google Sans"/>
              </a:rPr>
              <a:t>guardrails</a:t>
            </a:r>
            <a:endParaRPr lang="en-US" sz="2800" b="1" dirty="0">
              <a:effectLst/>
            </a:endParaRPr>
          </a:p>
          <a:p>
            <a:pPr rtl="0">
              <a:spcBef>
                <a:spcPts val="0"/>
              </a:spcBef>
              <a:spcAft>
                <a:spcPts val="600"/>
              </a:spcAft>
            </a:pPr>
            <a:r>
              <a:rPr lang="en-US" sz="2400" b="0" i="0" u="none" strike="noStrike" dirty="0">
                <a:solidFill>
                  <a:srgbClr val="1B1C1D"/>
                </a:solidFill>
                <a:effectLst/>
                <a:latin typeface="Google Sans Text"/>
              </a:rPr>
              <a:t>To ensure robust and efficient operation, the orchestrator will operate with a set of explicit guardrails to prevent unproductive loops.</a:t>
            </a:r>
            <a:endParaRPr lang="pl-PL" sz="2400" b="0" i="0" u="none" strike="noStrike" dirty="0">
              <a:solidFill>
                <a:srgbClr val="1B1C1D"/>
              </a:solidFill>
              <a:effectLst/>
              <a:latin typeface="Google Sans Text"/>
            </a:endParaRPr>
          </a:p>
          <a:p>
            <a:pPr rtl="0">
              <a:spcBef>
                <a:spcPts val="0"/>
              </a:spcBef>
              <a:spcAft>
                <a:spcPts val="600"/>
              </a:spcAft>
            </a:pPr>
            <a:endParaRPr lang="en-US" sz="2400" b="0" dirty="0">
              <a:effectLst/>
            </a:endParaRPr>
          </a:p>
          <a:p>
            <a:pPr marL="457200" indent="-457200" rtl="0" fontAlgn="base">
              <a:spcBef>
                <a:spcPts val="0"/>
              </a:spcBef>
              <a:spcAft>
                <a:spcPts val="0"/>
              </a:spcAft>
              <a:buFont typeface="+mj-lt"/>
              <a:buAutoNum type="arabicPeriod"/>
            </a:pPr>
            <a:r>
              <a:rPr lang="en-US" sz="2400" b="1" i="0" u="none" strike="noStrike" dirty="0">
                <a:solidFill>
                  <a:srgbClr val="1B1C1D"/>
                </a:solidFill>
                <a:effectLst/>
                <a:latin typeface="Google Sans Text"/>
              </a:rPr>
              <a:t>Limit on Refinement Attempts:</a:t>
            </a:r>
            <a:r>
              <a:rPr lang="en-US" sz="2400" b="0" i="0" u="none" strike="noStrike" dirty="0">
                <a:solidFill>
                  <a:srgbClr val="1B1C1D"/>
                </a:solidFill>
                <a:effectLst/>
                <a:latin typeface="Google Sans Text"/>
              </a:rPr>
              <a:t> For any single action, the system will attempt to refine its parameters a maximum of 2-3 times. If it still fails, the action will be discarded.</a:t>
            </a:r>
            <a:endParaRPr lang="en-US" sz="2400" b="0" i="0" u="none" strike="noStrike" dirty="0">
              <a:solidFill>
                <a:srgbClr val="000000"/>
              </a:solidFill>
              <a:effectLst/>
              <a:latin typeface="Arial" panose="020B0604020202020204" pitchFamily="34" charset="0"/>
            </a:endParaRPr>
          </a:p>
          <a:p>
            <a:pPr marL="457200" indent="-457200" rtl="0" fontAlgn="base">
              <a:spcBef>
                <a:spcPts val="0"/>
              </a:spcBef>
              <a:spcAft>
                <a:spcPts val="0"/>
              </a:spcAft>
              <a:buFont typeface="+mj-lt"/>
              <a:buAutoNum type="arabicPeriod"/>
            </a:pPr>
            <a:r>
              <a:rPr lang="en-US" sz="2400" b="1" i="0" u="none" strike="noStrike" dirty="0">
                <a:solidFill>
                  <a:srgbClr val="1B1C1D"/>
                </a:solidFill>
                <a:effectLst/>
                <a:latin typeface="Google Sans Text"/>
              </a:rPr>
              <a:t>Exclusion of Failed Tools:</a:t>
            </a:r>
            <a:r>
              <a:rPr lang="en-US" sz="2400" b="0" i="0" u="none" strike="noStrike" dirty="0">
                <a:solidFill>
                  <a:srgbClr val="1B1C1D"/>
                </a:solidFill>
                <a:effectLst/>
                <a:latin typeface="Google Sans Text"/>
              </a:rPr>
              <a:t> If a tool is tried, refined, and ultimately removed from the pipeline stack, it will be added to a temporary "exclusion list." The LLM will be explicitly prompted not to select that tool again for the same analysis step. This list is cleared once a new, successful step is added.</a:t>
            </a:r>
            <a:endParaRPr lang="en-US" sz="2400" b="0" i="0" u="none" strike="noStrike" dirty="0">
              <a:solidFill>
                <a:srgbClr val="000000"/>
              </a:solidFill>
              <a:effectLst/>
              <a:latin typeface="Arial" panose="020B0604020202020204" pitchFamily="34" charset="0"/>
            </a:endParaRPr>
          </a:p>
          <a:p>
            <a:pPr marL="457200" indent="-457200" rtl="0" fontAlgn="base">
              <a:spcBef>
                <a:spcPts val="0"/>
              </a:spcBef>
              <a:spcAft>
                <a:spcPts val="600"/>
              </a:spcAft>
              <a:buFont typeface="+mj-lt"/>
              <a:buAutoNum type="arabicPeriod"/>
            </a:pPr>
            <a:r>
              <a:rPr lang="en-US" sz="2400" b="1" i="0" u="none" strike="noStrike" dirty="0">
                <a:solidFill>
                  <a:srgbClr val="1B1C1D"/>
                </a:solidFill>
                <a:effectLst/>
                <a:latin typeface="Google Sans Text"/>
              </a:rPr>
              <a:t>Maximum Pipeline Steps:</a:t>
            </a:r>
            <a:r>
              <a:rPr lang="en-US" sz="2400" b="0" i="0" u="none" strike="noStrike" dirty="0">
                <a:solidFill>
                  <a:srgbClr val="1B1C1D"/>
                </a:solidFill>
                <a:effectLst/>
                <a:latin typeface="Google Sans Text"/>
              </a:rPr>
              <a:t> The entire analysis run will be capped at a maximum number of total iterations (e.g., 10-15 steps) to prevent infinite execution and ensure termination.</a:t>
            </a:r>
            <a:endParaRPr lang="en-US" sz="2400" b="0" i="0" u="none" strike="noStrike"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25684641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ole tekstowe 4">
            <a:extLst>
              <a:ext uri="{FF2B5EF4-FFF2-40B4-BE49-F238E27FC236}">
                <a16:creationId xmlns:a16="http://schemas.microsoft.com/office/drawing/2014/main" id="{B3C834C9-D5E7-46C8-96BE-331BB8260282}"/>
              </a:ext>
            </a:extLst>
          </p:cNvPr>
          <p:cNvSpPr txBox="1"/>
          <p:nvPr/>
        </p:nvSpPr>
        <p:spPr>
          <a:xfrm>
            <a:off x="265042" y="258901"/>
            <a:ext cx="11754229" cy="6340197"/>
          </a:xfrm>
          <a:prstGeom prst="rect">
            <a:avLst/>
          </a:prstGeom>
          <a:noFill/>
        </p:spPr>
        <p:txBody>
          <a:bodyPr wrap="square">
            <a:spAutoFit/>
          </a:bodyPr>
          <a:lstStyle/>
          <a:p>
            <a:pPr rtl="0">
              <a:spcBef>
                <a:spcPts val="600"/>
              </a:spcBef>
              <a:spcAft>
                <a:spcPts val="600"/>
              </a:spcAft>
            </a:pPr>
            <a:r>
              <a:rPr lang="pl-PL" sz="2800" b="1" i="0" strike="noStrike" dirty="0">
                <a:solidFill>
                  <a:srgbClr val="1B1C1D"/>
                </a:solidFill>
                <a:effectLst/>
                <a:latin typeface="Google Sans"/>
              </a:rPr>
              <a:t>13</a:t>
            </a:r>
            <a:r>
              <a:rPr lang="en-US" sz="2800" b="1" i="0" strike="noStrike" dirty="0">
                <a:solidFill>
                  <a:srgbClr val="1B1C1D"/>
                </a:solidFill>
                <a:effectLst/>
                <a:latin typeface="Google Sans"/>
              </a:rPr>
              <a:t>. </a:t>
            </a:r>
            <a:r>
              <a:rPr lang="pl-PL" sz="2800" b="1" i="0" strike="noStrike" dirty="0">
                <a:solidFill>
                  <a:srgbClr val="1B1C1D"/>
                </a:solidFill>
                <a:effectLst/>
                <a:latin typeface="Google Sans"/>
              </a:rPr>
              <a:t>Input module</a:t>
            </a:r>
            <a:endParaRPr lang="en-US" sz="2800" b="1" dirty="0">
              <a:effectLst/>
            </a:endParaRPr>
          </a:p>
          <a:p>
            <a:pPr rtl="0">
              <a:spcBef>
                <a:spcPts val="0"/>
              </a:spcBef>
              <a:spcAft>
                <a:spcPts val="600"/>
              </a:spcAft>
            </a:pPr>
            <a:endParaRPr lang="pl-PL" dirty="0"/>
          </a:p>
          <a:p>
            <a:pPr rtl="0">
              <a:spcBef>
                <a:spcPts val="0"/>
              </a:spcBef>
              <a:spcAft>
                <a:spcPts val="600"/>
              </a:spcAft>
            </a:pPr>
            <a:r>
              <a:rPr lang="pl-PL" sz="2000" dirty="0">
                <a:latin typeface="Google Sans"/>
              </a:rPr>
              <a:t>T</a:t>
            </a:r>
            <a:r>
              <a:rPr lang="en-US" sz="2000" dirty="0">
                <a:latin typeface="Google Sans"/>
              </a:rPr>
              <a:t>he Input Module is the "front door" to the entire system. Its design determines how a user (or another automated system) will interact with the orchestrator.</a:t>
            </a:r>
            <a:r>
              <a:rPr lang="pl-PL" sz="2000" dirty="0">
                <a:latin typeface="Google Sans"/>
              </a:rPr>
              <a:t> </a:t>
            </a:r>
            <a:r>
              <a:rPr lang="en-US" sz="2000" dirty="0">
                <a:latin typeface="Google Sans"/>
              </a:rPr>
              <a:t>It acts as the bootstrapper for the entire process. The </a:t>
            </a:r>
            <a:r>
              <a:rPr lang="en-US" sz="2000" dirty="0">
                <a:latin typeface="Courier New" panose="02070309020205020404" pitchFamily="49" charset="0"/>
                <a:cs typeface="Courier New" panose="02070309020205020404" pitchFamily="49" charset="0"/>
              </a:rPr>
              <a:t>main_runner.py</a:t>
            </a:r>
            <a:r>
              <a:rPr lang="en-US" sz="2000" dirty="0">
                <a:latin typeface="Google Sans"/>
              </a:rPr>
              <a:t> script acts as the clean, "user-facing" entry point, and its primary input-related jobs are to aggregate and validate all the necessary information before handing it off to the complex, internal "engine"—the </a:t>
            </a:r>
            <a:r>
              <a:rPr lang="en-US" sz="2000" dirty="0" err="1">
                <a:latin typeface="Courier New" panose="02070309020205020404" pitchFamily="49" charset="0"/>
                <a:cs typeface="Courier New" panose="02070309020205020404" pitchFamily="49" charset="0"/>
              </a:rPr>
              <a:t>LLMOrchestrator</a:t>
            </a:r>
            <a:r>
              <a:rPr lang="en-US" sz="2000" dirty="0">
                <a:latin typeface="Google Sans"/>
              </a:rPr>
              <a:t> class.</a:t>
            </a:r>
            <a:r>
              <a:rPr lang="pl-PL" sz="2000" dirty="0">
                <a:latin typeface="Google Sans"/>
              </a:rPr>
              <a:t> I</a:t>
            </a:r>
            <a:r>
              <a:rPr lang="en-US" sz="2000" dirty="0" err="1">
                <a:latin typeface="Google Sans"/>
              </a:rPr>
              <a:t>ts</a:t>
            </a:r>
            <a:r>
              <a:rPr lang="en-US" sz="2000" dirty="0">
                <a:latin typeface="Google Sans"/>
              </a:rPr>
              <a:t> main job is to trigger the Metaknowledge prompt, but there are several other crucial responsibilities it must handle to do that job reliably.</a:t>
            </a:r>
            <a:endParaRPr lang="pl-PL" sz="2000" i="0" u="none" strike="noStrike" dirty="0">
              <a:solidFill>
                <a:srgbClr val="000000"/>
              </a:solidFill>
              <a:effectLst/>
              <a:latin typeface="Google Sans"/>
            </a:endParaRPr>
          </a:p>
          <a:p>
            <a:pPr marL="457200" indent="-457200" rtl="0">
              <a:spcBef>
                <a:spcPts val="0"/>
              </a:spcBef>
              <a:spcAft>
                <a:spcPts val="600"/>
              </a:spcAft>
              <a:buFont typeface="+mj-lt"/>
              <a:buAutoNum type="arabicPeriod"/>
            </a:pPr>
            <a:r>
              <a:rPr lang="en-US" sz="2000" b="1" i="0" u="none" strike="noStrike" dirty="0">
                <a:solidFill>
                  <a:srgbClr val="000000"/>
                </a:solidFill>
                <a:effectLst/>
                <a:latin typeface="Google Sans"/>
              </a:rPr>
              <a:t>Input Aggregation: </a:t>
            </a:r>
            <a:r>
              <a:rPr lang="en-US" sz="2000" i="0" u="none" strike="noStrike" dirty="0">
                <a:solidFill>
                  <a:srgbClr val="000000"/>
                </a:solidFill>
                <a:effectLst/>
                <a:latin typeface="Google Sans"/>
              </a:rPr>
              <a:t>It gathers all the necessary pieces of information (data path, description, objective) into one place.</a:t>
            </a:r>
            <a:endParaRPr lang="pl-PL" sz="2000" i="0" u="none" strike="noStrike" dirty="0">
              <a:solidFill>
                <a:srgbClr val="000000"/>
              </a:solidFill>
              <a:effectLst/>
              <a:latin typeface="Google Sans"/>
            </a:endParaRPr>
          </a:p>
          <a:p>
            <a:pPr marL="457200" indent="-457200" rtl="0">
              <a:spcBef>
                <a:spcPts val="0"/>
              </a:spcBef>
              <a:spcAft>
                <a:spcPts val="600"/>
              </a:spcAft>
              <a:buFont typeface="+mj-lt"/>
              <a:buAutoNum type="arabicPeriod"/>
            </a:pPr>
            <a:r>
              <a:rPr lang="en-US" sz="2000" b="1" i="0" u="none" strike="noStrike" dirty="0">
                <a:solidFill>
                  <a:srgbClr val="000000"/>
                </a:solidFill>
                <a:effectLst/>
                <a:latin typeface="Google Sans"/>
              </a:rPr>
              <a:t>Input Validation: </a:t>
            </a:r>
            <a:r>
              <a:rPr lang="en-US" sz="2000" i="0" u="none" strike="noStrike" dirty="0">
                <a:solidFill>
                  <a:srgbClr val="000000"/>
                </a:solidFill>
                <a:effectLst/>
                <a:latin typeface="Google Sans"/>
              </a:rPr>
              <a:t>It performs essential sanity checks to prevent the system from starting a complex process with invalid inputs.</a:t>
            </a:r>
            <a:endParaRPr lang="pl-PL" sz="2000" i="0" u="none" strike="noStrike" dirty="0">
              <a:solidFill>
                <a:srgbClr val="000000"/>
              </a:solidFill>
              <a:effectLst/>
              <a:latin typeface="Google Sans"/>
            </a:endParaRPr>
          </a:p>
          <a:p>
            <a:pPr marL="457200" indent="-457200" rtl="0">
              <a:spcBef>
                <a:spcPts val="0"/>
              </a:spcBef>
              <a:spcAft>
                <a:spcPts val="600"/>
              </a:spcAft>
              <a:buFont typeface="+mj-lt"/>
              <a:buAutoNum type="arabicPeriod"/>
            </a:pPr>
            <a:r>
              <a:rPr lang="en-US" sz="2000" b="1" i="0" u="none" strike="noStrike" dirty="0">
                <a:solidFill>
                  <a:srgbClr val="000000"/>
                </a:solidFill>
                <a:effectLst/>
                <a:latin typeface="Google Sans"/>
              </a:rPr>
              <a:t>Session Management: </a:t>
            </a:r>
            <a:r>
              <a:rPr lang="en-US" sz="2000" i="0" u="none" strike="noStrike" dirty="0">
                <a:solidFill>
                  <a:srgbClr val="000000"/>
                </a:solidFill>
                <a:effectLst/>
                <a:latin typeface="Google Sans"/>
              </a:rPr>
              <a:t>It generates a unique </a:t>
            </a:r>
            <a:r>
              <a:rPr lang="en-US" sz="2000" i="0" u="none" strike="noStrike" dirty="0" err="1">
                <a:solidFill>
                  <a:srgbClr val="000000"/>
                </a:solidFill>
                <a:effectLst/>
                <a:latin typeface="Courier New" panose="02070309020205020404" pitchFamily="49" charset="0"/>
                <a:cs typeface="Courier New" panose="02070309020205020404" pitchFamily="49" charset="0"/>
              </a:rPr>
              <a:t>run_id</a:t>
            </a:r>
            <a:r>
              <a:rPr lang="en-US" sz="2000" i="0" u="none" strike="noStrike" dirty="0">
                <a:solidFill>
                  <a:srgbClr val="000000"/>
                </a:solidFill>
                <a:effectLst/>
                <a:latin typeface="Courier New" panose="02070309020205020404" pitchFamily="49" charset="0"/>
                <a:cs typeface="Courier New" panose="02070309020205020404" pitchFamily="49" charset="0"/>
              </a:rPr>
              <a:t> </a:t>
            </a:r>
            <a:r>
              <a:rPr lang="en-US" sz="2000" i="0" u="none" strike="noStrike" dirty="0">
                <a:solidFill>
                  <a:srgbClr val="000000"/>
                </a:solidFill>
                <a:effectLst/>
                <a:latin typeface="Google Sans"/>
              </a:rPr>
              <a:t>for each analysis. This is crucial for separating the outputs (images, state files, final scripts) from different runs.</a:t>
            </a:r>
            <a:endParaRPr lang="pl-PL" sz="2000" i="0" u="none" strike="noStrike" dirty="0">
              <a:solidFill>
                <a:srgbClr val="000000"/>
              </a:solidFill>
              <a:effectLst/>
              <a:latin typeface="Google Sans"/>
            </a:endParaRPr>
          </a:p>
          <a:p>
            <a:pPr marL="457200" indent="-457200" rtl="0">
              <a:spcBef>
                <a:spcPts val="0"/>
              </a:spcBef>
              <a:spcAft>
                <a:spcPts val="600"/>
              </a:spcAft>
              <a:buFont typeface="+mj-lt"/>
              <a:buAutoNum type="arabicPeriod"/>
            </a:pPr>
            <a:r>
              <a:rPr lang="en-US" sz="2000" b="1" i="0" u="none" strike="noStrike" dirty="0">
                <a:solidFill>
                  <a:srgbClr val="000000"/>
                </a:solidFill>
                <a:effectLst/>
                <a:latin typeface="Google Sans"/>
              </a:rPr>
              <a:t>Instantiation:</a:t>
            </a:r>
            <a:r>
              <a:rPr lang="en-US" sz="2000" i="0" u="none" strike="noStrike" dirty="0">
                <a:solidFill>
                  <a:srgbClr val="000000"/>
                </a:solidFill>
                <a:effectLst/>
                <a:latin typeface="Google Sans"/>
              </a:rPr>
              <a:t> It creates the main </a:t>
            </a:r>
            <a:r>
              <a:rPr lang="en-US" sz="2000" i="0" u="none" strike="noStrike" dirty="0" err="1">
                <a:solidFill>
                  <a:srgbClr val="000000"/>
                </a:solidFill>
                <a:effectLst/>
                <a:latin typeface="Courier New" panose="02070309020205020404" pitchFamily="49" charset="0"/>
                <a:cs typeface="Courier New" panose="02070309020205020404" pitchFamily="49" charset="0"/>
              </a:rPr>
              <a:t>LLMOrchestrator</a:t>
            </a:r>
            <a:r>
              <a:rPr lang="en-US" sz="2000" i="0" u="none" strike="noStrike" dirty="0">
                <a:solidFill>
                  <a:srgbClr val="000000"/>
                </a:solidFill>
                <a:effectLst/>
                <a:latin typeface="Google Sans"/>
              </a:rPr>
              <a:t> object, which is the "brain" of the system.</a:t>
            </a:r>
            <a:endParaRPr lang="pl-PL" sz="2000" i="0" u="none" strike="noStrike" dirty="0">
              <a:solidFill>
                <a:srgbClr val="000000"/>
              </a:solidFill>
              <a:effectLst/>
              <a:latin typeface="Google Sans"/>
            </a:endParaRPr>
          </a:p>
          <a:p>
            <a:pPr marL="457200" indent="-457200" rtl="0">
              <a:spcBef>
                <a:spcPts val="0"/>
              </a:spcBef>
              <a:spcAft>
                <a:spcPts val="600"/>
              </a:spcAft>
              <a:buFont typeface="+mj-lt"/>
              <a:buAutoNum type="arabicPeriod"/>
            </a:pPr>
            <a:r>
              <a:rPr lang="en-US" sz="2000" b="1" i="0" u="none" strike="noStrike" dirty="0">
                <a:solidFill>
                  <a:srgbClr val="000000"/>
                </a:solidFill>
                <a:effectLst/>
                <a:latin typeface="Google Sans"/>
              </a:rPr>
              <a:t>Execution Trigger: </a:t>
            </a:r>
            <a:r>
              <a:rPr lang="en-US" sz="2000" i="0" u="none" strike="noStrike" dirty="0">
                <a:solidFill>
                  <a:srgbClr val="000000"/>
                </a:solidFill>
                <a:effectLst/>
                <a:latin typeface="Google Sans"/>
              </a:rPr>
              <a:t>It calls the primary </a:t>
            </a:r>
            <a:r>
              <a:rPr lang="en-US" sz="2000" i="0" u="none" strike="noStrike" dirty="0" err="1">
                <a:solidFill>
                  <a:srgbClr val="000000"/>
                </a:solidFill>
                <a:effectLst/>
                <a:latin typeface="Courier New" panose="02070309020205020404" pitchFamily="49" charset="0"/>
                <a:cs typeface="Courier New" panose="02070309020205020404" pitchFamily="49" charset="0"/>
              </a:rPr>
              <a:t>run_analysis_pipeline</a:t>
            </a:r>
            <a:r>
              <a:rPr lang="en-US" sz="2000" i="0" u="none" strike="noStrike" dirty="0">
                <a:solidFill>
                  <a:srgbClr val="000000"/>
                </a:solidFill>
                <a:effectLst/>
                <a:latin typeface="Courier New" panose="02070309020205020404" pitchFamily="49" charset="0"/>
                <a:cs typeface="Courier New" panose="02070309020205020404" pitchFamily="49" charset="0"/>
              </a:rPr>
              <a:t>() </a:t>
            </a:r>
            <a:r>
              <a:rPr lang="en-US" sz="2000" i="0" u="none" strike="noStrike" dirty="0">
                <a:solidFill>
                  <a:srgbClr val="000000"/>
                </a:solidFill>
                <a:effectLst/>
                <a:latin typeface="Google Sans"/>
              </a:rPr>
              <a:t>method to kick everything off.</a:t>
            </a:r>
            <a:endParaRPr lang="pl-PL" sz="2000" i="0" u="none" strike="noStrike" dirty="0">
              <a:solidFill>
                <a:srgbClr val="000000"/>
              </a:solidFill>
              <a:effectLst/>
              <a:latin typeface="Google Sans"/>
            </a:endParaRPr>
          </a:p>
          <a:p>
            <a:pPr marL="457200" indent="-457200" rtl="0">
              <a:spcBef>
                <a:spcPts val="0"/>
              </a:spcBef>
              <a:spcAft>
                <a:spcPts val="600"/>
              </a:spcAft>
              <a:buFont typeface="+mj-lt"/>
              <a:buAutoNum type="arabicPeriod"/>
            </a:pPr>
            <a:r>
              <a:rPr lang="en-US" sz="2000" b="1" i="0" u="none" strike="noStrike" dirty="0">
                <a:solidFill>
                  <a:srgbClr val="000000"/>
                </a:solidFill>
                <a:effectLst/>
                <a:latin typeface="Google Sans"/>
              </a:rPr>
              <a:t>Output Handling: </a:t>
            </a:r>
            <a:r>
              <a:rPr lang="en-US" sz="2000" i="0" u="none" strike="noStrike" dirty="0">
                <a:solidFill>
                  <a:srgbClr val="000000"/>
                </a:solidFill>
                <a:effectLst/>
                <a:latin typeface="Google Sans"/>
              </a:rPr>
              <a:t>It receives the final product from the orchestrator and presents it to the user (e.g., by printing it and saving it to a file).</a:t>
            </a:r>
          </a:p>
        </p:txBody>
      </p:sp>
    </p:spTree>
    <p:extLst>
      <p:ext uri="{BB962C8B-B14F-4D97-AF65-F5344CB8AC3E}">
        <p14:creationId xmlns:p14="http://schemas.microsoft.com/office/powerpoint/2010/main" val="31047735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ole tekstowe 4">
            <a:extLst>
              <a:ext uri="{FF2B5EF4-FFF2-40B4-BE49-F238E27FC236}">
                <a16:creationId xmlns:a16="http://schemas.microsoft.com/office/drawing/2014/main" id="{B3C834C9-D5E7-46C8-96BE-331BB8260282}"/>
              </a:ext>
            </a:extLst>
          </p:cNvPr>
          <p:cNvSpPr txBox="1"/>
          <p:nvPr/>
        </p:nvSpPr>
        <p:spPr>
          <a:xfrm>
            <a:off x="265042" y="258901"/>
            <a:ext cx="11754229" cy="5601533"/>
          </a:xfrm>
          <a:prstGeom prst="rect">
            <a:avLst/>
          </a:prstGeom>
          <a:noFill/>
        </p:spPr>
        <p:txBody>
          <a:bodyPr wrap="square">
            <a:spAutoFit/>
          </a:bodyPr>
          <a:lstStyle/>
          <a:p>
            <a:pPr rtl="0">
              <a:spcBef>
                <a:spcPts val="600"/>
              </a:spcBef>
              <a:spcAft>
                <a:spcPts val="600"/>
              </a:spcAft>
            </a:pPr>
            <a:r>
              <a:rPr lang="pl-PL" sz="2800" b="1" i="0" strike="noStrike" dirty="0">
                <a:solidFill>
                  <a:srgbClr val="1B1C1D"/>
                </a:solidFill>
                <a:effectLst/>
                <a:latin typeface="Google Sans"/>
              </a:rPr>
              <a:t>14</a:t>
            </a:r>
            <a:r>
              <a:rPr lang="en-US" sz="2800" b="1" i="0" strike="noStrike" dirty="0">
                <a:solidFill>
                  <a:srgbClr val="1B1C1D"/>
                </a:solidFill>
                <a:effectLst/>
                <a:latin typeface="Google Sans"/>
              </a:rPr>
              <a:t>. </a:t>
            </a:r>
            <a:r>
              <a:rPr lang="pl-PL" sz="2800" b="1" i="0" strike="noStrike" dirty="0">
                <a:solidFill>
                  <a:srgbClr val="1B1C1D"/>
                </a:solidFill>
                <a:effectLst/>
                <a:latin typeface="Google Sans"/>
              </a:rPr>
              <a:t>RAG </a:t>
            </a:r>
            <a:r>
              <a:rPr lang="pl-PL" sz="2800" b="1" i="0" strike="noStrike" dirty="0" err="1">
                <a:solidFill>
                  <a:srgbClr val="1B1C1D"/>
                </a:solidFill>
                <a:effectLst/>
                <a:latin typeface="Google Sans"/>
              </a:rPr>
              <a:t>indexing</a:t>
            </a:r>
            <a:r>
              <a:rPr lang="pl-PL" sz="2800" b="1" i="0" strike="noStrike" dirty="0">
                <a:solidFill>
                  <a:srgbClr val="1B1C1D"/>
                </a:solidFill>
                <a:effectLst/>
                <a:latin typeface="Google Sans"/>
              </a:rPr>
              <a:t> module</a:t>
            </a:r>
            <a:endParaRPr lang="en-US" sz="2800" b="1" dirty="0">
              <a:effectLst/>
            </a:endParaRPr>
          </a:p>
          <a:p>
            <a:pPr rtl="0">
              <a:spcBef>
                <a:spcPts val="0"/>
              </a:spcBef>
              <a:spcAft>
                <a:spcPts val="600"/>
              </a:spcAft>
            </a:pPr>
            <a:r>
              <a:rPr lang="pl-PL" sz="2000" dirty="0"/>
              <a:t>The </a:t>
            </a:r>
            <a:r>
              <a:rPr lang="pl-PL" sz="2000" dirty="0" err="1"/>
              <a:t>proposed</a:t>
            </a:r>
            <a:r>
              <a:rPr lang="pl-PL" sz="2000" dirty="0"/>
              <a:t> </a:t>
            </a:r>
            <a:r>
              <a:rPr lang="en-US" sz="2000" dirty="0"/>
              <a:t>stack is powerful yet simple to set up and run locally:</a:t>
            </a:r>
            <a:endParaRPr lang="en-US" sz="2000" b="0" dirty="0">
              <a:effectLst/>
            </a:endParaRPr>
          </a:p>
          <a:p>
            <a:pPr marL="457200" indent="-457200" rtl="0" fontAlgn="base">
              <a:spcBef>
                <a:spcPts val="0"/>
              </a:spcBef>
              <a:spcAft>
                <a:spcPts val="0"/>
              </a:spcAft>
              <a:buFont typeface="+mj-lt"/>
              <a:buAutoNum type="arabicPeriod"/>
            </a:pPr>
            <a:r>
              <a:rPr lang="en-US" sz="2000" b="1" i="0" u="none" strike="noStrike" dirty="0">
                <a:solidFill>
                  <a:srgbClr val="1B1C1D"/>
                </a:solidFill>
                <a:effectLst/>
                <a:latin typeface="Google Sans Text"/>
              </a:rPr>
              <a:t>Orchestration &amp; Components: </a:t>
            </a:r>
            <a:r>
              <a:rPr lang="en-US" sz="2000" b="1" i="0" u="none" strike="noStrike" dirty="0" err="1">
                <a:solidFill>
                  <a:srgbClr val="1B1C1D"/>
                </a:solidFill>
                <a:effectLst/>
                <a:latin typeface="Google Sans Text"/>
              </a:rPr>
              <a:t>LangChain</a:t>
            </a:r>
            <a:r>
              <a:rPr lang="en-US" sz="2000" b="1" i="0" u="none" strike="noStrike" dirty="0">
                <a:solidFill>
                  <a:srgbClr val="1B1C1D"/>
                </a:solidFill>
                <a:effectLst/>
                <a:latin typeface="Google Sans Text"/>
              </a:rPr>
              <a:t>. </a:t>
            </a:r>
            <a:r>
              <a:rPr lang="en-US" sz="2000" i="0" u="none" strike="noStrike" dirty="0">
                <a:solidFill>
                  <a:srgbClr val="1B1C1D"/>
                </a:solidFill>
                <a:effectLst/>
                <a:latin typeface="Google Sans Text"/>
              </a:rPr>
              <a:t>While we are building our own orchestrator for the main loop, </a:t>
            </a:r>
            <a:r>
              <a:rPr lang="en-US" sz="2000" i="0" u="none" strike="noStrike" dirty="0" err="1">
                <a:solidFill>
                  <a:srgbClr val="1B1C1D"/>
                </a:solidFill>
                <a:effectLst/>
                <a:latin typeface="Google Sans Text"/>
              </a:rPr>
              <a:t>LangChain</a:t>
            </a:r>
            <a:r>
              <a:rPr lang="en-US" sz="2000" i="0" u="none" strike="noStrike" dirty="0">
                <a:solidFill>
                  <a:srgbClr val="1B1C1D"/>
                </a:solidFill>
                <a:effectLst/>
                <a:latin typeface="Google Sans Text"/>
              </a:rPr>
              <a:t> provides excellent, battle-tested utility components for building RAG pipelines (like document loaders and text splitters). We can use these building blocks without adopting its entire agent framework.</a:t>
            </a:r>
            <a:endParaRPr lang="pl-PL" sz="2000" i="0" u="none" strike="noStrike" dirty="0">
              <a:solidFill>
                <a:srgbClr val="1B1C1D"/>
              </a:solidFill>
              <a:effectLst/>
              <a:latin typeface="Google Sans Text"/>
            </a:endParaRPr>
          </a:p>
          <a:p>
            <a:pPr marL="457200" indent="-457200" rtl="0" fontAlgn="base">
              <a:spcBef>
                <a:spcPts val="0"/>
              </a:spcBef>
              <a:spcAft>
                <a:spcPts val="0"/>
              </a:spcAft>
              <a:buFont typeface="+mj-lt"/>
              <a:buAutoNum type="arabicPeriod"/>
            </a:pPr>
            <a:r>
              <a:rPr lang="en-US" sz="2000" b="1" i="0" u="none" strike="noStrike" dirty="0">
                <a:solidFill>
                  <a:srgbClr val="1B1C1D"/>
                </a:solidFill>
                <a:effectLst/>
                <a:latin typeface="Google Sans Text"/>
              </a:rPr>
              <a:t>PDF Loading: </a:t>
            </a:r>
            <a:r>
              <a:rPr lang="en-US" sz="2000" b="1" i="0" u="none" strike="noStrike" dirty="0" err="1">
                <a:solidFill>
                  <a:srgbClr val="1B1C1D"/>
                </a:solidFill>
                <a:effectLst/>
                <a:latin typeface="Google Sans Text"/>
              </a:rPr>
              <a:t>PyMuPDF</a:t>
            </a:r>
            <a:r>
              <a:rPr lang="en-US" sz="2000" b="1" i="0" u="none" strike="noStrike" dirty="0">
                <a:solidFill>
                  <a:srgbClr val="1B1C1D"/>
                </a:solidFill>
                <a:effectLst/>
                <a:latin typeface="Google Sans Text"/>
              </a:rPr>
              <a:t>. </a:t>
            </a:r>
            <a:r>
              <a:rPr lang="en-US" sz="2000" i="0" u="none" strike="noStrike" dirty="0">
                <a:solidFill>
                  <a:srgbClr val="1B1C1D"/>
                </a:solidFill>
                <a:effectLst/>
                <a:latin typeface="Google Sans Text"/>
              </a:rPr>
              <a:t>This is a dependency often used by </a:t>
            </a:r>
            <a:r>
              <a:rPr lang="en-US" sz="2000" i="0" u="none" strike="noStrike" dirty="0" err="1">
                <a:solidFill>
                  <a:srgbClr val="1B1C1D"/>
                </a:solidFill>
                <a:effectLst/>
                <a:latin typeface="Google Sans Text"/>
              </a:rPr>
              <a:t>LangChain's</a:t>
            </a:r>
            <a:r>
              <a:rPr lang="en-US" sz="2000" i="0" u="none" strike="noStrike" dirty="0">
                <a:solidFill>
                  <a:srgbClr val="1B1C1D"/>
                </a:solidFill>
                <a:effectLst/>
                <a:latin typeface="Google Sans Text"/>
              </a:rPr>
              <a:t> PDF loaders and is very robust.</a:t>
            </a:r>
            <a:endParaRPr lang="pl-PL" sz="2000" i="0" u="none" strike="noStrike" dirty="0">
              <a:solidFill>
                <a:srgbClr val="1B1C1D"/>
              </a:solidFill>
              <a:effectLst/>
              <a:latin typeface="Google Sans Text"/>
            </a:endParaRPr>
          </a:p>
          <a:p>
            <a:pPr marL="457200" indent="-457200" rtl="0" fontAlgn="base">
              <a:spcBef>
                <a:spcPts val="0"/>
              </a:spcBef>
              <a:spcAft>
                <a:spcPts val="0"/>
              </a:spcAft>
              <a:buFont typeface="+mj-lt"/>
              <a:buAutoNum type="arabicPeriod"/>
            </a:pPr>
            <a:r>
              <a:rPr lang="en-US" sz="2000" b="1" i="0" u="none" strike="noStrike" dirty="0">
                <a:solidFill>
                  <a:srgbClr val="1B1C1D"/>
                </a:solidFill>
                <a:effectLst/>
                <a:latin typeface="Google Sans Text"/>
              </a:rPr>
              <a:t>Embedding Model: sentence-transformers (via Hugging Face). </a:t>
            </a:r>
            <a:r>
              <a:rPr lang="en-US" sz="2000" i="0" u="none" strike="noStrike" dirty="0">
                <a:solidFill>
                  <a:srgbClr val="1B1C1D"/>
                </a:solidFill>
                <a:effectLst/>
                <a:latin typeface="Google Sans Text"/>
              </a:rPr>
              <a:t>This library provides access to state-of-the-art, free, and locally runnable models for converting text into embeddings. A great starting model is </a:t>
            </a:r>
            <a:r>
              <a:rPr lang="en-US" sz="2000" b="1" i="0" u="none" strike="noStrike" dirty="0">
                <a:solidFill>
                  <a:srgbClr val="1B1C1D"/>
                </a:solidFill>
                <a:effectLst/>
                <a:latin typeface="Google Sans Text"/>
              </a:rPr>
              <a:t>all-MiniLM-L6-v2</a:t>
            </a:r>
            <a:r>
              <a:rPr lang="en-US" sz="2000" i="0" u="none" strike="noStrike" dirty="0">
                <a:solidFill>
                  <a:srgbClr val="1B1C1D"/>
                </a:solidFill>
                <a:effectLst/>
                <a:latin typeface="Google Sans Text"/>
              </a:rPr>
              <a:t>.</a:t>
            </a:r>
            <a:endParaRPr lang="pl-PL" sz="2000" i="0" u="none" strike="noStrike" dirty="0">
              <a:solidFill>
                <a:srgbClr val="1B1C1D"/>
              </a:solidFill>
              <a:effectLst/>
              <a:latin typeface="Google Sans Text"/>
            </a:endParaRPr>
          </a:p>
          <a:p>
            <a:pPr marL="457200" indent="-457200" rtl="0" fontAlgn="base">
              <a:spcBef>
                <a:spcPts val="0"/>
              </a:spcBef>
              <a:spcAft>
                <a:spcPts val="0"/>
              </a:spcAft>
              <a:buFont typeface="+mj-lt"/>
              <a:buAutoNum type="arabicPeriod"/>
            </a:pPr>
            <a:r>
              <a:rPr lang="en-US" sz="2000" b="1" i="0" u="none" strike="noStrike" dirty="0">
                <a:solidFill>
                  <a:srgbClr val="1B1C1D"/>
                </a:solidFill>
                <a:effectLst/>
                <a:latin typeface="Google Sans Text"/>
              </a:rPr>
              <a:t>Vector Database: </a:t>
            </a:r>
            <a:r>
              <a:rPr lang="en-US" sz="2000" b="1" i="0" u="none" strike="noStrike" dirty="0" err="1">
                <a:solidFill>
                  <a:srgbClr val="1B1C1D"/>
                </a:solidFill>
                <a:effectLst/>
                <a:latin typeface="Google Sans Text"/>
              </a:rPr>
              <a:t>ChromaDB</a:t>
            </a:r>
            <a:r>
              <a:rPr lang="en-US" sz="2000" b="1" i="0" u="none" strike="noStrike" dirty="0">
                <a:solidFill>
                  <a:srgbClr val="1B1C1D"/>
                </a:solidFill>
                <a:effectLst/>
                <a:latin typeface="Google Sans Text"/>
              </a:rPr>
              <a:t>. </a:t>
            </a:r>
            <a:r>
              <a:rPr lang="en-US" sz="2000" i="0" u="none" strike="noStrike" dirty="0">
                <a:solidFill>
                  <a:srgbClr val="1B1C1D"/>
                </a:solidFill>
                <a:effectLst/>
                <a:latin typeface="Google Sans Text"/>
              </a:rPr>
              <a:t>This is a fantastic open-source vector database that is incredibly easy to set up because it can run entirely in-memory or be persisted to a folder on your disk, requiring no separate server.</a:t>
            </a:r>
            <a:endParaRPr lang="pl-PL" sz="2000" i="0" u="none" strike="noStrike" dirty="0">
              <a:solidFill>
                <a:srgbClr val="1B1C1D"/>
              </a:solidFill>
              <a:effectLst/>
              <a:latin typeface="Google Sans Text"/>
            </a:endParaRPr>
          </a:p>
          <a:p>
            <a:pPr marL="457200" indent="-457200" rtl="0" fontAlgn="base">
              <a:spcBef>
                <a:spcPts val="0"/>
              </a:spcBef>
              <a:spcAft>
                <a:spcPts val="0"/>
              </a:spcAft>
              <a:buFont typeface="+mj-lt"/>
              <a:buAutoNum type="arabicPeriod"/>
            </a:pPr>
            <a:endParaRPr lang="pl-PL" sz="2000" dirty="0">
              <a:solidFill>
                <a:srgbClr val="1B1C1D"/>
              </a:solidFill>
              <a:latin typeface="Google Sans"/>
            </a:endParaRPr>
          </a:p>
          <a:p>
            <a:pPr rtl="0" fontAlgn="base">
              <a:spcBef>
                <a:spcPts val="0"/>
              </a:spcBef>
              <a:spcAft>
                <a:spcPts val="0"/>
              </a:spcAft>
            </a:pPr>
            <a:r>
              <a:rPr lang="en-US" sz="2000" i="0" u="none" strike="noStrike" dirty="0">
                <a:solidFill>
                  <a:srgbClr val="000000"/>
                </a:solidFill>
                <a:effectLst/>
                <a:latin typeface="Google Sans"/>
              </a:rPr>
              <a:t>After I run this script once, I will have a </a:t>
            </a:r>
            <a:r>
              <a:rPr lang="en-US" sz="2000" i="0" u="none" strike="noStrike" dirty="0" err="1">
                <a:solidFill>
                  <a:srgbClr val="000000"/>
                </a:solidFill>
                <a:effectLst/>
                <a:latin typeface="Courier New" panose="02070309020205020404" pitchFamily="49" charset="0"/>
                <a:cs typeface="Courier New" panose="02070309020205020404" pitchFamily="49" charset="0"/>
              </a:rPr>
              <a:t>vector_store</a:t>
            </a:r>
            <a:r>
              <a:rPr lang="en-US" sz="2000" i="0" u="none" strike="noStrike" dirty="0">
                <a:solidFill>
                  <a:srgbClr val="000000"/>
                </a:solidFill>
                <a:effectLst/>
                <a:latin typeface="Courier New" panose="02070309020205020404" pitchFamily="49" charset="0"/>
                <a:cs typeface="Courier New" panose="02070309020205020404" pitchFamily="49" charset="0"/>
              </a:rPr>
              <a:t> </a:t>
            </a:r>
            <a:r>
              <a:rPr lang="en-US" sz="2000" i="0" u="none" strike="noStrike" dirty="0">
                <a:solidFill>
                  <a:srgbClr val="000000"/>
                </a:solidFill>
                <a:effectLst/>
                <a:latin typeface="Google Sans"/>
              </a:rPr>
              <a:t>folder on my disk. The </a:t>
            </a:r>
            <a:r>
              <a:rPr lang="en-US" sz="2000" i="0" u="none" strike="noStrike" dirty="0" err="1">
                <a:solidFill>
                  <a:srgbClr val="000000"/>
                </a:solidFill>
                <a:effectLst/>
                <a:latin typeface="Google Sans"/>
              </a:rPr>
              <a:t>LLMOrchestrator</a:t>
            </a:r>
            <a:r>
              <a:rPr lang="en-US" sz="2000" i="0" u="none" strike="noStrike" dirty="0">
                <a:solidFill>
                  <a:srgbClr val="000000"/>
                </a:solidFill>
                <a:effectLst/>
                <a:latin typeface="Google Sans"/>
              </a:rPr>
              <a:t> will not rebuild this. It will simply load it.</a:t>
            </a:r>
            <a:r>
              <a:rPr lang="pl-PL" sz="2000" i="0" u="none" strike="noStrike" dirty="0">
                <a:solidFill>
                  <a:srgbClr val="000000"/>
                </a:solidFill>
                <a:effectLst/>
                <a:latin typeface="Google Sans"/>
              </a:rPr>
              <a:t> </a:t>
            </a:r>
            <a:r>
              <a:rPr lang="en-US" sz="2000" i="0" u="none" strike="noStrike" dirty="0">
                <a:solidFill>
                  <a:srgbClr val="000000"/>
                </a:solidFill>
                <a:effectLst/>
                <a:latin typeface="Google Sans"/>
              </a:rPr>
              <a:t>Then, whenever the orchestrator needs to search for context, it would just call </a:t>
            </a:r>
            <a:r>
              <a:rPr lang="en-US" sz="2000" i="0" u="none" strike="noStrike" dirty="0" err="1">
                <a:solidFill>
                  <a:srgbClr val="000000"/>
                </a:solidFill>
                <a:effectLst/>
                <a:latin typeface="Courier New" panose="02070309020205020404" pitchFamily="49" charset="0"/>
                <a:cs typeface="Courier New" panose="02070309020205020404" pitchFamily="49" charset="0"/>
              </a:rPr>
              <a:t>self.rag_retriever.get_relevant_documents</a:t>
            </a:r>
            <a:r>
              <a:rPr lang="en-US" sz="2000" i="0" u="none" strike="noStrike" dirty="0">
                <a:solidFill>
                  <a:srgbClr val="000000"/>
                </a:solidFill>
                <a:effectLst/>
                <a:latin typeface="Courier New" panose="02070309020205020404" pitchFamily="49" charset="0"/>
                <a:cs typeface="Courier New" panose="02070309020205020404" pitchFamily="49" charset="0"/>
              </a:rPr>
              <a:t>(query).</a:t>
            </a:r>
          </a:p>
          <a:p>
            <a:pPr rtl="0" fontAlgn="base">
              <a:spcBef>
                <a:spcPts val="0"/>
              </a:spcBef>
              <a:spcAft>
                <a:spcPts val="0"/>
              </a:spcAft>
            </a:pPr>
            <a:endParaRPr lang="en-US" sz="2000" i="0" u="none" strike="noStrike"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3539315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ole tekstowe 4">
            <a:extLst>
              <a:ext uri="{FF2B5EF4-FFF2-40B4-BE49-F238E27FC236}">
                <a16:creationId xmlns:a16="http://schemas.microsoft.com/office/drawing/2014/main" id="{B3C834C9-D5E7-46C8-96BE-331BB8260282}"/>
              </a:ext>
            </a:extLst>
          </p:cNvPr>
          <p:cNvSpPr txBox="1"/>
          <p:nvPr/>
        </p:nvSpPr>
        <p:spPr>
          <a:xfrm>
            <a:off x="265042" y="258901"/>
            <a:ext cx="11754229" cy="5216813"/>
          </a:xfrm>
          <a:prstGeom prst="rect">
            <a:avLst/>
          </a:prstGeom>
          <a:noFill/>
        </p:spPr>
        <p:txBody>
          <a:bodyPr wrap="square">
            <a:spAutoFit/>
          </a:bodyPr>
          <a:lstStyle/>
          <a:p>
            <a:pPr rtl="0">
              <a:spcBef>
                <a:spcPts val="600"/>
              </a:spcBef>
              <a:spcAft>
                <a:spcPts val="600"/>
              </a:spcAft>
            </a:pPr>
            <a:r>
              <a:rPr lang="pl-PL" sz="2800" b="1" i="0" strike="noStrike" dirty="0">
                <a:solidFill>
                  <a:srgbClr val="1B1C1D"/>
                </a:solidFill>
                <a:effectLst/>
                <a:latin typeface="Google Sans"/>
              </a:rPr>
              <a:t>15</a:t>
            </a:r>
            <a:r>
              <a:rPr lang="en-US" sz="2800" b="1" i="0" strike="noStrike" dirty="0">
                <a:solidFill>
                  <a:srgbClr val="1B1C1D"/>
                </a:solidFill>
                <a:effectLst/>
                <a:latin typeface="Google Sans"/>
              </a:rPr>
              <a:t>. </a:t>
            </a:r>
            <a:r>
              <a:rPr lang="pl-PL" sz="2800" b="1" i="0" strike="noStrike" dirty="0" err="1">
                <a:solidFill>
                  <a:srgbClr val="1B1C1D"/>
                </a:solidFill>
                <a:effectLst/>
                <a:latin typeface="Google Sans"/>
              </a:rPr>
              <a:t>Quantitative</a:t>
            </a:r>
            <a:r>
              <a:rPr lang="pl-PL" sz="2800" b="1" i="0" strike="noStrike" dirty="0">
                <a:solidFill>
                  <a:srgbClr val="1B1C1D"/>
                </a:solidFill>
                <a:effectLst/>
                <a:latin typeface="Google Sans"/>
              </a:rPr>
              <a:t> </a:t>
            </a:r>
            <a:r>
              <a:rPr lang="pl-PL" sz="2800" b="1" i="0" strike="noStrike" dirty="0" err="1">
                <a:solidFill>
                  <a:srgbClr val="1B1C1D"/>
                </a:solidFill>
                <a:effectLst/>
                <a:latin typeface="Google Sans"/>
              </a:rPr>
              <a:t>parameterization</a:t>
            </a:r>
            <a:r>
              <a:rPr lang="pl-PL" sz="2800" b="1" i="0" strike="noStrike" dirty="0">
                <a:solidFill>
                  <a:srgbClr val="1B1C1D"/>
                </a:solidFill>
                <a:effectLst/>
                <a:latin typeface="Google Sans"/>
              </a:rPr>
              <a:t> module</a:t>
            </a:r>
            <a:endParaRPr lang="en-US" sz="2800" b="1" dirty="0">
              <a:effectLst/>
            </a:endParaRPr>
          </a:p>
          <a:p>
            <a:r>
              <a:rPr lang="pl-PL" sz="2000" dirty="0"/>
              <a:t>T</a:t>
            </a:r>
            <a:r>
              <a:rPr lang="en-US" sz="2000" dirty="0"/>
              <a:t>he Quantitative Parameterization Module cannot be a simple, one-size-fits-all function. It needs to be context-aware.</a:t>
            </a:r>
            <a:r>
              <a:rPr lang="pl-PL" sz="2000" dirty="0"/>
              <a:t> </a:t>
            </a:r>
            <a:r>
              <a:rPr lang="en-US" sz="2000" dirty="0"/>
              <a:t>The best conceptual approach is to design this module as a </a:t>
            </a:r>
            <a:r>
              <a:rPr lang="en-US" sz="2000" b="1" dirty="0"/>
              <a:t>Dispatcher with Specialized Handlers</a:t>
            </a:r>
            <a:r>
              <a:rPr lang="en-US" sz="2000" dirty="0"/>
              <a:t>. This is a clean, scalable, and powerful software design pattern.</a:t>
            </a:r>
          </a:p>
          <a:p>
            <a:pPr rtl="0" fontAlgn="base">
              <a:spcBef>
                <a:spcPts val="0"/>
              </a:spcBef>
              <a:spcAft>
                <a:spcPts val="0"/>
              </a:spcAft>
            </a:pPr>
            <a:endParaRPr lang="pl-PL" sz="2000" i="0" u="none" strike="noStrike" dirty="0">
              <a:solidFill>
                <a:srgbClr val="000000"/>
              </a:solidFill>
              <a:effectLst/>
              <a:latin typeface="Arial" panose="020B0604020202020204" pitchFamily="34" charset="0"/>
            </a:endParaRPr>
          </a:p>
          <a:p>
            <a:pPr rtl="0" fontAlgn="base">
              <a:spcBef>
                <a:spcPts val="0"/>
              </a:spcBef>
              <a:spcAft>
                <a:spcPts val="0"/>
              </a:spcAft>
            </a:pPr>
            <a:r>
              <a:rPr lang="en-US" sz="2000" b="1" i="0" u="none" strike="noStrike" dirty="0">
                <a:solidFill>
                  <a:srgbClr val="000000"/>
                </a:solidFill>
                <a:effectLst/>
              </a:rPr>
              <a:t>The Core Concept: A Dispatcher Pattern</a:t>
            </a:r>
            <a:endParaRPr lang="pl-PL" sz="2000" b="1" i="0" u="none" strike="noStrike" dirty="0">
              <a:solidFill>
                <a:srgbClr val="000000"/>
              </a:solidFill>
              <a:effectLst/>
            </a:endParaRPr>
          </a:p>
          <a:p>
            <a:pPr rtl="0" fontAlgn="base">
              <a:spcBef>
                <a:spcPts val="0"/>
              </a:spcBef>
              <a:spcAft>
                <a:spcPts val="0"/>
              </a:spcAft>
            </a:pPr>
            <a:endParaRPr lang="pl-PL" sz="2000" dirty="0">
              <a:solidFill>
                <a:srgbClr val="000000"/>
              </a:solidFill>
            </a:endParaRPr>
          </a:p>
          <a:p>
            <a:pPr rtl="0" fontAlgn="base">
              <a:spcBef>
                <a:spcPts val="0"/>
              </a:spcBef>
              <a:spcAft>
                <a:spcPts val="0"/>
              </a:spcAft>
            </a:pPr>
            <a:r>
              <a:rPr lang="en-US" sz="2000" i="0" u="none" strike="noStrike" dirty="0">
                <a:solidFill>
                  <a:srgbClr val="000000"/>
                </a:solidFill>
                <a:effectLst/>
              </a:rPr>
              <a:t>Instead of one giant function with complex </a:t>
            </a:r>
            <a:r>
              <a:rPr lang="en-US" sz="2000" i="0" u="none" strike="noStrike" dirty="0">
                <a:solidFill>
                  <a:srgbClr val="000000"/>
                </a:solidFill>
                <a:effectLst/>
                <a:latin typeface="Courier New" panose="02070309020205020404" pitchFamily="49" charset="0"/>
                <a:cs typeface="Courier New" panose="02070309020205020404" pitchFamily="49" charset="0"/>
              </a:rPr>
              <a:t>if/else </a:t>
            </a:r>
            <a:r>
              <a:rPr lang="en-US" sz="2000" i="0" u="none" strike="noStrike" dirty="0">
                <a:solidFill>
                  <a:srgbClr val="000000"/>
                </a:solidFill>
                <a:effectLst/>
              </a:rPr>
              <a:t>logic, we create:</a:t>
            </a:r>
            <a:endParaRPr lang="pl-PL" sz="2000" i="0" u="none" strike="noStrike" dirty="0">
              <a:solidFill>
                <a:srgbClr val="000000"/>
              </a:solidFill>
              <a:effectLst/>
            </a:endParaRPr>
          </a:p>
          <a:p>
            <a:pPr rtl="0" fontAlgn="base">
              <a:spcBef>
                <a:spcPts val="0"/>
              </a:spcBef>
              <a:spcAft>
                <a:spcPts val="0"/>
              </a:spcAft>
            </a:pPr>
            <a:endParaRPr lang="pl-PL" sz="2000" dirty="0">
              <a:solidFill>
                <a:srgbClr val="000000"/>
              </a:solidFill>
            </a:endParaRPr>
          </a:p>
          <a:p>
            <a:pPr marL="457200" indent="-457200" rtl="0" fontAlgn="base">
              <a:spcBef>
                <a:spcPts val="0"/>
              </a:spcBef>
              <a:spcAft>
                <a:spcPts val="0"/>
              </a:spcAft>
              <a:buFont typeface="+mj-lt"/>
              <a:buAutoNum type="arabicPeriod"/>
            </a:pPr>
            <a:r>
              <a:rPr lang="en-US" sz="2000" b="1" i="0" u="none" strike="noStrike" dirty="0">
                <a:solidFill>
                  <a:srgbClr val="000000"/>
                </a:solidFill>
                <a:effectLst/>
              </a:rPr>
              <a:t>A single entry point (the Dispatcher):</a:t>
            </a:r>
            <a:r>
              <a:rPr lang="en-US" sz="2000" i="0" u="none" strike="noStrike" dirty="0">
                <a:solidFill>
                  <a:srgbClr val="000000"/>
                </a:solidFill>
                <a:effectLst/>
              </a:rPr>
              <a:t> A main function, let's call it </a:t>
            </a:r>
            <a:r>
              <a:rPr lang="en-US" sz="2000" i="0" u="none" strike="noStrike" dirty="0" err="1">
                <a:solidFill>
                  <a:srgbClr val="000000"/>
                </a:solidFill>
                <a:effectLst/>
                <a:latin typeface="Courier New" panose="02070309020205020404" pitchFamily="49" charset="0"/>
                <a:cs typeface="Courier New" panose="02070309020205020404" pitchFamily="49" charset="0"/>
              </a:rPr>
              <a:t>calculate_quantitative_metrics</a:t>
            </a:r>
            <a:r>
              <a:rPr lang="en-US" sz="2000" i="0" u="none" strike="noStrike" dirty="0">
                <a:solidFill>
                  <a:srgbClr val="000000"/>
                </a:solidFill>
                <a:effectLst/>
              </a:rPr>
              <a:t>. Its only job is to look at the type or domain of the incoming data and route it to the correct specialized function.</a:t>
            </a:r>
            <a:endParaRPr lang="pl-PL" sz="2000" i="0" u="none" strike="noStrike" dirty="0">
              <a:solidFill>
                <a:srgbClr val="000000"/>
              </a:solidFill>
              <a:effectLst/>
            </a:endParaRPr>
          </a:p>
          <a:p>
            <a:pPr marL="457200" indent="-457200" rtl="0" fontAlgn="base">
              <a:spcBef>
                <a:spcPts val="0"/>
              </a:spcBef>
              <a:spcAft>
                <a:spcPts val="0"/>
              </a:spcAft>
              <a:buFont typeface="+mj-lt"/>
              <a:buAutoNum type="arabicPeriod"/>
            </a:pPr>
            <a:endParaRPr lang="pl-PL" sz="2000" i="0" u="none" strike="noStrike" dirty="0">
              <a:solidFill>
                <a:srgbClr val="000000"/>
              </a:solidFill>
              <a:effectLst/>
            </a:endParaRPr>
          </a:p>
          <a:p>
            <a:pPr marL="457200" indent="-457200" rtl="0" fontAlgn="base">
              <a:spcBef>
                <a:spcPts val="0"/>
              </a:spcBef>
              <a:spcAft>
                <a:spcPts val="0"/>
              </a:spcAft>
              <a:buFont typeface="+mj-lt"/>
              <a:buAutoNum type="arabicPeriod"/>
            </a:pPr>
            <a:r>
              <a:rPr lang="en-US" sz="2000" b="1" i="0" u="none" strike="noStrike" dirty="0">
                <a:solidFill>
                  <a:srgbClr val="000000"/>
                </a:solidFill>
                <a:effectLst/>
              </a:rPr>
              <a:t>Multiple Specialized Functions (the Handlers): </a:t>
            </a:r>
            <a:r>
              <a:rPr lang="pl-PL" sz="2000" i="0" u="none" strike="noStrike" dirty="0">
                <a:solidFill>
                  <a:srgbClr val="000000"/>
                </a:solidFill>
                <a:effectLst/>
              </a:rPr>
              <a:t>I</a:t>
            </a:r>
            <a:r>
              <a:rPr lang="en-US" sz="2000" i="0" u="none" strike="noStrike" dirty="0">
                <a:solidFill>
                  <a:srgbClr val="000000"/>
                </a:solidFill>
                <a:effectLst/>
              </a:rPr>
              <a:t> will have a separate</a:t>
            </a:r>
            <a:r>
              <a:rPr lang="pl-PL" sz="2000" i="0" u="none" strike="noStrike" dirty="0">
                <a:solidFill>
                  <a:srgbClr val="000000"/>
                </a:solidFill>
                <a:effectLst/>
              </a:rPr>
              <a:t> </a:t>
            </a:r>
            <a:r>
              <a:rPr lang="en-US" sz="2000" i="0" u="none" strike="noStrike" dirty="0">
                <a:solidFill>
                  <a:srgbClr val="000000"/>
                </a:solidFill>
                <a:effectLst/>
              </a:rPr>
              <a:t>function for each type of data </a:t>
            </a:r>
            <a:r>
              <a:rPr lang="pl-PL" sz="2000" i="0" u="none" strike="noStrike" dirty="0">
                <a:solidFill>
                  <a:srgbClr val="000000"/>
                </a:solidFill>
                <a:effectLst/>
              </a:rPr>
              <a:t>I</a:t>
            </a:r>
            <a:r>
              <a:rPr lang="en-US" sz="2000" i="0" u="none" strike="noStrike" dirty="0">
                <a:solidFill>
                  <a:srgbClr val="000000"/>
                </a:solidFill>
                <a:effectLst/>
              </a:rPr>
              <a:t> expect to analyze (e.g., </a:t>
            </a:r>
            <a:r>
              <a:rPr lang="en-US" sz="2000" i="0" u="none" strike="noStrike" dirty="0">
                <a:solidFill>
                  <a:srgbClr val="000000"/>
                </a:solidFill>
                <a:effectLst/>
                <a:latin typeface="Courier New" panose="02070309020205020404" pitchFamily="49" charset="0"/>
                <a:cs typeface="Courier New" panose="02070309020205020404" pitchFamily="49" charset="0"/>
              </a:rPr>
              <a:t>_</a:t>
            </a:r>
            <a:r>
              <a:rPr lang="en-US" sz="2000" i="0" u="none" strike="noStrike" dirty="0" err="1">
                <a:solidFill>
                  <a:srgbClr val="000000"/>
                </a:solidFill>
                <a:effectLst/>
                <a:latin typeface="Courier New" panose="02070309020205020404" pitchFamily="49" charset="0"/>
                <a:cs typeface="Courier New" panose="02070309020205020404" pitchFamily="49" charset="0"/>
              </a:rPr>
              <a:t>calculate_timeseries_stats</a:t>
            </a:r>
            <a:r>
              <a:rPr lang="en-US" sz="2000" i="0" u="none" strike="noStrike" dirty="0">
                <a:solidFill>
                  <a:srgbClr val="000000"/>
                </a:solidFill>
                <a:effectLst/>
                <a:latin typeface="Courier New" panose="02070309020205020404" pitchFamily="49" charset="0"/>
                <a:cs typeface="Courier New" panose="02070309020205020404" pitchFamily="49" charset="0"/>
              </a:rPr>
              <a:t>, _</a:t>
            </a:r>
            <a:r>
              <a:rPr lang="en-US" sz="2000" i="0" u="none" strike="noStrike" dirty="0" err="1">
                <a:solidFill>
                  <a:srgbClr val="000000"/>
                </a:solidFill>
                <a:effectLst/>
                <a:latin typeface="Courier New" panose="02070309020205020404" pitchFamily="49" charset="0"/>
                <a:cs typeface="Courier New" panose="02070309020205020404" pitchFamily="49" charset="0"/>
              </a:rPr>
              <a:t>calculate_spectrogram_stats</a:t>
            </a:r>
            <a:r>
              <a:rPr lang="en-US" sz="2000" i="0" u="none" strike="noStrike" dirty="0">
                <a:solidFill>
                  <a:srgbClr val="000000"/>
                </a:solidFill>
                <a:effectLst/>
              </a:rPr>
              <a:t>). Each handler knows exactly what metrics are relevant for its specific data type.</a:t>
            </a:r>
          </a:p>
        </p:txBody>
      </p:sp>
    </p:spTree>
    <p:extLst>
      <p:ext uri="{BB962C8B-B14F-4D97-AF65-F5344CB8AC3E}">
        <p14:creationId xmlns:p14="http://schemas.microsoft.com/office/powerpoint/2010/main" val="20560774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ole tekstowe 4">
            <a:extLst>
              <a:ext uri="{FF2B5EF4-FFF2-40B4-BE49-F238E27FC236}">
                <a16:creationId xmlns:a16="http://schemas.microsoft.com/office/drawing/2014/main" id="{B3C834C9-D5E7-46C8-96BE-331BB8260282}"/>
              </a:ext>
            </a:extLst>
          </p:cNvPr>
          <p:cNvSpPr txBox="1"/>
          <p:nvPr/>
        </p:nvSpPr>
        <p:spPr>
          <a:xfrm>
            <a:off x="265042" y="258901"/>
            <a:ext cx="11754229" cy="5940088"/>
          </a:xfrm>
          <a:prstGeom prst="rect">
            <a:avLst/>
          </a:prstGeom>
          <a:noFill/>
        </p:spPr>
        <p:txBody>
          <a:bodyPr wrap="square">
            <a:spAutoFit/>
          </a:bodyPr>
          <a:lstStyle/>
          <a:p>
            <a:pPr rtl="0">
              <a:spcBef>
                <a:spcPts val="600"/>
              </a:spcBef>
              <a:spcAft>
                <a:spcPts val="600"/>
              </a:spcAft>
            </a:pPr>
            <a:r>
              <a:rPr lang="pl-PL" sz="2800" b="1" i="0" strike="noStrike" dirty="0">
                <a:solidFill>
                  <a:srgbClr val="1B1C1D"/>
                </a:solidFill>
                <a:effectLst/>
                <a:latin typeface="Google Sans"/>
              </a:rPr>
              <a:t>15</a:t>
            </a:r>
            <a:r>
              <a:rPr lang="en-US" sz="2800" b="1" i="0" strike="noStrike" dirty="0">
                <a:solidFill>
                  <a:srgbClr val="1B1C1D"/>
                </a:solidFill>
                <a:effectLst/>
                <a:latin typeface="Google Sans"/>
              </a:rPr>
              <a:t>. </a:t>
            </a:r>
            <a:r>
              <a:rPr lang="pl-PL" sz="2800" b="1" i="0" strike="noStrike" dirty="0" err="1">
                <a:solidFill>
                  <a:srgbClr val="1B1C1D"/>
                </a:solidFill>
                <a:effectLst/>
                <a:latin typeface="Google Sans"/>
              </a:rPr>
              <a:t>Quantitative</a:t>
            </a:r>
            <a:r>
              <a:rPr lang="pl-PL" sz="2800" b="1" i="0" strike="noStrike" dirty="0">
                <a:solidFill>
                  <a:srgbClr val="1B1C1D"/>
                </a:solidFill>
                <a:effectLst/>
                <a:latin typeface="Google Sans"/>
              </a:rPr>
              <a:t> </a:t>
            </a:r>
            <a:r>
              <a:rPr lang="pl-PL" sz="2800" b="1" i="0" strike="noStrike" dirty="0" err="1">
                <a:solidFill>
                  <a:srgbClr val="1B1C1D"/>
                </a:solidFill>
                <a:effectLst/>
                <a:latin typeface="Google Sans"/>
              </a:rPr>
              <a:t>parameterization</a:t>
            </a:r>
            <a:r>
              <a:rPr lang="pl-PL" sz="2800" b="1" i="0" strike="noStrike" dirty="0">
                <a:solidFill>
                  <a:srgbClr val="1B1C1D"/>
                </a:solidFill>
                <a:effectLst/>
                <a:latin typeface="Google Sans"/>
              </a:rPr>
              <a:t> module</a:t>
            </a:r>
          </a:p>
          <a:p>
            <a:pPr rtl="0">
              <a:spcBef>
                <a:spcPts val="600"/>
              </a:spcBef>
              <a:spcAft>
                <a:spcPts val="600"/>
              </a:spcAft>
            </a:pPr>
            <a:r>
              <a:rPr lang="en-US" sz="2000" b="1" dirty="0">
                <a:effectLst/>
              </a:rPr>
              <a:t>How Does the Dispatcher Know What to Do?</a:t>
            </a:r>
            <a:endParaRPr lang="pl-PL" sz="2000" b="1" dirty="0">
              <a:effectLst/>
            </a:endParaRPr>
          </a:p>
          <a:p>
            <a:pPr rtl="0">
              <a:spcBef>
                <a:spcPts val="600"/>
              </a:spcBef>
              <a:spcAft>
                <a:spcPts val="600"/>
              </a:spcAft>
            </a:pPr>
            <a:r>
              <a:rPr lang="en-US" sz="2000" dirty="0">
                <a:effectLst/>
              </a:rPr>
              <a:t>This is the key. </a:t>
            </a:r>
            <a:r>
              <a:rPr lang="pl-PL" sz="2000" dirty="0">
                <a:effectLst/>
              </a:rPr>
              <a:t>I</a:t>
            </a:r>
            <a:r>
              <a:rPr lang="en-US" sz="2000" dirty="0">
                <a:effectLst/>
              </a:rPr>
              <a:t> will leverage the Output Specification </a:t>
            </a:r>
            <a:r>
              <a:rPr lang="pl-PL" sz="2000" dirty="0">
                <a:effectLst/>
              </a:rPr>
              <a:t>I </a:t>
            </a:r>
            <a:r>
              <a:rPr lang="pl-PL" sz="2000" dirty="0" err="1">
                <a:effectLst/>
              </a:rPr>
              <a:t>designed</a:t>
            </a:r>
            <a:r>
              <a:rPr lang="pl-PL" sz="2000" dirty="0">
                <a:effectLst/>
              </a:rPr>
              <a:t> </a:t>
            </a:r>
            <a:r>
              <a:rPr lang="en-US" sz="2000" dirty="0">
                <a:effectLst/>
              </a:rPr>
              <a:t>for </a:t>
            </a:r>
            <a:r>
              <a:rPr lang="pl-PL" sz="2000" dirty="0">
                <a:effectLst/>
              </a:rPr>
              <a:t>my</a:t>
            </a:r>
            <a:r>
              <a:rPr lang="en-US" sz="2000" dirty="0">
                <a:effectLst/>
              </a:rPr>
              <a:t> tool documentation. When a tool like </a:t>
            </a:r>
            <a:r>
              <a:rPr lang="en-US" sz="2000" dirty="0" err="1">
                <a:effectLst/>
                <a:latin typeface="Courier New" panose="02070309020205020404" pitchFamily="49" charset="0"/>
                <a:cs typeface="Courier New" panose="02070309020205020404" pitchFamily="49" charset="0"/>
              </a:rPr>
              <a:t>create_signal_spectrogram</a:t>
            </a:r>
            <a:r>
              <a:rPr lang="en-US" sz="2000" dirty="0">
                <a:effectLst/>
                <a:latin typeface="Courier New" panose="02070309020205020404" pitchFamily="49" charset="0"/>
                <a:cs typeface="Courier New" panose="02070309020205020404" pitchFamily="49" charset="0"/>
              </a:rPr>
              <a:t> </a:t>
            </a:r>
            <a:r>
              <a:rPr lang="en-US" sz="2000" dirty="0">
                <a:effectLst/>
              </a:rPr>
              <a:t>returns its result, the dictionary it produces will not only contain the data but also a crucial piece of metadata: the domain.</a:t>
            </a:r>
            <a:endParaRPr lang="pl-PL" sz="2000" dirty="0">
              <a:effectLst/>
            </a:endParaRPr>
          </a:p>
          <a:p>
            <a:pPr rtl="0">
              <a:spcBef>
                <a:spcPts val="600"/>
              </a:spcBef>
              <a:spcAft>
                <a:spcPts val="600"/>
              </a:spcAft>
            </a:pPr>
            <a:r>
              <a:rPr lang="en-US" sz="2000" dirty="0">
                <a:effectLst/>
              </a:rPr>
              <a:t>Example Tool Output:</a:t>
            </a:r>
            <a:endParaRPr lang="pl-PL" sz="2000" dirty="0">
              <a:effectLst/>
            </a:endParaRPr>
          </a:p>
          <a:p>
            <a:pPr rtl="0">
              <a:spcBef>
                <a:spcPts val="600"/>
              </a:spcBef>
              <a:spcAft>
                <a:spcPts val="600"/>
              </a:spcAft>
            </a:pPr>
            <a:endParaRPr lang="pl-PL" sz="2000" dirty="0">
              <a:effectLst/>
            </a:endParaRPr>
          </a:p>
          <a:p>
            <a:pPr rtl="0"/>
            <a:r>
              <a:rPr lang="en-US" dirty="0">
                <a:effectLst/>
                <a:latin typeface="Courier New" panose="02070309020205020404" pitchFamily="49" charset="0"/>
                <a:cs typeface="Courier New" panose="02070309020205020404" pitchFamily="49" charset="0"/>
              </a:rPr>
              <a:t># Output from </a:t>
            </a:r>
            <a:r>
              <a:rPr lang="en-US" dirty="0" err="1">
                <a:effectLst/>
                <a:latin typeface="Courier New" panose="02070309020205020404" pitchFamily="49" charset="0"/>
                <a:cs typeface="Courier New" panose="02070309020205020404" pitchFamily="49" charset="0"/>
              </a:rPr>
              <a:t>tools.create_signal_spectrogram</a:t>
            </a:r>
            <a:r>
              <a:rPr lang="en-US" dirty="0">
                <a:effectLst/>
                <a:latin typeface="Courier New" panose="02070309020205020404" pitchFamily="49" charset="0"/>
                <a:cs typeface="Courier New" panose="02070309020205020404" pitchFamily="49" charset="0"/>
              </a:rPr>
              <a:t>(...)</a:t>
            </a:r>
            <a:endParaRPr lang="pl-PL" dirty="0">
              <a:effectLst/>
              <a:latin typeface="Courier New" panose="02070309020205020404" pitchFamily="49" charset="0"/>
              <a:cs typeface="Courier New" panose="02070309020205020404" pitchFamily="49" charset="0"/>
            </a:endParaRPr>
          </a:p>
          <a:p>
            <a:pPr rtl="0"/>
            <a:r>
              <a:rPr lang="en-US" dirty="0" err="1">
                <a:effectLst/>
                <a:latin typeface="Courier New" panose="02070309020205020404" pitchFamily="49" charset="0"/>
                <a:cs typeface="Courier New" panose="02070309020205020404" pitchFamily="49" charset="0"/>
              </a:rPr>
              <a:t>spectrogram_results</a:t>
            </a:r>
            <a:r>
              <a:rPr lang="en-US" dirty="0">
                <a:effectLst/>
                <a:latin typeface="Courier New" panose="02070309020205020404" pitchFamily="49" charset="0"/>
                <a:cs typeface="Courier New" panose="02070309020205020404" pitchFamily="49" charset="0"/>
              </a:rPr>
              <a:t> = {    </a:t>
            </a:r>
            <a:endParaRPr lang="pl-PL" dirty="0">
              <a:effectLst/>
              <a:latin typeface="Courier New" panose="02070309020205020404" pitchFamily="49" charset="0"/>
              <a:cs typeface="Courier New" panose="02070309020205020404" pitchFamily="49" charset="0"/>
            </a:endParaRPr>
          </a:p>
          <a:p>
            <a:pPr rtl="0"/>
            <a:r>
              <a:rPr lang="pl-PL" dirty="0">
                <a:effectLst/>
                <a:latin typeface="Courier New" panose="02070309020205020404" pitchFamily="49" charset="0"/>
                <a:cs typeface="Courier New" panose="02070309020205020404" pitchFamily="49" charset="0"/>
              </a:rPr>
              <a:t>	</a:t>
            </a:r>
            <a:r>
              <a:rPr lang="en-US" b="1" dirty="0">
                <a:effectLst/>
                <a:latin typeface="Courier New" panose="02070309020205020404" pitchFamily="49" charset="0"/>
                <a:cs typeface="Courier New" panose="02070309020205020404" pitchFamily="49" charset="0"/>
              </a:rPr>
              <a:t>'domain': 'time-frequency-matrix', # &lt;-- The key for </a:t>
            </a:r>
            <a:r>
              <a:rPr lang="pl-PL" b="1" dirty="0">
                <a:effectLst/>
                <a:latin typeface="Courier New" panose="02070309020205020404" pitchFamily="49" charset="0"/>
                <a:cs typeface="Courier New" panose="02070309020205020404" pitchFamily="49" charset="0"/>
              </a:rPr>
              <a:t>the</a:t>
            </a:r>
            <a:r>
              <a:rPr lang="en-US" b="1" dirty="0">
                <a:effectLst/>
                <a:latin typeface="Courier New" panose="02070309020205020404" pitchFamily="49" charset="0"/>
                <a:cs typeface="Courier New" panose="02070309020205020404" pitchFamily="49" charset="0"/>
              </a:rPr>
              <a:t> dispatcher!   </a:t>
            </a:r>
            <a:r>
              <a:rPr lang="en-US" dirty="0">
                <a:effectLst/>
                <a:latin typeface="Courier New" panose="02070309020205020404" pitchFamily="49" charset="0"/>
                <a:cs typeface="Courier New" panose="02070309020205020404" pitchFamily="49" charset="0"/>
              </a:rPr>
              <a:t> </a:t>
            </a:r>
            <a:endParaRPr lang="pl-PL" dirty="0">
              <a:effectLst/>
              <a:latin typeface="Courier New" panose="02070309020205020404" pitchFamily="49" charset="0"/>
              <a:cs typeface="Courier New" panose="02070309020205020404" pitchFamily="49" charset="0"/>
            </a:endParaRPr>
          </a:p>
          <a:p>
            <a:pPr rtl="0"/>
            <a:r>
              <a:rPr lang="pl-PL" dirty="0">
                <a:effectLst/>
                <a:latin typeface="Courier New" panose="02070309020205020404" pitchFamily="49" charset="0"/>
                <a:cs typeface="Courier New" panose="02070309020205020404" pitchFamily="49" charset="0"/>
              </a:rPr>
              <a:t>	</a:t>
            </a:r>
            <a:r>
              <a:rPr lang="en-US" dirty="0">
                <a:effectLst/>
                <a:latin typeface="Courier New" panose="02070309020205020404" pitchFamily="49" charset="0"/>
                <a:cs typeface="Courier New" panose="02070309020205020404" pitchFamily="49" charset="0"/>
              </a:rPr>
              <a:t>'frequencies': ...,    </a:t>
            </a:r>
            <a:endParaRPr lang="pl-PL" dirty="0">
              <a:effectLst/>
              <a:latin typeface="Courier New" panose="02070309020205020404" pitchFamily="49" charset="0"/>
              <a:cs typeface="Courier New" panose="02070309020205020404" pitchFamily="49" charset="0"/>
            </a:endParaRPr>
          </a:p>
          <a:p>
            <a:pPr rtl="0"/>
            <a:r>
              <a:rPr lang="pl-PL" dirty="0">
                <a:effectLst/>
                <a:latin typeface="Courier New" panose="02070309020205020404" pitchFamily="49" charset="0"/>
                <a:cs typeface="Courier New" panose="02070309020205020404" pitchFamily="49" charset="0"/>
              </a:rPr>
              <a:t>	</a:t>
            </a:r>
            <a:r>
              <a:rPr lang="en-US" dirty="0">
                <a:effectLst/>
                <a:latin typeface="Courier New" panose="02070309020205020404" pitchFamily="49" charset="0"/>
                <a:cs typeface="Courier New" panose="02070309020205020404" pitchFamily="49" charset="0"/>
              </a:rPr>
              <a:t>'times': ...,    </a:t>
            </a:r>
            <a:endParaRPr lang="pl-PL" dirty="0">
              <a:effectLst/>
              <a:latin typeface="Courier New" panose="02070309020205020404" pitchFamily="49" charset="0"/>
              <a:cs typeface="Courier New" panose="02070309020205020404" pitchFamily="49" charset="0"/>
            </a:endParaRPr>
          </a:p>
          <a:p>
            <a:pPr lvl="2"/>
            <a:r>
              <a:rPr lang="en-US" dirty="0">
                <a:effectLst/>
                <a:latin typeface="Courier New" panose="02070309020205020404" pitchFamily="49" charset="0"/>
                <a:cs typeface="Courier New" panose="02070309020205020404" pitchFamily="49" charset="0"/>
              </a:rPr>
              <a:t>'</a:t>
            </a:r>
            <a:r>
              <a:rPr lang="en-US" dirty="0" err="1">
                <a:effectLst/>
                <a:latin typeface="Courier New" panose="02070309020205020404" pitchFamily="49" charset="0"/>
                <a:cs typeface="Courier New" panose="02070309020205020404" pitchFamily="49" charset="0"/>
              </a:rPr>
              <a:t>Sxx_db</a:t>
            </a:r>
            <a:r>
              <a:rPr lang="en-US" dirty="0">
                <a:effectLst/>
                <a:latin typeface="Courier New" panose="02070309020205020404" pitchFamily="49" charset="0"/>
                <a:cs typeface="Courier New" panose="02070309020205020404" pitchFamily="49" charset="0"/>
              </a:rPr>
              <a:t>': </a:t>
            </a:r>
            <a:r>
              <a:rPr lang="en-US" dirty="0" err="1">
                <a:effectLst/>
                <a:latin typeface="Courier New" panose="02070309020205020404" pitchFamily="49" charset="0"/>
                <a:cs typeface="Courier New" panose="02070309020205020404" pitchFamily="49" charset="0"/>
              </a:rPr>
              <a:t>np.array</a:t>
            </a:r>
            <a:r>
              <a:rPr lang="en-US" dirty="0">
                <a:effectLst/>
                <a:latin typeface="Courier New" panose="02070309020205020404" pitchFamily="49" charset="0"/>
                <a:cs typeface="Courier New" panose="02070309020205020404" pitchFamily="49" charset="0"/>
              </a:rPr>
              <a:t>([...]),    </a:t>
            </a:r>
            <a:endParaRPr lang="pl-PL" dirty="0">
              <a:effectLst/>
              <a:latin typeface="Courier New" panose="02070309020205020404" pitchFamily="49" charset="0"/>
              <a:cs typeface="Courier New" panose="02070309020205020404" pitchFamily="49" charset="0"/>
            </a:endParaRPr>
          </a:p>
          <a:p>
            <a:pPr rtl="0"/>
            <a:r>
              <a:rPr lang="pl-PL" dirty="0">
                <a:effectLst/>
                <a:latin typeface="Courier New" panose="02070309020205020404" pitchFamily="49" charset="0"/>
                <a:cs typeface="Courier New" panose="02070309020205020404" pitchFamily="49" charset="0"/>
              </a:rPr>
              <a:t>	</a:t>
            </a:r>
            <a:r>
              <a:rPr lang="en-US" dirty="0">
                <a:effectLst/>
                <a:latin typeface="Courier New" panose="02070309020205020404" pitchFamily="49" charset="0"/>
                <a:cs typeface="Courier New" panose="02070309020205020404" pitchFamily="49" charset="0"/>
              </a:rPr>
              <a:t>'</a:t>
            </a:r>
            <a:r>
              <a:rPr lang="en-US" dirty="0" err="1">
                <a:effectLst/>
                <a:latin typeface="Courier New" panose="02070309020205020404" pitchFamily="49" charset="0"/>
                <a:cs typeface="Courier New" panose="02070309020205020404" pitchFamily="49" charset="0"/>
              </a:rPr>
              <a:t>image_path</a:t>
            </a:r>
            <a:r>
              <a:rPr lang="en-US" dirty="0">
                <a:effectLst/>
                <a:latin typeface="Courier New" panose="02070309020205020404" pitchFamily="49" charset="0"/>
                <a:cs typeface="Courier New" panose="02070309020205020404" pitchFamily="49" charset="0"/>
              </a:rPr>
              <a:t>': '...’</a:t>
            </a:r>
            <a:endParaRPr lang="pl-PL" dirty="0">
              <a:effectLst/>
              <a:latin typeface="Courier New" panose="02070309020205020404" pitchFamily="49" charset="0"/>
              <a:cs typeface="Courier New" panose="02070309020205020404" pitchFamily="49" charset="0"/>
            </a:endParaRPr>
          </a:p>
          <a:p>
            <a:pPr rtl="0"/>
            <a:r>
              <a:rPr lang="en-US" dirty="0">
                <a:effectLst/>
                <a:latin typeface="Courier New" panose="02070309020205020404" pitchFamily="49" charset="0"/>
                <a:cs typeface="Courier New" panose="02070309020205020404" pitchFamily="49" charset="0"/>
              </a:rPr>
              <a:t>}</a:t>
            </a:r>
            <a:endParaRPr lang="pl-PL" dirty="0">
              <a:effectLst/>
              <a:latin typeface="Courier New" panose="02070309020205020404" pitchFamily="49" charset="0"/>
              <a:cs typeface="Courier New" panose="02070309020205020404" pitchFamily="49" charset="0"/>
            </a:endParaRPr>
          </a:p>
          <a:p>
            <a:pPr rtl="0"/>
            <a:endParaRPr lang="pl-PL" dirty="0">
              <a:effectLst/>
              <a:latin typeface="Courier New" panose="02070309020205020404" pitchFamily="49" charset="0"/>
              <a:cs typeface="Courier New" panose="02070309020205020404" pitchFamily="49" charset="0"/>
            </a:endParaRPr>
          </a:p>
          <a:p>
            <a:pPr rtl="0">
              <a:spcBef>
                <a:spcPts val="600"/>
              </a:spcBef>
              <a:spcAft>
                <a:spcPts val="600"/>
              </a:spcAft>
            </a:pPr>
            <a:r>
              <a:rPr lang="en-US" sz="2000" dirty="0">
                <a:effectLst/>
              </a:rPr>
              <a:t>Now, the dispatcher has a clear, unambiguous signal to work with.</a:t>
            </a:r>
          </a:p>
        </p:txBody>
      </p:sp>
    </p:spTree>
    <p:extLst>
      <p:ext uri="{BB962C8B-B14F-4D97-AF65-F5344CB8AC3E}">
        <p14:creationId xmlns:p14="http://schemas.microsoft.com/office/powerpoint/2010/main" val="41053484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ole tekstowe 4">
            <a:extLst>
              <a:ext uri="{FF2B5EF4-FFF2-40B4-BE49-F238E27FC236}">
                <a16:creationId xmlns:a16="http://schemas.microsoft.com/office/drawing/2014/main" id="{B3C834C9-D5E7-46C8-96BE-331BB8260282}"/>
              </a:ext>
            </a:extLst>
          </p:cNvPr>
          <p:cNvSpPr txBox="1"/>
          <p:nvPr/>
        </p:nvSpPr>
        <p:spPr>
          <a:xfrm>
            <a:off x="265042" y="258901"/>
            <a:ext cx="11754229" cy="6063198"/>
          </a:xfrm>
          <a:prstGeom prst="rect">
            <a:avLst/>
          </a:prstGeom>
          <a:noFill/>
        </p:spPr>
        <p:txBody>
          <a:bodyPr wrap="square">
            <a:spAutoFit/>
          </a:bodyPr>
          <a:lstStyle/>
          <a:p>
            <a:pPr rtl="0">
              <a:spcBef>
                <a:spcPts val="600"/>
              </a:spcBef>
              <a:spcAft>
                <a:spcPts val="600"/>
              </a:spcAft>
            </a:pPr>
            <a:r>
              <a:rPr lang="pl-PL" sz="2800" b="1" i="0" strike="noStrike" dirty="0">
                <a:solidFill>
                  <a:srgbClr val="1B1C1D"/>
                </a:solidFill>
                <a:effectLst/>
                <a:latin typeface="Google Sans"/>
              </a:rPr>
              <a:t>15</a:t>
            </a:r>
            <a:r>
              <a:rPr lang="en-US" sz="2800" b="1" i="0" strike="noStrike" dirty="0">
                <a:solidFill>
                  <a:srgbClr val="1B1C1D"/>
                </a:solidFill>
                <a:effectLst/>
                <a:latin typeface="Google Sans"/>
              </a:rPr>
              <a:t>. </a:t>
            </a:r>
            <a:r>
              <a:rPr lang="pl-PL" sz="2800" b="1" i="0" strike="noStrike" dirty="0" err="1">
                <a:solidFill>
                  <a:srgbClr val="1B1C1D"/>
                </a:solidFill>
                <a:effectLst/>
                <a:latin typeface="Google Sans"/>
              </a:rPr>
              <a:t>Quantitative</a:t>
            </a:r>
            <a:r>
              <a:rPr lang="pl-PL" sz="2800" b="1" i="0" strike="noStrike" dirty="0">
                <a:solidFill>
                  <a:srgbClr val="1B1C1D"/>
                </a:solidFill>
                <a:effectLst/>
                <a:latin typeface="Google Sans"/>
              </a:rPr>
              <a:t> </a:t>
            </a:r>
            <a:r>
              <a:rPr lang="pl-PL" sz="2800" b="1" i="0" strike="noStrike" dirty="0" err="1">
                <a:solidFill>
                  <a:srgbClr val="1B1C1D"/>
                </a:solidFill>
                <a:effectLst/>
                <a:latin typeface="Google Sans"/>
              </a:rPr>
              <a:t>parameterization</a:t>
            </a:r>
            <a:r>
              <a:rPr lang="pl-PL" sz="2800" b="1" i="0" strike="noStrike" dirty="0">
                <a:solidFill>
                  <a:srgbClr val="1B1C1D"/>
                </a:solidFill>
                <a:effectLst/>
                <a:latin typeface="Google Sans"/>
              </a:rPr>
              <a:t> module</a:t>
            </a:r>
          </a:p>
          <a:p>
            <a:pPr rtl="0">
              <a:spcBef>
                <a:spcPts val="600"/>
              </a:spcBef>
              <a:spcAft>
                <a:spcPts val="600"/>
              </a:spcAft>
            </a:pPr>
            <a:r>
              <a:rPr lang="en-US" sz="2000" b="1" dirty="0">
                <a:effectLst/>
              </a:rPr>
              <a:t>How it Fits into the Orchestrator Loop</a:t>
            </a:r>
            <a:r>
              <a:rPr lang="pl-PL" sz="2000" b="1" dirty="0">
                <a:effectLst/>
              </a:rPr>
              <a:t>?</a:t>
            </a:r>
          </a:p>
          <a:p>
            <a:pPr marL="457200" indent="-457200" rtl="0">
              <a:spcBef>
                <a:spcPts val="600"/>
              </a:spcBef>
              <a:spcAft>
                <a:spcPts val="600"/>
              </a:spcAft>
              <a:buFont typeface="+mj-lt"/>
              <a:buAutoNum type="arabicPeriod"/>
            </a:pPr>
            <a:r>
              <a:rPr lang="en-US" sz="2000" dirty="0">
                <a:effectLst/>
              </a:rPr>
              <a:t>The orchestrator executes an </a:t>
            </a:r>
            <a:r>
              <a:rPr lang="en-US" sz="2000" dirty="0">
                <a:effectLst/>
                <a:latin typeface="Courier New" panose="02070309020205020404" pitchFamily="49" charset="0"/>
                <a:cs typeface="Courier New" panose="02070309020205020404" pitchFamily="49" charset="0"/>
              </a:rPr>
              <a:t>Action</a:t>
            </a:r>
            <a:r>
              <a:rPr lang="en-US" sz="2000" dirty="0">
                <a:effectLst/>
              </a:rPr>
              <a:t>, e.g., </a:t>
            </a:r>
            <a:r>
              <a:rPr lang="en-US" sz="2000" dirty="0" err="1">
                <a:effectLst/>
                <a:latin typeface="Courier New" panose="02070309020205020404" pitchFamily="49" charset="0"/>
                <a:cs typeface="Courier New" panose="02070309020205020404" pitchFamily="49" charset="0"/>
              </a:rPr>
              <a:t>spectrogram_results</a:t>
            </a:r>
            <a:r>
              <a:rPr lang="en-US" sz="2000" dirty="0">
                <a:effectLst/>
                <a:latin typeface="Courier New" panose="02070309020205020404" pitchFamily="49" charset="0"/>
                <a:cs typeface="Courier New" panose="02070309020205020404" pitchFamily="49" charset="0"/>
              </a:rPr>
              <a:t> = </a:t>
            </a:r>
            <a:r>
              <a:rPr lang="en-US" sz="2000" dirty="0" err="1">
                <a:effectLst/>
                <a:latin typeface="Courier New" panose="02070309020205020404" pitchFamily="49" charset="0"/>
                <a:cs typeface="Courier New" panose="02070309020205020404" pitchFamily="49" charset="0"/>
              </a:rPr>
              <a:t>tools.create_signal_spectrogram</a:t>
            </a:r>
            <a:r>
              <a:rPr lang="en-US" sz="2000" dirty="0">
                <a:effectLst/>
                <a:latin typeface="Courier New" panose="02070309020205020404" pitchFamily="49" charset="0"/>
                <a:cs typeface="Courier New" panose="02070309020205020404" pitchFamily="49" charset="0"/>
              </a:rPr>
              <a:t>(...).</a:t>
            </a:r>
            <a:endParaRPr lang="pl-PL" sz="2000" dirty="0">
              <a:effectLst/>
              <a:latin typeface="Courier New" panose="02070309020205020404" pitchFamily="49" charset="0"/>
              <a:cs typeface="Courier New" panose="02070309020205020404" pitchFamily="49" charset="0"/>
            </a:endParaRPr>
          </a:p>
          <a:p>
            <a:pPr marL="457200" indent="-457200" rtl="0">
              <a:spcBef>
                <a:spcPts val="600"/>
              </a:spcBef>
              <a:spcAft>
                <a:spcPts val="600"/>
              </a:spcAft>
              <a:buFont typeface="+mj-lt"/>
              <a:buAutoNum type="arabicPeriod"/>
            </a:pPr>
            <a:r>
              <a:rPr lang="en-US" sz="2000" dirty="0">
                <a:effectLst/>
              </a:rPr>
              <a:t>The </a:t>
            </a:r>
            <a:r>
              <a:rPr lang="en-US" sz="2000" dirty="0" err="1">
                <a:effectLst/>
                <a:latin typeface="Courier New" panose="02070309020205020404" pitchFamily="49" charset="0"/>
                <a:cs typeface="Courier New" panose="02070309020205020404" pitchFamily="49" charset="0"/>
              </a:rPr>
              <a:t>spectrogram_results</a:t>
            </a:r>
            <a:r>
              <a:rPr lang="en-US" sz="2000" dirty="0">
                <a:effectLst/>
                <a:latin typeface="Courier New" panose="02070309020205020404" pitchFamily="49" charset="0"/>
                <a:cs typeface="Courier New" panose="02070309020205020404" pitchFamily="49" charset="0"/>
              </a:rPr>
              <a:t> </a:t>
            </a:r>
            <a:r>
              <a:rPr lang="en-US" sz="2000" dirty="0">
                <a:effectLst/>
              </a:rPr>
              <a:t>dictionary is returned.</a:t>
            </a:r>
            <a:endParaRPr lang="pl-PL" sz="2000" dirty="0">
              <a:effectLst/>
            </a:endParaRPr>
          </a:p>
          <a:p>
            <a:pPr marL="457200" indent="-457200" rtl="0">
              <a:spcBef>
                <a:spcPts val="600"/>
              </a:spcBef>
              <a:spcAft>
                <a:spcPts val="600"/>
              </a:spcAft>
              <a:buFont typeface="+mj-lt"/>
              <a:buAutoNum type="arabicPeriod"/>
            </a:pPr>
            <a:r>
              <a:rPr lang="en-US" sz="2000" dirty="0">
                <a:effectLst/>
              </a:rPr>
              <a:t>The orchestrator then calls: </a:t>
            </a:r>
            <a:r>
              <a:rPr lang="en-US" sz="2000" dirty="0" err="1">
                <a:effectLst/>
                <a:latin typeface="Courier New" panose="02070309020205020404" pitchFamily="49" charset="0"/>
                <a:cs typeface="Courier New" panose="02070309020205020404" pitchFamily="49" charset="0"/>
              </a:rPr>
              <a:t>quantitative_data</a:t>
            </a:r>
            <a:r>
              <a:rPr lang="en-US" sz="2000" dirty="0">
                <a:effectLst/>
                <a:latin typeface="Courier New" panose="02070309020205020404" pitchFamily="49" charset="0"/>
                <a:cs typeface="Courier New" panose="02070309020205020404" pitchFamily="49" charset="0"/>
              </a:rPr>
              <a:t> = </a:t>
            </a:r>
            <a:r>
              <a:rPr lang="en-US" sz="2000" dirty="0" err="1">
                <a:effectLst/>
                <a:latin typeface="Courier New" panose="02070309020205020404" pitchFamily="49" charset="0"/>
                <a:cs typeface="Courier New" panose="02070309020205020404" pitchFamily="49" charset="0"/>
              </a:rPr>
              <a:t>parameterization_module.calculate_quantitative_metrics</a:t>
            </a:r>
            <a:r>
              <a:rPr lang="en-US" sz="2000" dirty="0">
                <a:effectLst/>
                <a:latin typeface="Courier New" panose="02070309020205020404" pitchFamily="49" charset="0"/>
                <a:cs typeface="Courier New" panose="02070309020205020404" pitchFamily="49" charset="0"/>
              </a:rPr>
              <a:t>(</a:t>
            </a:r>
            <a:r>
              <a:rPr lang="en-US" sz="2000" dirty="0" err="1">
                <a:effectLst/>
                <a:latin typeface="Courier New" panose="02070309020205020404" pitchFamily="49" charset="0"/>
                <a:cs typeface="Courier New" panose="02070309020205020404" pitchFamily="49" charset="0"/>
              </a:rPr>
              <a:t>spectrogram_results</a:t>
            </a:r>
            <a:r>
              <a:rPr lang="en-US" sz="2000" dirty="0">
                <a:effectLst/>
                <a:latin typeface="Courier New" panose="02070309020205020404" pitchFamily="49" charset="0"/>
                <a:cs typeface="Courier New" panose="02070309020205020404" pitchFamily="49" charset="0"/>
              </a:rPr>
              <a:t>).</a:t>
            </a:r>
            <a:endParaRPr lang="pl-PL" sz="2000" dirty="0">
              <a:effectLst/>
              <a:latin typeface="Courier New" panose="02070309020205020404" pitchFamily="49" charset="0"/>
              <a:cs typeface="Courier New" panose="02070309020205020404" pitchFamily="49" charset="0"/>
            </a:endParaRPr>
          </a:p>
          <a:p>
            <a:pPr marL="457200" indent="-457200" rtl="0">
              <a:spcBef>
                <a:spcPts val="600"/>
              </a:spcBef>
              <a:spcAft>
                <a:spcPts val="600"/>
              </a:spcAft>
              <a:buFont typeface="+mj-lt"/>
              <a:buAutoNum type="arabicPeriod"/>
            </a:pPr>
            <a:r>
              <a:rPr lang="en-US" sz="2000" dirty="0">
                <a:effectLst/>
              </a:rPr>
              <a:t>The </a:t>
            </a:r>
            <a:r>
              <a:rPr lang="en-US" sz="2000" dirty="0" err="1">
                <a:effectLst/>
                <a:latin typeface="Courier New" panose="02070309020205020404" pitchFamily="49" charset="0"/>
                <a:cs typeface="Courier New" panose="02070309020205020404" pitchFamily="49" charset="0"/>
              </a:rPr>
              <a:t>calculate_quantitative_metrics</a:t>
            </a:r>
            <a:r>
              <a:rPr lang="en-US" sz="2000" dirty="0">
                <a:effectLst/>
                <a:latin typeface="Courier New" panose="02070309020205020404" pitchFamily="49" charset="0"/>
                <a:cs typeface="Courier New" panose="02070309020205020404" pitchFamily="49" charset="0"/>
              </a:rPr>
              <a:t> </a:t>
            </a:r>
            <a:r>
              <a:rPr lang="en-US" sz="2000" dirty="0">
                <a:effectLst/>
              </a:rPr>
              <a:t>function sees </a:t>
            </a:r>
            <a:r>
              <a:rPr lang="en-US" sz="2000" dirty="0">
                <a:effectLst/>
                <a:latin typeface="Courier New" panose="02070309020205020404" pitchFamily="49" charset="0"/>
                <a:cs typeface="Courier New" panose="02070309020205020404" pitchFamily="49" charset="0"/>
              </a:rPr>
              <a:t>domain: 'time-frequency-matrix' </a:t>
            </a:r>
            <a:r>
              <a:rPr lang="en-US" sz="2000" dirty="0">
                <a:effectLst/>
              </a:rPr>
              <a:t>and calls </a:t>
            </a:r>
            <a:r>
              <a:rPr lang="en-US" sz="2000" dirty="0">
                <a:effectLst/>
                <a:latin typeface="Courier New" panose="02070309020205020404" pitchFamily="49" charset="0"/>
                <a:cs typeface="Courier New" panose="02070309020205020404" pitchFamily="49" charset="0"/>
              </a:rPr>
              <a:t>_</a:t>
            </a:r>
            <a:r>
              <a:rPr lang="en-US" sz="2000" dirty="0" err="1">
                <a:effectLst/>
                <a:latin typeface="Courier New" panose="02070309020205020404" pitchFamily="49" charset="0"/>
                <a:cs typeface="Courier New" panose="02070309020205020404" pitchFamily="49" charset="0"/>
              </a:rPr>
              <a:t>calculate_spectrogram_stats</a:t>
            </a:r>
            <a:r>
              <a:rPr lang="en-US" sz="2000" dirty="0">
                <a:effectLst/>
              </a:rPr>
              <a:t>.</a:t>
            </a:r>
            <a:endParaRPr lang="pl-PL" sz="2000" dirty="0">
              <a:effectLst/>
            </a:endParaRPr>
          </a:p>
          <a:p>
            <a:pPr marL="457200" indent="-457200" rtl="0">
              <a:spcBef>
                <a:spcPts val="600"/>
              </a:spcBef>
              <a:spcAft>
                <a:spcPts val="600"/>
              </a:spcAft>
              <a:buFont typeface="+mj-lt"/>
              <a:buAutoNum type="arabicPeriod"/>
            </a:pPr>
            <a:r>
              <a:rPr lang="en-US" sz="2000" dirty="0">
                <a:effectLst/>
              </a:rPr>
              <a:t>The </a:t>
            </a:r>
            <a:r>
              <a:rPr lang="en-US" sz="2000" dirty="0" err="1">
                <a:effectLst/>
                <a:latin typeface="Courier New" panose="02070309020205020404" pitchFamily="49" charset="0"/>
                <a:cs typeface="Courier New" panose="02070309020205020404" pitchFamily="49" charset="0"/>
              </a:rPr>
              <a:t>quantitative_data</a:t>
            </a:r>
            <a:r>
              <a:rPr lang="en-US" sz="2000" dirty="0">
                <a:effectLst/>
              </a:rPr>
              <a:t> dictionary (e.g., </a:t>
            </a:r>
            <a:r>
              <a:rPr lang="en-US" sz="2000" dirty="0">
                <a:effectLst/>
                <a:latin typeface="Courier New" panose="02070309020205020404" pitchFamily="49" charset="0"/>
                <a:cs typeface="Courier New" panose="02070309020205020404" pitchFamily="49" charset="0"/>
              </a:rPr>
              <a:t>{'</a:t>
            </a:r>
            <a:r>
              <a:rPr lang="en-US" sz="2000" dirty="0" err="1">
                <a:effectLst/>
                <a:latin typeface="Courier New" panose="02070309020205020404" pitchFamily="49" charset="0"/>
                <a:cs typeface="Courier New" panose="02070309020205020404" pitchFamily="49" charset="0"/>
              </a:rPr>
              <a:t>gini_index_sparsity</a:t>
            </a:r>
            <a:r>
              <a:rPr lang="en-US" sz="2000" dirty="0">
                <a:effectLst/>
                <a:latin typeface="Courier New" panose="02070309020205020404" pitchFamily="49" charset="0"/>
                <a:cs typeface="Courier New" panose="02070309020205020404" pitchFamily="49" charset="0"/>
              </a:rPr>
              <a:t>': 0.8, ...}</a:t>
            </a:r>
            <a:r>
              <a:rPr lang="en-US" sz="2000" dirty="0">
                <a:effectLst/>
              </a:rPr>
              <a:t>) is returned.</a:t>
            </a:r>
            <a:endParaRPr lang="pl-PL" sz="2000" dirty="0">
              <a:effectLst/>
            </a:endParaRPr>
          </a:p>
          <a:p>
            <a:pPr marL="457200" indent="-457200" rtl="0">
              <a:spcBef>
                <a:spcPts val="600"/>
              </a:spcBef>
              <a:spcAft>
                <a:spcPts val="600"/>
              </a:spcAft>
              <a:buFont typeface="+mj-lt"/>
              <a:buAutoNum type="arabicPeriod"/>
            </a:pPr>
            <a:r>
              <a:rPr lang="en-US" sz="2000" dirty="0">
                <a:effectLst/>
              </a:rPr>
              <a:t>This "hard data" is then included in the next prompt to the LLM alongside the image, giving it both visual and numerical information to support its evaluation.</a:t>
            </a:r>
            <a:endParaRPr lang="pl-PL" sz="2000" dirty="0">
              <a:effectLst/>
            </a:endParaRPr>
          </a:p>
          <a:p>
            <a:pPr rtl="0">
              <a:spcBef>
                <a:spcPts val="600"/>
              </a:spcBef>
              <a:spcAft>
                <a:spcPts val="600"/>
              </a:spcAft>
            </a:pPr>
            <a:r>
              <a:rPr lang="en-US" sz="2000" dirty="0">
                <a:effectLst/>
              </a:rPr>
              <a:t>This approach is modular, scalable, and provides the kind of intelligent, context-aware parameterization.</a:t>
            </a:r>
          </a:p>
        </p:txBody>
      </p:sp>
    </p:spTree>
    <p:extLst>
      <p:ext uri="{BB962C8B-B14F-4D97-AF65-F5344CB8AC3E}">
        <p14:creationId xmlns:p14="http://schemas.microsoft.com/office/powerpoint/2010/main" val="15003855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ole tekstowe 4">
            <a:extLst>
              <a:ext uri="{FF2B5EF4-FFF2-40B4-BE49-F238E27FC236}">
                <a16:creationId xmlns:a16="http://schemas.microsoft.com/office/drawing/2014/main" id="{B3C834C9-D5E7-46C8-96BE-331BB8260282}"/>
              </a:ext>
            </a:extLst>
          </p:cNvPr>
          <p:cNvSpPr txBox="1"/>
          <p:nvPr/>
        </p:nvSpPr>
        <p:spPr>
          <a:xfrm>
            <a:off x="265042" y="258901"/>
            <a:ext cx="11754229" cy="2816156"/>
          </a:xfrm>
          <a:prstGeom prst="rect">
            <a:avLst/>
          </a:prstGeom>
          <a:noFill/>
        </p:spPr>
        <p:txBody>
          <a:bodyPr wrap="square">
            <a:spAutoFit/>
          </a:bodyPr>
          <a:lstStyle/>
          <a:p>
            <a:pPr rtl="0">
              <a:spcBef>
                <a:spcPts val="600"/>
              </a:spcBef>
              <a:spcAft>
                <a:spcPts val="600"/>
              </a:spcAft>
            </a:pPr>
            <a:r>
              <a:rPr lang="pl-PL" sz="2800" b="1" i="0" strike="noStrike" dirty="0">
                <a:solidFill>
                  <a:srgbClr val="1B1C1D"/>
                </a:solidFill>
                <a:effectLst/>
                <a:latin typeface="Google Sans"/>
              </a:rPr>
              <a:t>16</a:t>
            </a:r>
            <a:r>
              <a:rPr lang="en-US" sz="2800" b="1" i="0" strike="noStrike" dirty="0">
                <a:solidFill>
                  <a:srgbClr val="1B1C1D"/>
                </a:solidFill>
                <a:effectLst/>
                <a:latin typeface="Google Sans"/>
              </a:rPr>
              <a:t>. </a:t>
            </a:r>
            <a:r>
              <a:rPr lang="pl-PL" sz="2800" b="1" i="0" strike="noStrike" dirty="0" err="1">
                <a:solidFill>
                  <a:srgbClr val="1B1C1D"/>
                </a:solidFill>
                <a:effectLst/>
                <a:latin typeface="Google Sans"/>
              </a:rPr>
              <a:t>Local</a:t>
            </a:r>
            <a:r>
              <a:rPr lang="pl-PL" sz="2800" b="1" i="0" strike="noStrike" dirty="0">
                <a:solidFill>
                  <a:srgbClr val="1B1C1D"/>
                </a:solidFill>
                <a:effectLst/>
                <a:latin typeface="Google Sans"/>
              </a:rPr>
              <a:t> and </a:t>
            </a:r>
            <a:r>
              <a:rPr lang="pl-PL" sz="2800" b="1" i="0" strike="noStrike" dirty="0" err="1">
                <a:solidFill>
                  <a:srgbClr val="1B1C1D"/>
                </a:solidFill>
                <a:effectLst/>
                <a:latin typeface="Google Sans"/>
              </a:rPr>
              <a:t>global</a:t>
            </a:r>
            <a:r>
              <a:rPr lang="pl-PL" sz="2800" b="1" i="0" strike="noStrike" dirty="0">
                <a:solidFill>
                  <a:srgbClr val="1B1C1D"/>
                </a:solidFill>
                <a:effectLst/>
                <a:latin typeface="Google Sans"/>
              </a:rPr>
              <a:t> </a:t>
            </a:r>
            <a:r>
              <a:rPr lang="pl-PL" sz="2800" b="1" i="0" strike="noStrike" dirty="0" err="1">
                <a:solidFill>
                  <a:srgbClr val="1B1C1D"/>
                </a:solidFill>
                <a:effectLst/>
                <a:latin typeface="Google Sans"/>
              </a:rPr>
              <a:t>evaluation</a:t>
            </a:r>
            <a:r>
              <a:rPr lang="pl-PL" sz="2800" b="1" i="0" strike="noStrike" dirty="0">
                <a:solidFill>
                  <a:srgbClr val="1B1C1D"/>
                </a:solidFill>
                <a:effectLst/>
                <a:latin typeface="Google Sans"/>
              </a:rPr>
              <a:t> </a:t>
            </a:r>
            <a:r>
              <a:rPr lang="pl-PL" sz="2800" b="1" i="0" strike="noStrike" dirty="0" err="1">
                <a:solidFill>
                  <a:srgbClr val="1B1C1D"/>
                </a:solidFill>
                <a:effectLst/>
                <a:latin typeface="Google Sans"/>
              </a:rPr>
              <a:t>criteria</a:t>
            </a:r>
            <a:endParaRPr lang="pl-PL" sz="2800" b="1" i="0" strike="noStrike" dirty="0">
              <a:solidFill>
                <a:srgbClr val="1B1C1D"/>
              </a:solidFill>
              <a:effectLst/>
              <a:latin typeface="Google Sans"/>
            </a:endParaRPr>
          </a:p>
          <a:p>
            <a:r>
              <a:rPr lang="pl-PL" sz="2400" dirty="0"/>
              <a:t>I</a:t>
            </a:r>
            <a:r>
              <a:rPr lang="en-US" sz="2400" dirty="0"/>
              <a:t>t's not feasible to expect the orchestrator to infer the criteria purely from examples in the knowledge base. At the same time, defining the criteria explicitly with hardcoded rules would be too brittle and would defeat the purpose of using a powerful LLM.</a:t>
            </a:r>
            <a:r>
              <a:rPr lang="pl-PL" sz="2400" dirty="0"/>
              <a:t> </a:t>
            </a:r>
            <a:r>
              <a:rPr lang="en-US" sz="2400" dirty="0"/>
              <a:t>Therefore, the best approach is a </a:t>
            </a:r>
            <a:r>
              <a:rPr lang="en-US" sz="2400" b="1" dirty="0"/>
              <a:t>hybrid solution</a:t>
            </a:r>
            <a:r>
              <a:rPr lang="en-US" sz="2400" dirty="0"/>
              <a:t>: </a:t>
            </a:r>
            <a:r>
              <a:rPr lang="pl-PL" sz="2400" dirty="0"/>
              <a:t>I</a:t>
            </a:r>
            <a:r>
              <a:rPr lang="en-US" sz="2400" dirty="0"/>
              <a:t> will use </a:t>
            </a:r>
            <a:r>
              <a:rPr lang="en-US" sz="2400" b="1" dirty="0"/>
              <a:t>explicit, structured prompts</a:t>
            </a:r>
            <a:r>
              <a:rPr lang="en-US" sz="2400" dirty="0"/>
              <a:t> to </a:t>
            </a:r>
            <a:r>
              <a:rPr lang="en-US" sz="2400" i="1" dirty="0"/>
              <a:t>frame the question</a:t>
            </a:r>
            <a:r>
              <a:rPr lang="en-US" sz="2400" dirty="0"/>
              <a:t>, and these prompts will be dynamically filled with </a:t>
            </a:r>
            <a:r>
              <a:rPr lang="en-US" sz="2400" b="1" dirty="0"/>
              <a:t>implicit context from the knowledge base (RAG)</a:t>
            </a:r>
            <a:r>
              <a:rPr lang="en-US" sz="2400" dirty="0"/>
              <a:t> to help the LLM answer it.</a:t>
            </a:r>
          </a:p>
        </p:txBody>
      </p:sp>
    </p:spTree>
    <p:extLst>
      <p:ext uri="{BB962C8B-B14F-4D97-AF65-F5344CB8AC3E}">
        <p14:creationId xmlns:p14="http://schemas.microsoft.com/office/powerpoint/2010/main" val="5512110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ole tekstowe 4">
            <a:extLst>
              <a:ext uri="{FF2B5EF4-FFF2-40B4-BE49-F238E27FC236}">
                <a16:creationId xmlns:a16="http://schemas.microsoft.com/office/drawing/2014/main" id="{B3C834C9-D5E7-46C8-96BE-331BB8260282}"/>
              </a:ext>
            </a:extLst>
          </p:cNvPr>
          <p:cNvSpPr txBox="1"/>
          <p:nvPr/>
        </p:nvSpPr>
        <p:spPr>
          <a:xfrm>
            <a:off x="265042" y="258901"/>
            <a:ext cx="11754229" cy="6478697"/>
          </a:xfrm>
          <a:prstGeom prst="rect">
            <a:avLst/>
          </a:prstGeom>
          <a:noFill/>
        </p:spPr>
        <p:txBody>
          <a:bodyPr wrap="square">
            <a:spAutoFit/>
          </a:bodyPr>
          <a:lstStyle/>
          <a:p>
            <a:pPr rtl="0">
              <a:spcBef>
                <a:spcPts val="600"/>
              </a:spcBef>
              <a:spcAft>
                <a:spcPts val="600"/>
              </a:spcAft>
            </a:pPr>
            <a:r>
              <a:rPr lang="pl-PL" sz="2800" b="1" i="0" strike="noStrike" dirty="0">
                <a:solidFill>
                  <a:srgbClr val="1B1C1D"/>
                </a:solidFill>
                <a:effectLst/>
                <a:latin typeface="Google Sans"/>
              </a:rPr>
              <a:t>16</a:t>
            </a:r>
            <a:r>
              <a:rPr lang="en-US" sz="2800" b="1" i="0" strike="noStrike" dirty="0">
                <a:solidFill>
                  <a:srgbClr val="1B1C1D"/>
                </a:solidFill>
                <a:effectLst/>
                <a:latin typeface="Google Sans"/>
              </a:rPr>
              <a:t>. </a:t>
            </a:r>
            <a:r>
              <a:rPr lang="pl-PL" sz="2800" b="1" i="0" strike="noStrike" dirty="0" err="1">
                <a:solidFill>
                  <a:srgbClr val="1B1C1D"/>
                </a:solidFill>
                <a:effectLst/>
                <a:latin typeface="Google Sans"/>
              </a:rPr>
              <a:t>Local</a:t>
            </a:r>
            <a:r>
              <a:rPr lang="pl-PL" sz="2800" b="1" i="0" strike="noStrike" dirty="0">
                <a:solidFill>
                  <a:srgbClr val="1B1C1D"/>
                </a:solidFill>
                <a:effectLst/>
                <a:latin typeface="Google Sans"/>
              </a:rPr>
              <a:t> and </a:t>
            </a:r>
            <a:r>
              <a:rPr lang="pl-PL" sz="2800" b="1" i="0" strike="noStrike" dirty="0" err="1">
                <a:solidFill>
                  <a:srgbClr val="1B1C1D"/>
                </a:solidFill>
                <a:effectLst/>
                <a:latin typeface="Google Sans"/>
              </a:rPr>
              <a:t>global</a:t>
            </a:r>
            <a:r>
              <a:rPr lang="pl-PL" sz="2800" b="1" i="0" strike="noStrike" dirty="0">
                <a:solidFill>
                  <a:srgbClr val="1B1C1D"/>
                </a:solidFill>
                <a:effectLst/>
                <a:latin typeface="Google Sans"/>
              </a:rPr>
              <a:t> </a:t>
            </a:r>
            <a:r>
              <a:rPr lang="pl-PL" sz="2800" b="1" i="0" strike="noStrike" dirty="0" err="1">
                <a:solidFill>
                  <a:srgbClr val="1B1C1D"/>
                </a:solidFill>
                <a:effectLst/>
                <a:latin typeface="Google Sans"/>
              </a:rPr>
              <a:t>evaluation</a:t>
            </a:r>
            <a:r>
              <a:rPr lang="pl-PL" sz="2800" b="1" i="0" strike="noStrike" dirty="0">
                <a:solidFill>
                  <a:srgbClr val="1B1C1D"/>
                </a:solidFill>
                <a:effectLst/>
                <a:latin typeface="Google Sans"/>
              </a:rPr>
              <a:t> </a:t>
            </a:r>
            <a:r>
              <a:rPr lang="pl-PL" sz="2800" b="1" i="0" strike="noStrike" dirty="0" err="1">
                <a:solidFill>
                  <a:srgbClr val="1B1C1D"/>
                </a:solidFill>
                <a:effectLst/>
                <a:latin typeface="Google Sans"/>
              </a:rPr>
              <a:t>criteria</a:t>
            </a:r>
            <a:endParaRPr lang="pl-PL" sz="2800" b="1" i="0" strike="noStrike" dirty="0">
              <a:solidFill>
                <a:srgbClr val="1B1C1D"/>
              </a:solidFill>
              <a:effectLst/>
              <a:latin typeface="Google Sans"/>
            </a:endParaRPr>
          </a:p>
          <a:p>
            <a:pPr rtl="0">
              <a:spcBef>
                <a:spcPts val="600"/>
              </a:spcBef>
              <a:spcAft>
                <a:spcPts val="600"/>
              </a:spcAft>
            </a:pPr>
            <a:r>
              <a:rPr lang="en-US" sz="2000" b="1" dirty="0">
                <a:effectLst/>
              </a:rPr>
              <a:t>Local Criterion: "Are results useful?</a:t>
            </a:r>
            <a:r>
              <a:rPr lang="pl-PL" sz="2000" b="1" dirty="0">
                <a:effectLst/>
              </a:rPr>
              <a:t>”</a:t>
            </a:r>
          </a:p>
          <a:p>
            <a:pPr rtl="0">
              <a:spcBef>
                <a:spcPts val="600"/>
              </a:spcBef>
              <a:spcAft>
                <a:spcPts val="600"/>
              </a:spcAft>
            </a:pPr>
            <a:r>
              <a:rPr lang="en-US" dirty="0">
                <a:effectLst/>
              </a:rPr>
              <a:t>The goal is to decide if the last single step was a productive move towards the final objective. </a:t>
            </a:r>
            <a:r>
              <a:rPr lang="pl-PL" dirty="0">
                <a:effectLst/>
              </a:rPr>
              <a:t>I</a:t>
            </a:r>
            <a:r>
              <a:rPr lang="en-US" dirty="0">
                <a:effectLst/>
              </a:rPr>
              <a:t> will create a dedicated prompt template for this evaluation. When the orchestrator needs to make this decision, </a:t>
            </a:r>
            <a:r>
              <a:rPr lang="pl-PL" dirty="0">
                <a:effectLst/>
              </a:rPr>
              <a:t>the</a:t>
            </a:r>
            <a:r>
              <a:rPr lang="en-US" dirty="0">
                <a:effectLst/>
              </a:rPr>
              <a:t> "Prompt Assembler" module will gather several pieces of evidence and put them into this structured prompt</a:t>
            </a:r>
            <a:r>
              <a:rPr lang="pl-PL" dirty="0"/>
              <a:t>.</a:t>
            </a:r>
            <a:endParaRPr lang="pl-PL" b="1" dirty="0">
              <a:effectLst/>
            </a:endParaRPr>
          </a:p>
          <a:p>
            <a:pPr marL="457200" indent="-457200">
              <a:buFont typeface="+mj-lt"/>
              <a:buAutoNum type="arabicPeriod"/>
            </a:pPr>
            <a:r>
              <a:rPr lang="en-US" b="1" dirty="0">
                <a:effectLst/>
              </a:rPr>
              <a:t>The Step's Objective: </a:t>
            </a:r>
            <a:r>
              <a:rPr lang="en-US" dirty="0">
                <a:effectLst/>
              </a:rPr>
              <a:t>The prompt will state what the last tool was supposed to do. (e.g., "The goal of the last step was to isolate the frequency band between 2-4 kHz.")</a:t>
            </a:r>
            <a:endParaRPr lang="pl-PL" dirty="0">
              <a:effectLst/>
            </a:endParaRPr>
          </a:p>
          <a:p>
            <a:pPr marL="457200" indent="-457200">
              <a:buFont typeface="+mj-lt"/>
              <a:buAutoNum type="arabicPeriod"/>
            </a:pPr>
            <a:r>
              <a:rPr lang="en-US" b="1" dirty="0">
                <a:effectLst/>
              </a:rPr>
              <a:t>Visual Evidence: </a:t>
            </a:r>
            <a:r>
              <a:rPr lang="en-US" dirty="0">
                <a:effectLst/>
              </a:rPr>
              <a:t>The image generated by the last step (e.g., </a:t>
            </a:r>
            <a:r>
              <a:rPr lang="en-US" dirty="0">
                <a:effectLst/>
                <a:latin typeface="Courier New" panose="02070309020205020404" pitchFamily="49" charset="0"/>
                <a:cs typeface="Courier New" panose="02070309020205020404" pitchFamily="49" charset="0"/>
              </a:rPr>
              <a:t>spectrogram_step3.png</a:t>
            </a:r>
            <a:r>
              <a:rPr lang="en-US" dirty="0">
                <a:effectLst/>
              </a:rPr>
              <a:t>) will be included directly in the prompt for multimodal analysis.</a:t>
            </a:r>
            <a:endParaRPr lang="pl-PL" dirty="0">
              <a:effectLst/>
            </a:endParaRPr>
          </a:p>
          <a:p>
            <a:pPr marL="457200" indent="-457200">
              <a:buFont typeface="+mj-lt"/>
              <a:buAutoNum type="arabicPeriod"/>
            </a:pPr>
            <a:r>
              <a:rPr lang="en-US" b="1" dirty="0">
                <a:effectLst/>
              </a:rPr>
              <a:t>Quantitative Evidence: </a:t>
            </a:r>
            <a:r>
              <a:rPr lang="en-US" dirty="0">
                <a:effectLst/>
              </a:rPr>
              <a:t>The metrics from our Quantitative Parameterization Module will be included. (e.g., </a:t>
            </a:r>
            <a:r>
              <a:rPr lang="en-US" dirty="0">
                <a:effectLst/>
                <a:latin typeface="Courier New" panose="02070309020205020404" pitchFamily="49" charset="0"/>
                <a:cs typeface="Courier New" panose="02070309020205020404" pitchFamily="49" charset="0"/>
              </a:rPr>
              <a:t>"kurtosis": 4.5, "</a:t>
            </a:r>
            <a:r>
              <a:rPr lang="en-US" dirty="0" err="1">
                <a:effectLst/>
                <a:latin typeface="Courier New" panose="02070309020205020404" pitchFamily="49" charset="0"/>
                <a:cs typeface="Courier New" panose="02070309020205020404" pitchFamily="49" charset="0"/>
              </a:rPr>
              <a:t>energy_in_band_vs_total</a:t>
            </a:r>
            <a:r>
              <a:rPr lang="en-US" dirty="0">
                <a:effectLst/>
                <a:latin typeface="Courier New" panose="02070309020205020404" pitchFamily="49" charset="0"/>
                <a:cs typeface="Courier New" panose="02070309020205020404" pitchFamily="49" charset="0"/>
              </a:rPr>
              <a:t>": 0.75</a:t>
            </a:r>
            <a:r>
              <a:rPr lang="en-US" dirty="0">
                <a:effectLst/>
              </a:rPr>
              <a:t>).</a:t>
            </a:r>
            <a:endParaRPr lang="pl-PL" dirty="0">
              <a:effectLst/>
            </a:endParaRPr>
          </a:p>
          <a:p>
            <a:pPr marL="457200" indent="-457200">
              <a:buFont typeface="+mj-lt"/>
              <a:buAutoNum type="arabicPeriod"/>
            </a:pPr>
            <a:r>
              <a:rPr lang="en-US" b="1" dirty="0">
                <a:effectLst/>
              </a:rPr>
              <a:t>Knowledge Base Context (The RAG part): </a:t>
            </a:r>
            <a:r>
              <a:rPr lang="en-US" dirty="0">
                <a:effectLst/>
              </a:rPr>
              <a:t>The system will perform a RAG search based on the last action. For example, it might search for "interpreting the output of a bandpass filter for bearing analysis." The top results from </a:t>
            </a:r>
            <a:r>
              <a:rPr lang="pl-PL" dirty="0">
                <a:effectLst/>
              </a:rPr>
              <a:t>the</a:t>
            </a:r>
            <a:r>
              <a:rPr lang="en-US" dirty="0">
                <a:effectLst/>
              </a:rPr>
              <a:t> papers will be injected into the prompt.</a:t>
            </a:r>
            <a:endParaRPr lang="pl-PL" dirty="0">
              <a:effectLst/>
            </a:endParaRPr>
          </a:p>
          <a:p>
            <a:pPr marL="457200" indent="-457200">
              <a:buFont typeface="+mj-lt"/>
              <a:buAutoNum type="arabicPeriod"/>
            </a:pPr>
            <a:r>
              <a:rPr lang="en-US" b="1" dirty="0">
                <a:effectLst/>
              </a:rPr>
              <a:t>The Explicit Question: </a:t>
            </a:r>
            <a:r>
              <a:rPr lang="en-US" dirty="0">
                <a:effectLst/>
              </a:rPr>
              <a:t>Finally, </a:t>
            </a:r>
            <a:r>
              <a:rPr lang="pl-PL" dirty="0">
                <a:effectLst/>
              </a:rPr>
              <a:t>I</a:t>
            </a:r>
            <a:r>
              <a:rPr lang="en-US" dirty="0">
                <a:effectLst/>
              </a:rPr>
              <a:t> ask the core question:</a:t>
            </a:r>
            <a:r>
              <a:rPr lang="pl-PL" dirty="0">
                <a:effectLst/>
              </a:rPr>
              <a:t> </a:t>
            </a:r>
            <a:r>
              <a:rPr lang="en-US" i="1" dirty="0">
                <a:effectLst/>
              </a:rPr>
              <a:t>"Considering the step's objective, the visual evidence, the quantitative data, and the provided context from similar analyses, was this step successful and useful? If not, could its parameters be refined? Please respond in a structured format.</a:t>
            </a:r>
            <a:r>
              <a:rPr lang="pl-PL" i="1" dirty="0">
                <a:effectLst/>
              </a:rPr>
              <a:t>”</a:t>
            </a:r>
          </a:p>
          <a:p>
            <a:endParaRPr lang="pl-PL" dirty="0"/>
          </a:p>
          <a:p>
            <a:r>
              <a:rPr lang="en-US" dirty="0">
                <a:effectLst/>
              </a:rPr>
              <a:t>Why this works: </a:t>
            </a:r>
            <a:r>
              <a:rPr lang="pl-PL" dirty="0">
                <a:effectLst/>
              </a:rPr>
              <a:t>I </a:t>
            </a:r>
            <a:r>
              <a:rPr lang="pl-PL" dirty="0" err="1">
                <a:effectLst/>
              </a:rPr>
              <a:t>am</a:t>
            </a:r>
            <a:r>
              <a:rPr lang="pl-PL" dirty="0">
                <a:effectLst/>
              </a:rPr>
              <a:t> not </a:t>
            </a:r>
            <a:r>
              <a:rPr lang="en-US" dirty="0">
                <a:effectLst/>
              </a:rPr>
              <a:t>asking the LLM to guess what "useful" means. </a:t>
            </a:r>
            <a:r>
              <a:rPr lang="pl-PL" dirty="0">
                <a:effectLst/>
              </a:rPr>
              <a:t>I </a:t>
            </a:r>
            <a:r>
              <a:rPr lang="pl-PL" dirty="0" err="1">
                <a:effectLst/>
              </a:rPr>
              <a:t>am</a:t>
            </a:r>
            <a:r>
              <a:rPr lang="pl-PL" dirty="0">
                <a:effectLst/>
              </a:rPr>
              <a:t> </a:t>
            </a:r>
            <a:r>
              <a:rPr lang="en-US" dirty="0">
                <a:effectLst/>
              </a:rPr>
              <a:t>explicitly giving it a framework and all the evidence (visual, numeric, and contextual examples from RAG) it needs to make an informed, tactical decision. The knowledge base helps by providing examples of what "good" or "bad" results look like in similar situations.</a:t>
            </a:r>
          </a:p>
        </p:txBody>
      </p:sp>
    </p:spTree>
    <p:extLst>
      <p:ext uri="{BB962C8B-B14F-4D97-AF65-F5344CB8AC3E}">
        <p14:creationId xmlns:p14="http://schemas.microsoft.com/office/powerpoint/2010/main" val="13710979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ole tekstowe 4">
            <a:extLst>
              <a:ext uri="{FF2B5EF4-FFF2-40B4-BE49-F238E27FC236}">
                <a16:creationId xmlns:a16="http://schemas.microsoft.com/office/drawing/2014/main" id="{B3C834C9-D5E7-46C8-96BE-331BB8260282}"/>
              </a:ext>
            </a:extLst>
          </p:cNvPr>
          <p:cNvSpPr txBox="1"/>
          <p:nvPr/>
        </p:nvSpPr>
        <p:spPr>
          <a:xfrm>
            <a:off x="265042" y="258901"/>
            <a:ext cx="11754229" cy="5447645"/>
          </a:xfrm>
          <a:prstGeom prst="rect">
            <a:avLst/>
          </a:prstGeom>
          <a:noFill/>
        </p:spPr>
        <p:txBody>
          <a:bodyPr wrap="square">
            <a:spAutoFit/>
          </a:bodyPr>
          <a:lstStyle/>
          <a:p>
            <a:pPr rtl="0">
              <a:spcBef>
                <a:spcPts val="600"/>
              </a:spcBef>
              <a:spcAft>
                <a:spcPts val="600"/>
              </a:spcAft>
            </a:pPr>
            <a:r>
              <a:rPr lang="pl-PL" sz="2800" b="1" i="0" strike="noStrike" dirty="0">
                <a:solidFill>
                  <a:srgbClr val="1B1C1D"/>
                </a:solidFill>
                <a:effectLst/>
                <a:latin typeface="Google Sans"/>
              </a:rPr>
              <a:t>16</a:t>
            </a:r>
            <a:r>
              <a:rPr lang="en-US" sz="2800" b="1" i="0" strike="noStrike" dirty="0">
                <a:solidFill>
                  <a:srgbClr val="1B1C1D"/>
                </a:solidFill>
                <a:effectLst/>
                <a:latin typeface="Google Sans"/>
              </a:rPr>
              <a:t>. </a:t>
            </a:r>
            <a:r>
              <a:rPr lang="pl-PL" sz="2800" b="1" i="0" strike="noStrike" dirty="0" err="1">
                <a:solidFill>
                  <a:srgbClr val="1B1C1D"/>
                </a:solidFill>
                <a:effectLst/>
                <a:latin typeface="Google Sans"/>
              </a:rPr>
              <a:t>Local</a:t>
            </a:r>
            <a:r>
              <a:rPr lang="pl-PL" sz="2800" b="1" i="0" strike="noStrike" dirty="0">
                <a:solidFill>
                  <a:srgbClr val="1B1C1D"/>
                </a:solidFill>
                <a:effectLst/>
                <a:latin typeface="Google Sans"/>
              </a:rPr>
              <a:t> and </a:t>
            </a:r>
            <a:r>
              <a:rPr lang="pl-PL" sz="2800" b="1" i="0" strike="noStrike" dirty="0" err="1">
                <a:solidFill>
                  <a:srgbClr val="1B1C1D"/>
                </a:solidFill>
                <a:effectLst/>
                <a:latin typeface="Google Sans"/>
              </a:rPr>
              <a:t>global</a:t>
            </a:r>
            <a:r>
              <a:rPr lang="pl-PL" sz="2800" b="1" i="0" strike="noStrike" dirty="0">
                <a:solidFill>
                  <a:srgbClr val="1B1C1D"/>
                </a:solidFill>
                <a:effectLst/>
                <a:latin typeface="Google Sans"/>
              </a:rPr>
              <a:t> </a:t>
            </a:r>
            <a:r>
              <a:rPr lang="pl-PL" sz="2800" b="1" i="0" strike="noStrike" dirty="0" err="1">
                <a:solidFill>
                  <a:srgbClr val="1B1C1D"/>
                </a:solidFill>
                <a:effectLst/>
                <a:latin typeface="Google Sans"/>
              </a:rPr>
              <a:t>evaluation</a:t>
            </a:r>
            <a:r>
              <a:rPr lang="pl-PL" sz="2800" b="1" i="0" strike="noStrike" dirty="0">
                <a:solidFill>
                  <a:srgbClr val="1B1C1D"/>
                </a:solidFill>
                <a:effectLst/>
                <a:latin typeface="Google Sans"/>
              </a:rPr>
              <a:t> </a:t>
            </a:r>
            <a:r>
              <a:rPr lang="pl-PL" sz="2800" b="1" i="0" strike="noStrike" dirty="0" err="1">
                <a:solidFill>
                  <a:srgbClr val="1B1C1D"/>
                </a:solidFill>
                <a:effectLst/>
                <a:latin typeface="Google Sans"/>
              </a:rPr>
              <a:t>criteria</a:t>
            </a:r>
            <a:endParaRPr lang="pl-PL" sz="2800" b="1" i="0" strike="noStrike" dirty="0">
              <a:solidFill>
                <a:srgbClr val="1B1C1D"/>
              </a:solidFill>
              <a:effectLst/>
              <a:latin typeface="Google Sans"/>
            </a:endParaRPr>
          </a:p>
          <a:p>
            <a:pPr rtl="0">
              <a:spcBef>
                <a:spcPts val="600"/>
              </a:spcBef>
              <a:spcAft>
                <a:spcPts val="600"/>
              </a:spcAft>
            </a:pPr>
            <a:r>
              <a:rPr lang="en-US" sz="2000" b="1" dirty="0">
                <a:effectLst/>
              </a:rPr>
              <a:t>Global Criterion: "Are results final?</a:t>
            </a:r>
            <a:r>
              <a:rPr lang="pl-PL" sz="2000" b="1" dirty="0">
                <a:effectLst/>
              </a:rPr>
              <a:t>”</a:t>
            </a:r>
          </a:p>
          <a:p>
            <a:pPr rtl="0">
              <a:spcBef>
                <a:spcPts val="600"/>
              </a:spcBef>
              <a:spcAft>
                <a:spcPts val="600"/>
              </a:spcAft>
            </a:pPr>
            <a:r>
              <a:rPr lang="en-US" dirty="0">
                <a:effectLst/>
              </a:rPr>
              <a:t>The goal is to decide if the entire pipeline so far has successfully satisfied the user's original, high-level objective. This requires a different prompt template that looks at the big picture. The Prompt Assembler will gather:</a:t>
            </a:r>
            <a:endParaRPr lang="pl-PL" dirty="0">
              <a:effectLst/>
            </a:endParaRPr>
          </a:p>
          <a:p>
            <a:pPr marL="342900" indent="-342900" rtl="0">
              <a:buFont typeface="+mj-lt"/>
              <a:buAutoNum type="arabicPeriod"/>
            </a:pPr>
            <a:r>
              <a:rPr lang="en-US" b="1" dirty="0">
                <a:effectLst/>
              </a:rPr>
              <a:t>The Original Mission: </a:t>
            </a:r>
            <a:r>
              <a:rPr lang="en-US" dirty="0">
                <a:effectLst/>
              </a:rPr>
              <a:t>The prompt will start by restating the </a:t>
            </a:r>
            <a:r>
              <a:rPr lang="en-US" dirty="0" err="1">
                <a:effectLst/>
                <a:latin typeface="Courier New" panose="02070309020205020404" pitchFamily="49" charset="0"/>
                <a:cs typeface="Courier New" panose="02070309020205020404" pitchFamily="49" charset="0"/>
              </a:rPr>
              <a:t>analysis_objective</a:t>
            </a:r>
            <a:r>
              <a:rPr lang="en-US" dirty="0">
                <a:effectLst/>
              </a:rPr>
              <a:t> from the Metaknowledge JSON we created at the very beginning. (e.g., "The primary goal is to confirm the presence of a cyclic impulsive component related to inner race damage.")</a:t>
            </a:r>
            <a:endParaRPr lang="pl-PL" dirty="0">
              <a:effectLst/>
            </a:endParaRPr>
          </a:p>
          <a:p>
            <a:pPr marL="342900" indent="-342900" rtl="0">
              <a:buFont typeface="+mj-lt"/>
              <a:buAutoNum type="arabicPeriod"/>
            </a:pPr>
            <a:r>
              <a:rPr lang="en-US" b="1" dirty="0">
                <a:effectLst/>
              </a:rPr>
              <a:t>The Journey So Far:</a:t>
            </a:r>
            <a:r>
              <a:rPr lang="en-US" dirty="0">
                <a:effectLst/>
              </a:rPr>
              <a:t> A summary of the </a:t>
            </a:r>
            <a:r>
              <a:rPr lang="en-US" dirty="0" err="1">
                <a:effectLst/>
              </a:rPr>
              <a:t>pipeline_steps</a:t>
            </a:r>
            <a:r>
              <a:rPr lang="en-US" dirty="0">
                <a:effectLst/>
              </a:rPr>
              <a:t> list will be included. (e.g., "You have performed the following sequence: </a:t>
            </a:r>
            <a:r>
              <a:rPr lang="en-US" dirty="0" err="1">
                <a:effectLst/>
                <a:latin typeface="Courier New" panose="02070309020205020404" pitchFamily="49" charset="0"/>
                <a:cs typeface="Courier New" panose="02070309020205020404" pitchFamily="49" charset="0"/>
              </a:rPr>
              <a:t>load_data</a:t>
            </a:r>
            <a:r>
              <a:rPr lang="en-US" dirty="0">
                <a:effectLst/>
              </a:rPr>
              <a:t> -&gt; </a:t>
            </a:r>
            <a:r>
              <a:rPr lang="en-US" dirty="0" err="1">
                <a:effectLst/>
                <a:latin typeface="Courier New" panose="02070309020205020404" pitchFamily="49" charset="0"/>
                <a:cs typeface="Courier New" panose="02070309020205020404" pitchFamily="49" charset="0"/>
              </a:rPr>
              <a:t>create_spectrogram</a:t>
            </a:r>
            <a:r>
              <a:rPr lang="en-US" dirty="0">
                <a:effectLst/>
                <a:latin typeface="Courier New" panose="02070309020205020404" pitchFamily="49" charset="0"/>
                <a:cs typeface="Courier New" panose="02070309020205020404" pitchFamily="49" charset="0"/>
              </a:rPr>
              <a:t> </a:t>
            </a:r>
            <a:r>
              <a:rPr lang="en-US" dirty="0">
                <a:effectLst/>
              </a:rPr>
              <a:t>-&gt; </a:t>
            </a:r>
            <a:r>
              <a:rPr lang="en-US" dirty="0" err="1">
                <a:effectLst/>
                <a:latin typeface="Courier New" panose="02070309020205020404" pitchFamily="49" charset="0"/>
                <a:cs typeface="Courier New" panose="02070309020205020404" pitchFamily="49" charset="0"/>
              </a:rPr>
              <a:t>bandpass_filter</a:t>
            </a:r>
            <a:r>
              <a:rPr lang="en-US" dirty="0">
                <a:effectLst/>
              </a:rPr>
              <a:t> -&gt; </a:t>
            </a:r>
            <a:r>
              <a:rPr lang="en-US" dirty="0" err="1">
                <a:effectLst/>
                <a:latin typeface="Courier New" panose="02070309020205020404" pitchFamily="49" charset="0"/>
                <a:cs typeface="Courier New" panose="02070309020205020404" pitchFamily="49" charset="0"/>
              </a:rPr>
              <a:t>create_envelope_spectrum</a:t>
            </a:r>
            <a:r>
              <a:rPr lang="en-US" dirty="0">
                <a:effectLst/>
              </a:rPr>
              <a:t>.")</a:t>
            </a:r>
            <a:endParaRPr lang="pl-PL" dirty="0">
              <a:effectLst/>
            </a:endParaRPr>
          </a:p>
          <a:p>
            <a:pPr marL="342900" indent="-342900" rtl="0">
              <a:buFont typeface="+mj-lt"/>
              <a:buAutoNum type="arabicPeriod"/>
            </a:pPr>
            <a:r>
              <a:rPr lang="en-US" b="1" dirty="0">
                <a:effectLst/>
              </a:rPr>
              <a:t>The Final Evidence: </a:t>
            </a:r>
            <a:r>
              <a:rPr lang="en-US" dirty="0">
                <a:effectLst/>
              </a:rPr>
              <a:t>The image and quantitative data from the last successful step will be presented as the culminating evidence. (e.g., The final envelope spectrum plot and a list of its dominant peaks).</a:t>
            </a:r>
            <a:endParaRPr lang="pl-PL" dirty="0">
              <a:effectLst/>
            </a:endParaRPr>
          </a:p>
          <a:p>
            <a:pPr marL="342900" indent="-342900" rtl="0">
              <a:buFont typeface="+mj-lt"/>
              <a:buAutoNum type="arabicPeriod"/>
            </a:pPr>
            <a:r>
              <a:rPr lang="en-US" b="1" dirty="0">
                <a:effectLst/>
              </a:rPr>
              <a:t>Knowledge Base Context:</a:t>
            </a:r>
            <a:r>
              <a:rPr lang="en-US" dirty="0">
                <a:effectLst/>
              </a:rPr>
              <a:t> The RAG search here will be broader, searching for things like "conclusive evidence of inner race bearing fault.</a:t>
            </a:r>
            <a:r>
              <a:rPr lang="pl-PL" dirty="0">
                <a:effectLst/>
              </a:rPr>
              <a:t>”</a:t>
            </a:r>
          </a:p>
          <a:p>
            <a:pPr marL="342900" indent="-342900" rtl="0">
              <a:buFont typeface="+mj-lt"/>
              <a:buAutoNum type="arabicPeriod"/>
            </a:pPr>
            <a:r>
              <a:rPr lang="en-US" b="1" dirty="0">
                <a:effectLst/>
              </a:rPr>
              <a:t>The Explicit Question:</a:t>
            </a:r>
            <a:r>
              <a:rPr lang="pl-PL" b="1" dirty="0">
                <a:effectLst/>
              </a:rPr>
              <a:t> </a:t>
            </a:r>
            <a:r>
              <a:rPr lang="en-US" i="1" dirty="0">
                <a:effectLst/>
              </a:rPr>
              <a:t>"Considering the original mission and the entire analysis journey, is the final evidence sufficient to make a conclusion? If yes, state your conclusion. If no, what specific information is still missing?</a:t>
            </a:r>
            <a:r>
              <a:rPr lang="pl-PL" i="1" dirty="0">
                <a:effectLst/>
              </a:rPr>
              <a:t>”</a:t>
            </a:r>
          </a:p>
          <a:p>
            <a:pPr rtl="0">
              <a:spcBef>
                <a:spcPts val="600"/>
              </a:spcBef>
              <a:spcAft>
                <a:spcPts val="600"/>
              </a:spcAft>
            </a:pPr>
            <a:r>
              <a:rPr lang="en-US" dirty="0">
                <a:effectLst/>
              </a:rPr>
              <a:t>Why this works: This prompt forces the LLM to compare the final state against the initial goal. It reasons about the entire process, using the RAG results to understand what a "conclusive" result looks like in this domain.</a:t>
            </a:r>
            <a:endParaRPr lang="en-US" sz="1600" dirty="0">
              <a:effectLst/>
            </a:endParaRPr>
          </a:p>
        </p:txBody>
      </p:sp>
    </p:spTree>
    <p:extLst>
      <p:ext uri="{BB962C8B-B14F-4D97-AF65-F5344CB8AC3E}">
        <p14:creationId xmlns:p14="http://schemas.microsoft.com/office/powerpoint/2010/main" val="3269265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ole tekstowe 4">
            <a:extLst>
              <a:ext uri="{FF2B5EF4-FFF2-40B4-BE49-F238E27FC236}">
                <a16:creationId xmlns:a16="http://schemas.microsoft.com/office/drawing/2014/main" id="{B3C834C9-D5E7-46C8-96BE-331BB8260282}"/>
              </a:ext>
            </a:extLst>
          </p:cNvPr>
          <p:cNvSpPr txBox="1"/>
          <p:nvPr/>
        </p:nvSpPr>
        <p:spPr>
          <a:xfrm>
            <a:off x="265042" y="258901"/>
            <a:ext cx="11754229" cy="3385542"/>
          </a:xfrm>
          <a:prstGeom prst="rect">
            <a:avLst/>
          </a:prstGeom>
          <a:noFill/>
        </p:spPr>
        <p:txBody>
          <a:bodyPr wrap="square">
            <a:spAutoFit/>
          </a:bodyPr>
          <a:lstStyle/>
          <a:p>
            <a:pPr rtl="0">
              <a:spcBef>
                <a:spcPts val="600"/>
              </a:spcBef>
              <a:spcAft>
                <a:spcPts val="600"/>
              </a:spcAft>
            </a:pPr>
            <a:r>
              <a:rPr lang="pl-PL" sz="2800" b="1" i="0" strike="noStrike" dirty="0">
                <a:solidFill>
                  <a:srgbClr val="1B1C1D"/>
                </a:solidFill>
                <a:effectLst/>
                <a:latin typeface="Google Sans"/>
              </a:rPr>
              <a:t>17</a:t>
            </a:r>
            <a:r>
              <a:rPr lang="en-US" sz="2800" b="1" i="0" strike="noStrike" dirty="0">
                <a:solidFill>
                  <a:srgbClr val="1B1C1D"/>
                </a:solidFill>
                <a:effectLst/>
                <a:latin typeface="Google Sans"/>
              </a:rPr>
              <a:t>. </a:t>
            </a:r>
            <a:r>
              <a:rPr lang="pl-PL" sz="2800" b="1" i="0" strike="noStrike" dirty="0" err="1">
                <a:solidFill>
                  <a:srgbClr val="1B1C1D"/>
                </a:solidFill>
                <a:effectLst/>
                <a:latin typeface="Google Sans"/>
              </a:rPr>
              <a:t>Prompt</a:t>
            </a:r>
            <a:r>
              <a:rPr lang="pl-PL" sz="2800" b="1" i="0" strike="noStrike" dirty="0">
                <a:solidFill>
                  <a:srgbClr val="1B1C1D"/>
                </a:solidFill>
                <a:effectLst/>
                <a:latin typeface="Google Sans"/>
              </a:rPr>
              <a:t> assembler</a:t>
            </a:r>
          </a:p>
          <a:p>
            <a:pPr rtl="0">
              <a:spcBef>
                <a:spcPts val="600"/>
              </a:spcBef>
              <a:spcAft>
                <a:spcPts val="600"/>
              </a:spcAft>
            </a:pPr>
            <a:r>
              <a:rPr lang="en-US" sz="2000" b="1" dirty="0">
                <a:effectLst/>
              </a:rPr>
              <a:t>A Dispatcher/Handler Blueprint</a:t>
            </a:r>
            <a:endParaRPr lang="pl-PL" sz="2000" b="1" dirty="0">
              <a:effectLst/>
            </a:endParaRPr>
          </a:p>
          <a:p>
            <a:pPr rtl="0">
              <a:spcBef>
                <a:spcPts val="600"/>
              </a:spcBef>
              <a:spcAft>
                <a:spcPts val="600"/>
              </a:spcAft>
            </a:pPr>
            <a:r>
              <a:rPr lang="en-US" dirty="0">
                <a:effectLst/>
              </a:rPr>
              <a:t>The module would be structured as a class. The public-facing method is the </a:t>
            </a:r>
            <a:r>
              <a:rPr lang="en-US" b="1" dirty="0">
                <a:effectLst/>
              </a:rPr>
              <a:t>Dispatcher</a:t>
            </a:r>
            <a:r>
              <a:rPr lang="en-US" dirty="0">
                <a:effectLst/>
              </a:rPr>
              <a:t>, and the internal, private methods are the </a:t>
            </a:r>
            <a:r>
              <a:rPr lang="en-US" b="1" dirty="0">
                <a:effectLst/>
              </a:rPr>
              <a:t>Handlers</a:t>
            </a:r>
            <a:r>
              <a:rPr lang="en-US" dirty="0">
                <a:effectLst/>
              </a:rPr>
              <a:t> for each specific case.</a:t>
            </a:r>
            <a:r>
              <a:rPr lang="pl-PL" dirty="0">
                <a:effectLst/>
              </a:rPr>
              <a:t> I </a:t>
            </a:r>
            <a:r>
              <a:rPr lang="en-US" dirty="0">
                <a:effectLst/>
              </a:rPr>
              <a:t>will have several distinct "prompting situations" (local criterion, global criterion, metaknowledge, etc.), and trying to manage them all with a single, massive if/else block would be a maintenance nightmare. A dispatcher/handler approach is clean, modular, and scalable.</a:t>
            </a:r>
            <a:endParaRPr lang="pl-PL" dirty="0"/>
          </a:p>
          <a:p>
            <a:pPr rtl="0">
              <a:spcBef>
                <a:spcPts val="600"/>
              </a:spcBef>
              <a:spcAft>
                <a:spcPts val="600"/>
              </a:spcAft>
            </a:pPr>
            <a:r>
              <a:rPr lang="en-US" sz="2000" b="1" dirty="0">
                <a:effectLst/>
              </a:rPr>
              <a:t>How it Fits into the Orchestrator</a:t>
            </a:r>
            <a:endParaRPr lang="pl-PL" sz="2000" b="1" dirty="0">
              <a:effectLst/>
            </a:endParaRPr>
          </a:p>
          <a:p>
            <a:pPr rtl="0">
              <a:spcBef>
                <a:spcPts val="600"/>
              </a:spcBef>
              <a:spcAft>
                <a:spcPts val="600"/>
              </a:spcAft>
            </a:pPr>
            <a:r>
              <a:rPr lang="en-US" dirty="0">
                <a:effectLst/>
              </a:rPr>
              <a:t>The </a:t>
            </a:r>
            <a:r>
              <a:rPr lang="en-US" dirty="0" err="1">
                <a:effectLst/>
                <a:latin typeface="Courier New" panose="02070309020205020404" pitchFamily="49" charset="0"/>
                <a:cs typeface="Courier New" panose="02070309020205020404" pitchFamily="49" charset="0"/>
              </a:rPr>
              <a:t>LLMOrchestrator</a:t>
            </a:r>
            <a:r>
              <a:rPr lang="en-US" dirty="0">
                <a:effectLst/>
              </a:rPr>
              <a:t> becomes much cleaner. Instead of having messy prompt-building logic inside its methods, it focuses on its main job: managing the flow and gathering the necessary data.</a:t>
            </a:r>
            <a:endParaRPr lang="pl-PL" dirty="0">
              <a:effectLst/>
            </a:endParaRPr>
          </a:p>
        </p:txBody>
      </p:sp>
    </p:spTree>
    <p:extLst>
      <p:ext uri="{BB962C8B-B14F-4D97-AF65-F5344CB8AC3E}">
        <p14:creationId xmlns:p14="http://schemas.microsoft.com/office/powerpoint/2010/main" val="20255166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ole tekstowe 4">
            <a:extLst>
              <a:ext uri="{FF2B5EF4-FFF2-40B4-BE49-F238E27FC236}">
                <a16:creationId xmlns:a16="http://schemas.microsoft.com/office/drawing/2014/main" id="{46E71797-72AB-4194-AAD3-B0A8912480E6}"/>
              </a:ext>
            </a:extLst>
          </p:cNvPr>
          <p:cNvSpPr txBox="1"/>
          <p:nvPr/>
        </p:nvSpPr>
        <p:spPr>
          <a:xfrm>
            <a:off x="218536" y="231894"/>
            <a:ext cx="11496136" cy="6186309"/>
          </a:xfrm>
          <a:prstGeom prst="rect">
            <a:avLst/>
          </a:prstGeom>
          <a:noFill/>
        </p:spPr>
        <p:txBody>
          <a:bodyPr wrap="square">
            <a:spAutoFit/>
          </a:bodyPr>
          <a:lstStyle/>
          <a:p>
            <a:pPr rtl="0">
              <a:spcBef>
                <a:spcPts val="600"/>
              </a:spcBef>
              <a:spcAft>
                <a:spcPts val="600"/>
              </a:spcAft>
            </a:pPr>
            <a:r>
              <a:rPr lang="pl-PL" sz="2800" b="1" dirty="0" err="1">
                <a:solidFill>
                  <a:srgbClr val="1B1C1D"/>
                </a:solidFill>
                <a:latin typeface="Google Sans"/>
              </a:rPr>
              <a:t>Research</a:t>
            </a:r>
            <a:r>
              <a:rPr lang="pl-PL" sz="2800" b="1" dirty="0">
                <a:solidFill>
                  <a:srgbClr val="1B1C1D"/>
                </a:solidFill>
                <a:latin typeface="Google Sans"/>
              </a:rPr>
              <a:t> plan</a:t>
            </a:r>
            <a:endParaRPr lang="en-US" sz="2000" b="1" dirty="0">
              <a:effectLst/>
            </a:endParaRPr>
          </a:p>
          <a:p>
            <a:pPr rtl="0">
              <a:spcBef>
                <a:spcPts val="0"/>
              </a:spcBef>
              <a:spcAft>
                <a:spcPts val="600"/>
              </a:spcAft>
            </a:pPr>
            <a:r>
              <a:rPr lang="pl-PL" sz="2000" b="1" i="0" u="none" strike="noStrike" dirty="0">
                <a:solidFill>
                  <a:srgbClr val="1B1C1D"/>
                </a:solidFill>
                <a:effectLst/>
                <a:latin typeface="Google Sans Text"/>
              </a:rPr>
              <a:t>WP1: </a:t>
            </a:r>
            <a:r>
              <a:rPr lang="pl-PL" sz="2000" b="1" i="0" u="none" strike="noStrike" dirty="0" err="1">
                <a:solidFill>
                  <a:srgbClr val="1B1C1D"/>
                </a:solidFill>
                <a:effectLst/>
                <a:latin typeface="Google Sans Text"/>
              </a:rPr>
              <a:t>Prerequisites</a:t>
            </a:r>
            <a:endParaRPr lang="pl-PL" sz="2000" b="1" i="0" u="none" strike="noStrike" dirty="0">
              <a:solidFill>
                <a:srgbClr val="1B1C1D"/>
              </a:solidFill>
              <a:effectLst/>
              <a:latin typeface="Google Sans Text"/>
            </a:endParaRPr>
          </a:p>
          <a:p>
            <a:pPr marL="285750" indent="-285750" rtl="0">
              <a:spcBef>
                <a:spcPts val="0"/>
              </a:spcBef>
              <a:spcAft>
                <a:spcPts val="600"/>
              </a:spcAft>
              <a:buFont typeface="Arial" panose="020B0604020202020204" pitchFamily="34" charset="0"/>
              <a:buChar char="•"/>
            </a:pPr>
            <a:r>
              <a:rPr lang="pl-PL" sz="2000" dirty="0">
                <a:solidFill>
                  <a:srgbClr val="1B1C1D"/>
                </a:solidFill>
                <a:latin typeface="Google Sans Text"/>
              </a:rPr>
              <a:t>T1.1: Definition of the </a:t>
            </a:r>
            <a:r>
              <a:rPr lang="pl-PL" sz="2000" dirty="0" err="1">
                <a:solidFill>
                  <a:srgbClr val="1B1C1D"/>
                </a:solidFill>
                <a:latin typeface="Google Sans Text"/>
              </a:rPr>
              <a:t>structure</a:t>
            </a:r>
            <a:r>
              <a:rPr lang="pl-PL" sz="2000" dirty="0">
                <a:solidFill>
                  <a:srgbClr val="1B1C1D"/>
                </a:solidFill>
                <a:latin typeface="Google Sans Text"/>
              </a:rPr>
              <a:t> of </a:t>
            </a:r>
            <a:r>
              <a:rPr lang="pl-PL" sz="2000" dirty="0" err="1">
                <a:solidFill>
                  <a:srgbClr val="1B1C1D"/>
                </a:solidFill>
                <a:latin typeface="Google Sans Text"/>
              </a:rPr>
              <a:t>input</a:t>
            </a:r>
            <a:r>
              <a:rPr lang="pl-PL" sz="2000" dirty="0">
                <a:solidFill>
                  <a:srgbClr val="1B1C1D"/>
                </a:solidFill>
                <a:latin typeface="Google Sans Text"/>
              </a:rPr>
              <a:t> data </a:t>
            </a:r>
            <a:r>
              <a:rPr lang="pl-PL" sz="2000" dirty="0" err="1">
                <a:solidFill>
                  <a:srgbClr val="1B1C1D"/>
                </a:solidFill>
                <a:latin typeface="Google Sans Text"/>
              </a:rPr>
              <a:t>description</a:t>
            </a:r>
            <a:r>
              <a:rPr lang="pl-PL" sz="2000" dirty="0">
                <a:solidFill>
                  <a:srgbClr val="1B1C1D"/>
                </a:solidFill>
                <a:latin typeface="Google Sans Text"/>
              </a:rPr>
              <a:t>.</a:t>
            </a:r>
          </a:p>
          <a:p>
            <a:pPr marL="285750" indent="-285750" rtl="0">
              <a:spcBef>
                <a:spcPts val="0"/>
              </a:spcBef>
              <a:spcAft>
                <a:spcPts val="600"/>
              </a:spcAft>
              <a:buFont typeface="Arial" panose="020B0604020202020204" pitchFamily="34" charset="0"/>
              <a:buChar char="•"/>
            </a:pPr>
            <a:r>
              <a:rPr lang="pl-PL" sz="2000" b="0" i="0" u="none" strike="noStrike" dirty="0">
                <a:solidFill>
                  <a:srgbClr val="1B1C1D"/>
                </a:solidFill>
                <a:effectLst/>
                <a:latin typeface="Google Sans Text"/>
              </a:rPr>
              <a:t>T1.2: Definition of </a:t>
            </a:r>
            <a:r>
              <a:rPr lang="pl-PL" sz="2000" b="0" i="0" u="none" strike="noStrike" dirty="0" err="1">
                <a:solidFill>
                  <a:srgbClr val="1B1C1D"/>
                </a:solidFill>
                <a:effectLst/>
                <a:latin typeface="Google Sans Text"/>
              </a:rPr>
              <a:t>prompt</a:t>
            </a:r>
            <a:r>
              <a:rPr lang="pl-PL" sz="2000" b="0" i="0" u="none" strike="noStrike" dirty="0">
                <a:solidFill>
                  <a:srgbClr val="1B1C1D"/>
                </a:solidFill>
                <a:effectLst/>
                <a:latin typeface="Google Sans Text"/>
              </a:rPr>
              <a:t> </a:t>
            </a:r>
            <a:r>
              <a:rPr lang="pl-PL" sz="2000" b="0" i="0" u="none" strike="noStrike" dirty="0" err="1">
                <a:solidFill>
                  <a:srgbClr val="1B1C1D"/>
                </a:solidFill>
                <a:effectLst/>
                <a:latin typeface="Google Sans Text"/>
              </a:rPr>
              <a:t>structure</a:t>
            </a:r>
            <a:r>
              <a:rPr lang="pl-PL" sz="2000" b="0" i="0" u="none" strike="noStrike" dirty="0">
                <a:solidFill>
                  <a:srgbClr val="1B1C1D"/>
                </a:solidFill>
                <a:effectLst/>
                <a:latin typeface="Google Sans Text"/>
              </a:rPr>
              <a:t> for </a:t>
            </a:r>
            <a:r>
              <a:rPr lang="pl-PL" sz="2000" b="0" i="0" u="none" strike="noStrike" dirty="0" err="1">
                <a:solidFill>
                  <a:srgbClr val="1B1C1D"/>
                </a:solidFill>
                <a:effectLst/>
                <a:latin typeface="Google Sans Text"/>
              </a:rPr>
              <a:t>domain</a:t>
            </a:r>
            <a:r>
              <a:rPr lang="pl-PL" sz="2000" b="0" i="0" u="none" strike="noStrike" dirty="0">
                <a:solidFill>
                  <a:srgbClr val="1B1C1D"/>
                </a:solidFill>
                <a:effectLst/>
                <a:latin typeface="Google Sans Text"/>
              </a:rPr>
              <a:t> </a:t>
            </a:r>
            <a:r>
              <a:rPr lang="pl-PL" sz="2000" b="0" i="0" u="none" strike="noStrike" dirty="0" err="1">
                <a:solidFill>
                  <a:srgbClr val="1B1C1D"/>
                </a:solidFill>
                <a:effectLst/>
                <a:latin typeface="Google Sans Text"/>
              </a:rPr>
              <a:t>expert</a:t>
            </a:r>
            <a:r>
              <a:rPr lang="pl-PL" sz="2000" b="0" i="0" u="none" strike="noStrike" dirty="0">
                <a:solidFill>
                  <a:srgbClr val="1B1C1D"/>
                </a:solidFill>
                <a:effectLst/>
                <a:latin typeface="Google Sans Text"/>
              </a:rPr>
              <a:t> </a:t>
            </a:r>
            <a:r>
              <a:rPr lang="pl-PL" sz="2000" b="0" i="0" u="none" strike="noStrike" dirty="0" err="1">
                <a:solidFill>
                  <a:srgbClr val="1B1C1D"/>
                </a:solidFill>
                <a:effectLst/>
                <a:latin typeface="Google Sans Text"/>
              </a:rPr>
              <a:t>that</a:t>
            </a:r>
            <a:r>
              <a:rPr lang="pl-PL" sz="2000" b="0" i="0" u="none" strike="noStrike" dirty="0">
                <a:solidFill>
                  <a:srgbClr val="1B1C1D"/>
                </a:solidFill>
                <a:effectLst/>
                <a:latin typeface="Google Sans Text"/>
              </a:rPr>
              <a:t> </a:t>
            </a:r>
            <a:r>
              <a:rPr lang="pl-PL" sz="2000" b="0" i="0" u="none" strike="noStrike" dirty="0" err="1">
                <a:solidFill>
                  <a:srgbClr val="1B1C1D"/>
                </a:solidFill>
                <a:effectLst/>
                <a:latin typeface="Google Sans Text"/>
              </a:rPr>
              <a:t>will</a:t>
            </a:r>
            <a:r>
              <a:rPr lang="pl-PL" sz="2000" b="0" i="0" u="none" strike="noStrike" dirty="0">
                <a:solidFill>
                  <a:srgbClr val="1B1C1D"/>
                </a:solidFill>
                <a:effectLst/>
                <a:latin typeface="Google Sans Text"/>
              </a:rPr>
              <a:t> </a:t>
            </a:r>
            <a:r>
              <a:rPr lang="pl-PL" sz="2000" b="0" i="0" u="none" strike="noStrike" dirty="0" err="1">
                <a:solidFill>
                  <a:srgbClr val="1B1C1D"/>
                </a:solidFill>
                <a:effectLst/>
                <a:latin typeface="Google Sans Text"/>
              </a:rPr>
              <a:t>convert</a:t>
            </a:r>
            <a:r>
              <a:rPr lang="pl-PL" sz="2000" b="0" i="0" u="none" strike="noStrike" dirty="0">
                <a:solidFill>
                  <a:srgbClr val="1B1C1D"/>
                </a:solidFill>
                <a:effectLst/>
                <a:latin typeface="Google Sans Text"/>
              </a:rPr>
              <a:t> </a:t>
            </a:r>
            <a:r>
              <a:rPr lang="pl-PL" sz="2000" b="0" i="0" u="none" strike="noStrike" dirty="0" err="1">
                <a:solidFill>
                  <a:srgbClr val="1B1C1D"/>
                </a:solidFill>
                <a:effectLst/>
                <a:latin typeface="Google Sans Text"/>
              </a:rPr>
              <a:t>information</a:t>
            </a:r>
            <a:r>
              <a:rPr lang="pl-PL" sz="2000" b="0" i="0" u="none" strike="noStrike" dirty="0">
                <a:solidFill>
                  <a:srgbClr val="1B1C1D"/>
                </a:solidFill>
                <a:effectLst/>
                <a:latin typeface="Google Sans Text"/>
              </a:rPr>
              <a:t> </a:t>
            </a:r>
            <a:r>
              <a:rPr lang="pl-PL" sz="2000" b="0" i="0" u="none" strike="noStrike" dirty="0" err="1">
                <a:solidFill>
                  <a:srgbClr val="1B1C1D"/>
                </a:solidFill>
                <a:effectLst/>
                <a:latin typeface="Google Sans Text"/>
              </a:rPr>
              <a:t>about</a:t>
            </a:r>
            <a:r>
              <a:rPr lang="pl-PL" sz="2000" b="0" i="0" u="none" strike="noStrike" dirty="0">
                <a:solidFill>
                  <a:srgbClr val="1B1C1D"/>
                </a:solidFill>
                <a:effectLst/>
                <a:latin typeface="Google Sans Text"/>
              </a:rPr>
              <a:t> </a:t>
            </a:r>
            <a:r>
              <a:rPr lang="pl-PL" sz="2000" b="0" i="0" u="none" strike="noStrike" dirty="0" err="1">
                <a:solidFill>
                  <a:srgbClr val="1B1C1D"/>
                </a:solidFill>
                <a:effectLst/>
                <a:latin typeface="Google Sans Text"/>
              </a:rPr>
              <a:t>input</a:t>
            </a:r>
            <a:r>
              <a:rPr lang="pl-PL" sz="2000" b="0" i="0" u="none" strike="noStrike" dirty="0">
                <a:solidFill>
                  <a:srgbClr val="1B1C1D"/>
                </a:solidFill>
                <a:effectLst/>
                <a:latin typeface="Google Sans Text"/>
              </a:rPr>
              <a:t> data and </a:t>
            </a:r>
            <a:r>
              <a:rPr lang="pl-PL" sz="2000" b="0" i="0" u="none" strike="noStrike" dirty="0" err="1">
                <a:solidFill>
                  <a:srgbClr val="1B1C1D"/>
                </a:solidFill>
                <a:effectLst/>
                <a:latin typeface="Google Sans Text"/>
              </a:rPr>
              <a:t>objectives</a:t>
            </a:r>
            <a:r>
              <a:rPr lang="pl-PL" sz="2000" b="0" i="0" u="none" strike="noStrike" dirty="0">
                <a:solidFill>
                  <a:srgbClr val="1B1C1D"/>
                </a:solidFill>
                <a:effectLst/>
                <a:latin typeface="Google Sans Text"/>
              </a:rPr>
              <a:t> </a:t>
            </a:r>
            <a:r>
              <a:rPr lang="pl-PL" sz="2000" b="0" i="0" u="none" strike="noStrike" dirty="0" err="1">
                <a:solidFill>
                  <a:srgbClr val="1B1C1D"/>
                </a:solidFill>
                <a:effectLst/>
                <a:latin typeface="Google Sans Text"/>
              </a:rPr>
              <a:t>into</a:t>
            </a:r>
            <a:r>
              <a:rPr lang="pl-PL" sz="2000" b="0" i="0" u="none" strike="noStrike" dirty="0">
                <a:solidFill>
                  <a:srgbClr val="1B1C1D"/>
                </a:solidFill>
                <a:effectLst/>
                <a:latin typeface="Google Sans Text"/>
              </a:rPr>
              <a:t> </a:t>
            </a:r>
            <a:r>
              <a:rPr lang="pl-PL" sz="2000" b="0" i="0" u="none" strike="noStrike" dirty="0" err="1">
                <a:solidFill>
                  <a:srgbClr val="1B1C1D"/>
                </a:solidFill>
                <a:effectLst/>
                <a:latin typeface="Google Sans Text"/>
              </a:rPr>
              <a:t>structured</a:t>
            </a:r>
            <a:r>
              <a:rPr lang="pl-PL" sz="2000" b="0" i="0" u="none" strike="noStrike" dirty="0">
                <a:solidFill>
                  <a:srgbClr val="1B1C1D"/>
                </a:solidFill>
                <a:effectLst/>
                <a:latin typeface="Google Sans Text"/>
              </a:rPr>
              <a:t> </a:t>
            </a:r>
            <a:r>
              <a:rPr lang="pl-PL" sz="2000" b="0" i="0" u="none" strike="noStrike" dirty="0" err="1">
                <a:solidFill>
                  <a:srgbClr val="1B1C1D"/>
                </a:solidFill>
                <a:effectLst/>
                <a:latin typeface="Google Sans Text"/>
              </a:rPr>
              <a:t>domain</a:t>
            </a:r>
            <a:r>
              <a:rPr lang="pl-PL" sz="2000" b="0" i="0" u="none" strike="noStrike" dirty="0">
                <a:solidFill>
                  <a:srgbClr val="1B1C1D"/>
                </a:solidFill>
                <a:effectLst/>
                <a:latin typeface="Google Sans Text"/>
              </a:rPr>
              <a:t> </a:t>
            </a:r>
            <a:r>
              <a:rPr lang="pl-PL" sz="2000" b="0" i="0" u="none" strike="noStrike" dirty="0" err="1">
                <a:solidFill>
                  <a:srgbClr val="1B1C1D"/>
                </a:solidFill>
                <a:effectLst/>
                <a:latin typeface="Google Sans Text"/>
              </a:rPr>
              <a:t>knowledge</a:t>
            </a:r>
            <a:r>
              <a:rPr lang="pl-PL" sz="2000" b="0" i="0" u="none" strike="noStrike" dirty="0">
                <a:solidFill>
                  <a:srgbClr val="1B1C1D"/>
                </a:solidFill>
                <a:effectLst/>
                <a:latin typeface="Google Sans Text"/>
              </a:rPr>
              <a:t>.</a:t>
            </a:r>
          </a:p>
          <a:p>
            <a:pPr marL="285750" indent="-285750" rtl="0">
              <a:spcBef>
                <a:spcPts val="0"/>
              </a:spcBef>
              <a:spcAft>
                <a:spcPts val="600"/>
              </a:spcAft>
              <a:buFont typeface="Arial" panose="020B0604020202020204" pitchFamily="34" charset="0"/>
              <a:buChar char="•"/>
            </a:pPr>
            <a:r>
              <a:rPr lang="pl-PL" sz="2000" dirty="0">
                <a:solidFill>
                  <a:srgbClr val="1B1C1D"/>
                </a:solidFill>
                <a:latin typeface="Google Sans Text"/>
              </a:rPr>
              <a:t>T1.3: </a:t>
            </a:r>
            <a:r>
              <a:rPr lang="pl-PL" sz="2000" dirty="0" err="1">
                <a:solidFill>
                  <a:srgbClr val="1B1C1D"/>
                </a:solidFill>
                <a:latin typeface="Google Sans Text"/>
              </a:rPr>
              <a:t>Preparation</a:t>
            </a:r>
            <a:r>
              <a:rPr lang="pl-PL" sz="2000" dirty="0">
                <a:solidFill>
                  <a:srgbClr val="1B1C1D"/>
                </a:solidFill>
                <a:latin typeface="Google Sans Text"/>
              </a:rPr>
              <a:t> of </a:t>
            </a:r>
            <a:r>
              <a:rPr lang="pl-PL" sz="2000" dirty="0" err="1">
                <a:solidFill>
                  <a:srgbClr val="1B1C1D"/>
                </a:solidFill>
                <a:latin typeface="Google Sans Text"/>
              </a:rPr>
              <a:t>initial</a:t>
            </a:r>
            <a:r>
              <a:rPr lang="pl-PL" sz="2000" dirty="0">
                <a:solidFill>
                  <a:srgbClr val="1B1C1D"/>
                </a:solidFill>
                <a:latin typeface="Google Sans Text"/>
              </a:rPr>
              <a:t> form of </a:t>
            </a:r>
            <a:r>
              <a:rPr lang="pl-PL" sz="2000" dirty="0" err="1">
                <a:solidFill>
                  <a:srgbClr val="1B1C1D"/>
                </a:solidFill>
                <a:latin typeface="Google Sans Text"/>
              </a:rPr>
              <a:t>knowledge</a:t>
            </a:r>
            <a:r>
              <a:rPr lang="pl-PL" sz="2000" dirty="0">
                <a:solidFill>
                  <a:srgbClr val="1B1C1D"/>
                </a:solidFill>
                <a:latin typeface="Google Sans Text"/>
              </a:rPr>
              <a:t> </a:t>
            </a:r>
            <a:r>
              <a:rPr lang="pl-PL" sz="2000" dirty="0" err="1">
                <a:solidFill>
                  <a:srgbClr val="1B1C1D"/>
                </a:solidFill>
                <a:latin typeface="Google Sans Text"/>
              </a:rPr>
              <a:t>base</a:t>
            </a:r>
            <a:r>
              <a:rPr lang="pl-PL" sz="2000" dirty="0">
                <a:solidFill>
                  <a:srgbClr val="1B1C1D"/>
                </a:solidFill>
                <a:latin typeface="Google Sans Text"/>
              </a:rPr>
              <a:t> and </a:t>
            </a:r>
            <a:r>
              <a:rPr lang="pl-PL" sz="2000" dirty="0" err="1">
                <a:solidFill>
                  <a:srgbClr val="1B1C1D"/>
                </a:solidFill>
                <a:latin typeface="Google Sans Text"/>
              </a:rPr>
              <a:t>toolkit</a:t>
            </a:r>
            <a:r>
              <a:rPr lang="pl-PL" sz="2000" dirty="0">
                <a:solidFill>
                  <a:srgbClr val="1B1C1D"/>
                </a:solidFill>
                <a:latin typeface="Google Sans Text"/>
              </a:rPr>
              <a:t>.</a:t>
            </a:r>
          </a:p>
          <a:p>
            <a:pPr marL="285750" indent="-285750" rtl="0">
              <a:spcBef>
                <a:spcPts val="0"/>
              </a:spcBef>
              <a:spcAft>
                <a:spcPts val="600"/>
              </a:spcAft>
              <a:buFont typeface="Arial" panose="020B0604020202020204" pitchFamily="34" charset="0"/>
              <a:buChar char="•"/>
            </a:pPr>
            <a:r>
              <a:rPr lang="pl-PL" sz="2000" dirty="0">
                <a:solidFill>
                  <a:srgbClr val="1B1C1D"/>
                </a:solidFill>
                <a:latin typeface="Google Sans Text"/>
              </a:rPr>
              <a:t>T1.4: Design of RAG </a:t>
            </a:r>
            <a:r>
              <a:rPr lang="pl-PL" sz="2000" dirty="0" err="1">
                <a:solidFill>
                  <a:srgbClr val="1B1C1D"/>
                </a:solidFill>
                <a:latin typeface="Google Sans Text"/>
              </a:rPr>
              <a:t>indexing</a:t>
            </a:r>
            <a:r>
              <a:rPr lang="pl-PL" sz="2000" dirty="0">
                <a:solidFill>
                  <a:srgbClr val="1B1C1D"/>
                </a:solidFill>
                <a:latin typeface="Google Sans Text"/>
              </a:rPr>
              <a:t> module.</a:t>
            </a:r>
            <a:endParaRPr lang="pl-PL" sz="2000" b="0" i="0" u="none" strike="noStrike" dirty="0">
              <a:solidFill>
                <a:srgbClr val="1B1C1D"/>
              </a:solidFill>
              <a:effectLst/>
              <a:latin typeface="Google Sans Text"/>
            </a:endParaRPr>
          </a:p>
          <a:p>
            <a:pPr rtl="0">
              <a:spcBef>
                <a:spcPts val="0"/>
              </a:spcBef>
              <a:spcAft>
                <a:spcPts val="600"/>
              </a:spcAft>
            </a:pPr>
            <a:r>
              <a:rPr lang="pl-PL" sz="2000" b="1" dirty="0">
                <a:solidFill>
                  <a:srgbClr val="1B1C1D"/>
                </a:solidFill>
                <a:latin typeface="Google Sans Text"/>
              </a:rPr>
              <a:t>WP2: Design of </a:t>
            </a:r>
            <a:r>
              <a:rPr lang="pl-PL" sz="2000" b="1" dirty="0" err="1">
                <a:solidFill>
                  <a:srgbClr val="1B1C1D"/>
                </a:solidFill>
                <a:latin typeface="Google Sans Text"/>
              </a:rPr>
              <a:t>main</a:t>
            </a:r>
            <a:r>
              <a:rPr lang="pl-PL" sz="2000" b="1" dirty="0">
                <a:solidFill>
                  <a:srgbClr val="1B1C1D"/>
                </a:solidFill>
                <a:latin typeface="Google Sans Text"/>
              </a:rPr>
              <a:t> </a:t>
            </a:r>
            <a:r>
              <a:rPr lang="pl-PL" sz="2000" b="1" dirty="0" err="1">
                <a:solidFill>
                  <a:srgbClr val="1B1C1D"/>
                </a:solidFill>
                <a:latin typeface="Google Sans Text"/>
              </a:rPr>
              <a:t>components</a:t>
            </a:r>
            <a:r>
              <a:rPr lang="pl-PL" sz="2000" b="1" dirty="0">
                <a:solidFill>
                  <a:srgbClr val="1B1C1D"/>
                </a:solidFill>
                <a:latin typeface="Google Sans Text"/>
              </a:rPr>
              <a:t> of the system.</a:t>
            </a:r>
          </a:p>
          <a:p>
            <a:pPr marL="285750" indent="-285750" rtl="0">
              <a:spcBef>
                <a:spcPts val="0"/>
              </a:spcBef>
              <a:spcAft>
                <a:spcPts val="600"/>
              </a:spcAft>
              <a:buFont typeface="Arial" panose="020B0604020202020204" pitchFamily="34" charset="0"/>
              <a:buChar char="•"/>
            </a:pPr>
            <a:r>
              <a:rPr lang="pl-PL" sz="2000" b="0" i="0" u="none" strike="noStrike" dirty="0">
                <a:solidFill>
                  <a:srgbClr val="1B1C1D"/>
                </a:solidFill>
                <a:effectLst/>
                <a:latin typeface="Google Sans Text"/>
              </a:rPr>
              <a:t>T2.1: Design of master </a:t>
            </a:r>
            <a:r>
              <a:rPr lang="pl-PL" sz="2000" b="0" i="0" u="none" strike="noStrike" dirty="0" err="1">
                <a:solidFill>
                  <a:srgbClr val="1B1C1D"/>
                </a:solidFill>
                <a:effectLst/>
                <a:latin typeface="Google Sans Text"/>
              </a:rPr>
              <a:t>prompts</a:t>
            </a:r>
            <a:r>
              <a:rPr lang="pl-PL" sz="2000" b="0" i="0" u="none" strike="noStrike" dirty="0">
                <a:solidFill>
                  <a:srgbClr val="1B1C1D"/>
                </a:solidFill>
                <a:effectLst/>
                <a:latin typeface="Google Sans Text"/>
              </a:rPr>
              <a:t> for LRM </a:t>
            </a:r>
            <a:r>
              <a:rPr lang="pl-PL" sz="2000" b="0" i="0" u="none" strike="noStrike" dirty="0" err="1">
                <a:solidFill>
                  <a:srgbClr val="1B1C1D"/>
                </a:solidFill>
                <a:effectLst/>
                <a:latin typeface="Google Sans Text"/>
              </a:rPr>
              <a:t>orchestrator</a:t>
            </a:r>
            <a:r>
              <a:rPr lang="pl-PL" sz="2000" b="0" i="0" u="none" strike="noStrike" dirty="0">
                <a:solidFill>
                  <a:srgbClr val="1B1C1D"/>
                </a:solidFill>
                <a:effectLst/>
                <a:latin typeface="Google Sans Text"/>
              </a:rPr>
              <a:t>.</a:t>
            </a:r>
          </a:p>
          <a:p>
            <a:pPr marL="285750" indent="-285750" rtl="0">
              <a:spcBef>
                <a:spcPts val="0"/>
              </a:spcBef>
              <a:spcAft>
                <a:spcPts val="600"/>
              </a:spcAft>
              <a:buFont typeface="Arial" panose="020B0604020202020204" pitchFamily="34" charset="0"/>
              <a:buChar char="•"/>
            </a:pPr>
            <a:r>
              <a:rPr lang="pl-PL" sz="2000" dirty="0">
                <a:solidFill>
                  <a:srgbClr val="1B1C1D"/>
                </a:solidFill>
                <a:latin typeface="Google Sans Text"/>
              </a:rPr>
              <a:t>T2.2: Design of </a:t>
            </a:r>
            <a:r>
              <a:rPr lang="pl-PL" sz="2000" dirty="0" err="1">
                <a:solidFill>
                  <a:srgbClr val="1B1C1D"/>
                </a:solidFill>
                <a:latin typeface="Google Sans Text"/>
              </a:rPr>
              <a:t>quantitative</a:t>
            </a:r>
            <a:r>
              <a:rPr lang="pl-PL" sz="2000" dirty="0">
                <a:solidFill>
                  <a:srgbClr val="1B1C1D"/>
                </a:solidFill>
                <a:latin typeface="Google Sans Text"/>
              </a:rPr>
              <a:t> </a:t>
            </a:r>
            <a:r>
              <a:rPr lang="pl-PL" sz="2000" dirty="0" err="1">
                <a:solidFill>
                  <a:srgbClr val="1B1C1D"/>
                </a:solidFill>
                <a:latin typeface="Google Sans Text"/>
              </a:rPr>
              <a:t>parameterization</a:t>
            </a:r>
            <a:r>
              <a:rPr lang="pl-PL" sz="2000" dirty="0">
                <a:solidFill>
                  <a:srgbClr val="1B1C1D"/>
                </a:solidFill>
                <a:latin typeface="Google Sans Text"/>
              </a:rPr>
              <a:t> module.</a:t>
            </a:r>
          </a:p>
          <a:p>
            <a:pPr marL="285750" indent="-285750" rtl="0">
              <a:spcBef>
                <a:spcPts val="0"/>
              </a:spcBef>
              <a:spcAft>
                <a:spcPts val="600"/>
              </a:spcAft>
              <a:buFont typeface="Arial" panose="020B0604020202020204" pitchFamily="34" charset="0"/>
              <a:buChar char="•"/>
            </a:pPr>
            <a:r>
              <a:rPr lang="pl-PL" sz="2000" dirty="0">
                <a:solidFill>
                  <a:srgbClr val="1B1C1D"/>
                </a:solidFill>
                <a:latin typeface="Google Sans Text"/>
              </a:rPr>
              <a:t>T2.3: Design of </a:t>
            </a:r>
            <a:r>
              <a:rPr lang="pl-PL" sz="2000" dirty="0" err="1">
                <a:solidFill>
                  <a:srgbClr val="1B1C1D"/>
                </a:solidFill>
                <a:latin typeface="Google Sans Text"/>
              </a:rPr>
              <a:t>result</a:t>
            </a:r>
            <a:r>
              <a:rPr lang="pl-PL" sz="2000" dirty="0">
                <a:solidFill>
                  <a:srgbClr val="1B1C1D"/>
                </a:solidFill>
                <a:latin typeface="Google Sans Text"/>
              </a:rPr>
              <a:t> </a:t>
            </a:r>
            <a:r>
              <a:rPr lang="pl-PL" sz="2000" dirty="0" err="1">
                <a:solidFill>
                  <a:srgbClr val="1B1C1D"/>
                </a:solidFill>
                <a:latin typeface="Google Sans Text"/>
              </a:rPr>
              <a:t>evaluation</a:t>
            </a:r>
            <a:r>
              <a:rPr lang="pl-PL" sz="2000" dirty="0">
                <a:solidFill>
                  <a:srgbClr val="1B1C1D"/>
                </a:solidFill>
                <a:latin typeface="Google Sans Text"/>
              </a:rPr>
              <a:t> </a:t>
            </a:r>
            <a:r>
              <a:rPr lang="pl-PL" sz="2000" dirty="0" err="1">
                <a:solidFill>
                  <a:srgbClr val="1B1C1D"/>
                </a:solidFill>
                <a:latin typeface="Google Sans Text"/>
              </a:rPr>
              <a:t>criteria</a:t>
            </a:r>
            <a:r>
              <a:rPr lang="pl-PL" sz="2000" dirty="0">
                <a:solidFill>
                  <a:srgbClr val="1B1C1D"/>
                </a:solidFill>
                <a:latin typeface="Google Sans Text"/>
              </a:rPr>
              <a:t>.</a:t>
            </a:r>
          </a:p>
          <a:p>
            <a:pPr rtl="0">
              <a:spcBef>
                <a:spcPts val="0"/>
              </a:spcBef>
              <a:spcAft>
                <a:spcPts val="600"/>
              </a:spcAft>
            </a:pPr>
            <a:r>
              <a:rPr lang="pl-PL" sz="2000" b="1" dirty="0">
                <a:solidFill>
                  <a:srgbClr val="1B1C1D"/>
                </a:solidFill>
                <a:latin typeface="Google Sans Text"/>
              </a:rPr>
              <a:t>WP3: System </a:t>
            </a:r>
            <a:r>
              <a:rPr lang="pl-PL" sz="2000" b="1" dirty="0" err="1">
                <a:solidFill>
                  <a:srgbClr val="1B1C1D"/>
                </a:solidFill>
                <a:latin typeface="Google Sans Text"/>
              </a:rPr>
              <a:t>curation</a:t>
            </a:r>
            <a:r>
              <a:rPr lang="pl-PL" sz="2000" b="1" dirty="0">
                <a:solidFill>
                  <a:srgbClr val="1B1C1D"/>
                </a:solidFill>
                <a:latin typeface="Google Sans Text"/>
              </a:rPr>
              <a:t>.</a:t>
            </a:r>
          </a:p>
          <a:p>
            <a:pPr marL="285750" indent="-285750" rtl="0">
              <a:spcBef>
                <a:spcPts val="0"/>
              </a:spcBef>
              <a:spcAft>
                <a:spcPts val="600"/>
              </a:spcAft>
              <a:buFont typeface="Arial" panose="020B0604020202020204" pitchFamily="34" charset="0"/>
              <a:buChar char="•"/>
            </a:pPr>
            <a:r>
              <a:rPr lang="pl-PL" sz="2000" dirty="0">
                <a:solidFill>
                  <a:srgbClr val="1B1C1D"/>
                </a:solidFill>
                <a:latin typeface="Google Sans Text"/>
              </a:rPr>
              <a:t>T3.1: Expansion of the </a:t>
            </a:r>
            <a:r>
              <a:rPr lang="pl-PL" sz="2000" dirty="0" err="1">
                <a:solidFill>
                  <a:srgbClr val="1B1C1D"/>
                </a:solidFill>
                <a:latin typeface="Google Sans Text"/>
              </a:rPr>
              <a:t>knowledge</a:t>
            </a:r>
            <a:r>
              <a:rPr lang="pl-PL" sz="2000" dirty="0">
                <a:solidFill>
                  <a:srgbClr val="1B1C1D"/>
                </a:solidFill>
                <a:latin typeface="Google Sans Text"/>
              </a:rPr>
              <a:t> </a:t>
            </a:r>
            <a:r>
              <a:rPr lang="pl-PL" sz="2000" dirty="0" err="1">
                <a:solidFill>
                  <a:srgbClr val="1B1C1D"/>
                </a:solidFill>
                <a:latin typeface="Google Sans Text"/>
              </a:rPr>
              <a:t>base</a:t>
            </a:r>
            <a:r>
              <a:rPr lang="pl-PL" sz="2000" dirty="0">
                <a:solidFill>
                  <a:srgbClr val="1B1C1D"/>
                </a:solidFill>
                <a:latin typeface="Google Sans Text"/>
              </a:rPr>
              <a:t>.</a:t>
            </a:r>
          </a:p>
          <a:p>
            <a:pPr marL="285750" indent="-285750" rtl="0">
              <a:spcBef>
                <a:spcPts val="0"/>
              </a:spcBef>
              <a:spcAft>
                <a:spcPts val="600"/>
              </a:spcAft>
              <a:buFont typeface="Arial" panose="020B0604020202020204" pitchFamily="34" charset="0"/>
              <a:buChar char="•"/>
            </a:pPr>
            <a:r>
              <a:rPr lang="pl-PL" sz="2000" dirty="0">
                <a:solidFill>
                  <a:srgbClr val="1B1C1D"/>
                </a:solidFill>
                <a:latin typeface="Google Sans Text"/>
              </a:rPr>
              <a:t>T3.2: Expansion of the </a:t>
            </a:r>
            <a:r>
              <a:rPr lang="pl-PL" sz="2000" dirty="0" err="1">
                <a:solidFill>
                  <a:srgbClr val="1B1C1D"/>
                </a:solidFill>
                <a:latin typeface="Google Sans Text"/>
              </a:rPr>
              <a:t>toolkit</a:t>
            </a:r>
            <a:r>
              <a:rPr lang="pl-PL" sz="2000" dirty="0">
                <a:solidFill>
                  <a:srgbClr val="1B1C1D"/>
                </a:solidFill>
                <a:latin typeface="Google Sans Text"/>
              </a:rPr>
              <a:t>.</a:t>
            </a:r>
          </a:p>
          <a:p>
            <a:pPr marL="285750" indent="-285750" rtl="0">
              <a:spcBef>
                <a:spcPts val="0"/>
              </a:spcBef>
              <a:spcAft>
                <a:spcPts val="600"/>
              </a:spcAft>
              <a:buFont typeface="Arial" panose="020B0604020202020204" pitchFamily="34" charset="0"/>
              <a:buChar char="•"/>
            </a:pPr>
            <a:r>
              <a:rPr lang="pl-PL" sz="2000" dirty="0">
                <a:solidFill>
                  <a:srgbClr val="1B1C1D"/>
                </a:solidFill>
                <a:latin typeface="Google Sans Text"/>
              </a:rPr>
              <a:t>T3.3: Expansion of the </a:t>
            </a:r>
            <a:r>
              <a:rPr lang="pl-PL" sz="2000" dirty="0" err="1">
                <a:solidFill>
                  <a:srgbClr val="1B1C1D"/>
                </a:solidFill>
                <a:latin typeface="Google Sans Text"/>
              </a:rPr>
              <a:t>analytical</a:t>
            </a:r>
            <a:r>
              <a:rPr lang="pl-PL" sz="2000" dirty="0">
                <a:solidFill>
                  <a:srgbClr val="1B1C1D"/>
                </a:solidFill>
                <a:latin typeface="Google Sans Text"/>
              </a:rPr>
              <a:t> </a:t>
            </a:r>
            <a:r>
              <a:rPr lang="pl-PL" sz="2000" dirty="0" err="1">
                <a:solidFill>
                  <a:srgbClr val="1B1C1D"/>
                </a:solidFill>
                <a:latin typeface="Google Sans Text"/>
              </a:rPr>
              <a:t>scenarios</a:t>
            </a:r>
            <a:r>
              <a:rPr lang="pl-PL" sz="2000" dirty="0">
                <a:solidFill>
                  <a:srgbClr val="1B1C1D"/>
                </a:solidFill>
                <a:latin typeface="Google Sans Text"/>
              </a:rPr>
              <a:t>.</a:t>
            </a:r>
          </a:p>
          <a:p>
            <a:pPr marL="285750" indent="-285750" rtl="0">
              <a:spcBef>
                <a:spcPts val="0"/>
              </a:spcBef>
              <a:spcAft>
                <a:spcPts val="600"/>
              </a:spcAft>
              <a:buFont typeface="Arial" panose="020B0604020202020204" pitchFamily="34" charset="0"/>
              <a:buChar char="•"/>
            </a:pPr>
            <a:endParaRPr lang="en-US" sz="2000" b="0" i="0" u="none" strike="noStrike"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40088008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ole tekstowe 4">
            <a:extLst>
              <a:ext uri="{FF2B5EF4-FFF2-40B4-BE49-F238E27FC236}">
                <a16:creationId xmlns:a16="http://schemas.microsoft.com/office/drawing/2014/main" id="{46E71797-72AB-4194-AAD3-B0A8912480E6}"/>
              </a:ext>
            </a:extLst>
          </p:cNvPr>
          <p:cNvSpPr txBox="1"/>
          <p:nvPr/>
        </p:nvSpPr>
        <p:spPr>
          <a:xfrm>
            <a:off x="477329" y="266400"/>
            <a:ext cx="11496136" cy="523220"/>
          </a:xfrm>
          <a:prstGeom prst="rect">
            <a:avLst/>
          </a:prstGeom>
          <a:noFill/>
        </p:spPr>
        <p:txBody>
          <a:bodyPr wrap="square">
            <a:spAutoFit/>
          </a:bodyPr>
          <a:lstStyle/>
          <a:p>
            <a:pPr rtl="0">
              <a:spcBef>
                <a:spcPts val="600"/>
              </a:spcBef>
              <a:spcAft>
                <a:spcPts val="600"/>
              </a:spcAft>
            </a:pPr>
            <a:r>
              <a:rPr lang="pl-PL" sz="2800" b="1" dirty="0" err="1">
                <a:solidFill>
                  <a:srgbClr val="1B1C1D"/>
                </a:solidFill>
                <a:latin typeface="Google Sans"/>
              </a:rPr>
              <a:t>Challenges</a:t>
            </a:r>
            <a:endParaRPr lang="en-US" sz="2000" b="1" dirty="0">
              <a:effectLst/>
            </a:endParaRPr>
          </a:p>
        </p:txBody>
      </p:sp>
      <p:sp>
        <p:nvSpPr>
          <p:cNvPr id="3" name="pole tekstowe 2">
            <a:extLst>
              <a:ext uri="{FF2B5EF4-FFF2-40B4-BE49-F238E27FC236}">
                <a16:creationId xmlns:a16="http://schemas.microsoft.com/office/drawing/2014/main" id="{0B63DE73-0938-4B87-9642-F95ADDB9A9CF}"/>
              </a:ext>
            </a:extLst>
          </p:cNvPr>
          <p:cNvSpPr txBox="1"/>
          <p:nvPr/>
        </p:nvSpPr>
        <p:spPr>
          <a:xfrm>
            <a:off x="477329" y="973766"/>
            <a:ext cx="11496136" cy="1508105"/>
          </a:xfrm>
          <a:prstGeom prst="rect">
            <a:avLst/>
          </a:prstGeom>
          <a:noFill/>
        </p:spPr>
        <p:txBody>
          <a:bodyPr wrap="square">
            <a:spAutoFit/>
          </a:bodyPr>
          <a:lstStyle/>
          <a:p>
            <a:pPr marL="342900" indent="-342900" rtl="0">
              <a:spcBef>
                <a:spcPts val="600"/>
              </a:spcBef>
              <a:spcAft>
                <a:spcPts val="600"/>
              </a:spcAft>
              <a:buFont typeface="+mj-lt"/>
              <a:buAutoNum type="arabicPeriod"/>
            </a:pPr>
            <a:r>
              <a:rPr lang="pl-PL" sz="2400" dirty="0">
                <a:effectLst/>
              </a:rPr>
              <a:t>Toolkit </a:t>
            </a:r>
            <a:r>
              <a:rPr lang="pl-PL" sz="2400" dirty="0" err="1">
                <a:effectLst/>
              </a:rPr>
              <a:t>preparation</a:t>
            </a:r>
            <a:r>
              <a:rPr lang="pl-PL" sz="2400" dirty="0">
                <a:effectLst/>
              </a:rPr>
              <a:t> and </a:t>
            </a:r>
            <a:r>
              <a:rPr lang="pl-PL" sz="2400" dirty="0" err="1">
                <a:effectLst/>
              </a:rPr>
              <a:t>curation</a:t>
            </a:r>
            <a:endParaRPr lang="pl-PL" sz="2400" dirty="0">
              <a:effectLst/>
            </a:endParaRPr>
          </a:p>
          <a:p>
            <a:pPr marL="342900" indent="-342900" rtl="0">
              <a:spcBef>
                <a:spcPts val="600"/>
              </a:spcBef>
              <a:spcAft>
                <a:spcPts val="600"/>
              </a:spcAft>
              <a:buFont typeface="+mj-lt"/>
              <a:buAutoNum type="arabicPeriod"/>
            </a:pPr>
            <a:r>
              <a:rPr lang="pl-PL" sz="2400" dirty="0">
                <a:effectLst/>
              </a:rPr>
              <a:t>Knowledge </a:t>
            </a:r>
            <a:r>
              <a:rPr lang="pl-PL" sz="2400" dirty="0" err="1">
                <a:effectLst/>
              </a:rPr>
              <a:t>base</a:t>
            </a:r>
            <a:endParaRPr lang="pl-PL" sz="2400" dirty="0">
              <a:effectLst/>
            </a:endParaRPr>
          </a:p>
          <a:p>
            <a:pPr marL="342900" indent="-342900" rtl="0">
              <a:spcBef>
                <a:spcPts val="600"/>
              </a:spcBef>
              <a:spcAft>
                <a:spcPts val="600"/>
              </a:spcAft>
              <a:buFont typeface="+mj-lt"/>
              <a:buAutoNum type="arabicPeriod"/>
            </a:pPr>
            <a:r>
              <a:rPr lang="pl-PL" sz="2400" dirty="0"/>
              <a:t>Design of master </a:t>
            </a:r>
            <a:r>
              <a:rPr lang="pl-PL" sz="2400" dirty="0" err="1"/>
              <a:t>prompts</a:t>
            </a:r>
            <a:endParaRPr lang="en-US" sz="2400" dirty="0">
              <a:effectLst/>
            </a:endParaRPr>
          </a:p>
        </p:txBody>
      </p:sp>
    </p:spTree>
    <p:extLst>
      <p:ext uri="{BB962C8B-B14F-4D97-AF65-F5344CB8AC3E}">
        <p14:creationId xmlns:p14="http://schemas.microsoft.com/office/powerpoint/2010/main" val="3383886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zawartości 3">
            <a:extLst>
              <a:ext uri="{FF2B5EF4-FFF2-40B4-BE49-F238E27FC236}">
                <a16:creationId xmlns:a16="http://schemas.microsoft.com/office/drawing/2014/main" id="{10FB72D7-D393-4C01-9126-1CD9DB63A24E}"/>
              </a:ext>
            </a:extLst>
          </p:cNvPr>
          <p:cNvSpPr>
            <a:spLocks noGrp="1"/>
          </p:cNvSpPr>
          <p:nvPr>
            <p:ph idx="1"/>
          </p:nvPr>
        </p:nvSpPr>
        <p:spPr>
          <a:xfrm>
            <a:off x="838200" y="232747"/>
            <a:ext cx="10515600" cy="5909926"/>
          </a:xfrm>
        </p:spPr>
        <p:txBody>
          <a:bodyPr>
            <a:normAutofit/>
          </a:bodyPr>
          <a:lstStyle/>
          <a:p>
            <a:pPr marL="0" indent="0">
              <a:buNone/>
            </a:pPr>
            <a:r>
              <a:rPr lang="pl-PL" sz="2000" dirty="0"/>
              <a:t>kruszarka</a:t>
            </a:r>
            <a:endParaRPr lang="pl-PL" sz="1400" dirty="0"/>
          </a:p>
          <a:p>
            <a:pPr marL="0" indent="0">
              <a:buNone/>
            </a:pPr>
            <a:endParaRPr lang="pl-PL" sz="1400" dirty="0"/>
          </a:p>
          <a:p>
            <a:pPr marL="0" indent="0">
              <a:buNone/>
            </a:pPr>
            <a:r>
              <a:rPr lang="pl-PL" sz="2000" dirty="0"/>
              <a:t>The </a:t>
            </a:r>
            <a:r>
              <a:rPr lang="pl-PL" sz="2000" dirty="0" err="1"/>
              <a:t>objective</a:t>
            </a:r>
            <a:r>
              <a:rPr lang="pl-PL" sz="2000" dirty="0"/>
              <a:t> </a:t>
            </a:r>
            <a:r>
              <a:rPr lang="pl-PL" sz="2000" dirty="0" err="1"/>
              <a:t>is</a:t>
            </a:r>
            <a:r>
              <a:rPr lang="pl-PL" sz="2000" dirty="0"/>
              <a:t> to </a:t>
            </a:r>
            <a:r>
              <a:rPr lang="pl-PL" sz="2000" dirty="0" err="1"/>
              <a:t>extract</a:t>
            </a:r>
            <a:r>
              <a:rPr lang="pl-PL" sz="2000" dirty="0"/>
              <a:t> and </a:t>
            </a:r>
            <a:r>
              <a:rPr lang="pl-PL" sz="2000" dirty="0" err="1"/>
              <a:t>visualize</a:t>
            </a:r>
            <a:r>
              <a:rPr lang="pl-PL" sz="2000" dirty="0"/>
              <a:t> the </a:t>
            </a:r>
            <a:r>
              <a:rPr lang="pl-PL" sz="2000" dirty="0" err="1"/>
              <a:t>presence</a:t>
            </a:r>
            <a:r>
              <a:rPr lang="pl-PL" sz="2000" dirty="0"/>
              <a:t> of </a:t>
            </a:r>
            <a:r>
              <a:rPr lang="pl-PL" sz="2000" dirty="0" err="1"/>
              <a:t>cyclic</a:t>
            </a:r>
            <a:r>
              <a:rPr lang="pl-PL" sz="2000" dirty="0"/>
              <a:t> </a:t>
            </a:r>
            <a:r>
              <a:rPr lang="pl-PL" sz="2000" dirty="0" err="1"/>
              <a:t>impulsive</a:t>
            </a:r>
            <a:r>
              <a:rPr lang="pl-PL" sz="2000" dirty="0"/>
              <a:t> component </a:t>
            </a:r>
            <a:r>
              <a:rPr lang="pl-PL" sz="2000" dirty="0" err="1"/>
              <a:t>indicating</a:t>
            </a:r>
            <a:r>
              <a:rPr lang="pl-PL" sz="2000" dirty="0"/>
              <a:t> the </a:t>
            </a:r>
            <a:r>
              <a:rPr lang="pl-PL" sz="2000" dirty="0" err="1"/>
              <a:t>local</a:t>
            </a:r>
            <a:r>
              <a:rPr lang="pl-PL" sz="2000" dirty="0"/>
              <a:t> </a:t>
            </a:r>
            <a:r>
              <a:rPr lang="pl-PL" sz="2000" dirty="0" err="1"/>
              <a:t>damage</a:t>
            </a:r>
            <a:r>
              <a:rPr lang="pl-PL" sz="2000" dirty="0"/>
              <a:t> of the rolling-element </a:t>
            </a:r>
            <a:r>
              <a:rPr lang="pl-PL" sz="2000" dirty="0" err="1"/>
              <a:t>bearing</a:t>
            </a:r>
            <a:r>
              <a:rPr lang="pl-PL" sz="2000" dirty="0"/>
              <a:t>. The </a:t>
            </a:r>
            <a:r>
              <a:rPr lang="pl-PL" sz="2000" dirty="0" err="1"/>
              <a:t>analysis</a:t>
            </a:r>
            <a:r>
              <a:rPr lang="pl-PL" sz="2000" dirty="0"/>
              <a:t> </a:t>
            </a:r>
            <a:r>
              <a:rPr lang="pl-PL" sz="2000" dirty="0" err="1"/>
              <a:t>can</a:t>
            </a:r>
            <a:r>
              <a:rPr lang="pl-PL" sz="2000" dirty="0"/>
              <a:t> stop </a:t>
            </a:r>
            <a:r>
              <a:rPr lang="pl-PL" sz="2000" dirty="0" err="1"/>
              <a:t>when</a:t>
            </a:r>
            <a:r>
              <a:rPr lang="pl-PL" sz="2000" dirty="0"/>
              <a:t> the </a:t>
            </a:r>
            <a:r>
              <a:rPr lang="pl-PL" sz="2000" dirty="0" err="1"/>
              <a:t>presence</a:t>
            </a:r>
            <a:r>
              <a:rPr lang="pl-PL" sz="2000" dirty="0"/>
              <a:t> of the component of </a:t>
            </a:r>
            <a:r>
              <a:rPr lang="pl-PL" sz="2000" dirty="0" err="1"/>
              <a:t>interest</a:t>
            </a:r>
            <a:r>
              <a:rPr lang="pl-PL" sz="2000" dirty="0"/>
              <a:t> </a:t>
            </a:r>
            <a:r>
              <a:rPr lang="pl-PL" sz="2000" dirty="0" err="1"/>
              <a:t>is</a:t>
            </a:r>
            <a:r>
              <a:rPr lang="pl-PL" sz="2000" dirty="0"/>
              <a:t> </a:t>
            </a:r>
            <a:r>
              <a:rPr lang="pl-PL" sz="2000" dirty="0" err="1"/>
              <a:t>confirmed</a:t>
            </a:r>
            <a:r>
              <a:rPr lang="pl-PL" sz="2000" dirty="0"/>
              <a:t> and </a:t>
            </a:r>
            <a:r>
              <a:rPr lang="pl-PL" sz="2000" dirty="0" err="1"/>
              <a:t>visualized</a:t>
            </a:r>
            <a:r>
              <a:rPr lang="pl-PL" sz="2000" dirty="0"/>
              <a:t>.</a:t>
            </a:r>
          </a:p>
          <a:p>
            <a:pPr marL="0" indent="0">
              <a:buNone/>
            </a:pPr>
            <a:endParaRPr lang="pl-PL" sz="2000" dirty="0"/>
          </a:p>
          <a:p>
            <a:pPr marL="0" indent="0">
              <a:buNone/>
            </a:pPr>
            <a:r>
              <a:rPr lang="pl-PL" sz="2000" dirty="0"/>
              <a:t>The data </a:t>
            </a:r>
            <a:r>
              <a:rPr lang="pl-PL" sz="2000" dirty="0" err="1"/>
              <a:t>is</a:t>
            </a:r>
            <a:r>
              <a:rPr lang="pl-PL" sz="2000" dirty="0"/>
              <a:t> a </a:t>
            </a:r>
            <a:r>
              <a:rPr lang="pl-PL" sz="2000" dirty="0" err="1"/>
              <a:t>vibration</a:t>
            </a:r>
            <a:r>
              <a:rPr lang="pl-PL" sz="2000" dirty="0"/>
              <a:t> </a:t>
            </a:r>
            <a:r>
              <a:rPr lang="pl-PL" sz="2000" dirty="0" err="1"/>
              <a:t>signal</a:t>
            </a:r>
            <a:r>
              <a:rPr lang="pl-PL" sz="2000" dirty="0"/>
              <a:t> </a:t>
            </a:r>
            <a:r>
              <a:rPr lang="pl-PL" sz="2000" dirty="0" err="1"/>
              <a:t>sampled</a:t>
            </a:r>
            <a:r>
              <a:rPr lang="pl-PL" sz="2000" dirty="0"/>
              <a:t> </a:t>
            </a:r>
            <a:r>
              <a:rPr lang="pl-PL" sz="2000" dirty="0" err="1"/>
              <a:t>at</a:t>
            </a:r>
            <a:r>
              <a:rPr lang="pl-PL" sz="2000" dirty="0"/>
              <a:t> 25 kHz, </a:t>
            </a:r>
            <a:r>
              <a:rPr lang="pl-PL" sz="2000" dirty="0" err="1"/>
              <a:t>measured</a:t>
            </a:r>
            <a:r>
              <a:rPr lang="pl-PL" sz="2000" dirty="0"/>
              <a:t> on the </a:t>
            </a:r>
            <a:r>
              <a:rPr lang="pl-PL" sz="2000" dirty="0" err="1"/>
              <a:t>casing</a:t>
            </a:r>
            <a:r>
              <a:rPr lang="pl-PL" sz="2000" dirty="0"/>
              <a:t> of the rolling element </a:t>
            </a:r>
            <a:r>
              <a:rPr lang="pl-PL" sz="2000" dirty="0" err="1"/>
              <a:t>bearing</a:t>
            </a:r>
            <a:r>
              <a:rPr lang="pl-PL" sz="2000" dirty="0"/>
              <a:t>. The </a:t>
            </a:r>
            <a:r>
              <a:rPr lang="pl-PL" sz="2000" dirty="0" err="1"/>
              <a:t>theoretical</a:t>
            </a:r>
            <a:r>
              <a:rPr lang="pl-PL" sz="2000" dirty="0"/>
              <a:t> </a:t>
            </a:r>
            <a:r>
              <a:rPr lang="pl-PL" sz="2000" dirty="0" err="1"/>
              <a:t>fault</a:t>
            </a:r>
            <a:r>
              <a:rPr lang="pl-PL" sz="2000" dirty="0"/>
              <a:t> </a:t>
            </a:r>
            <a:r>
              <a:rPr lang="pl-PL" sz="2000" dirty="0" err="1"/>
              <a:t>frequency</a:t>
            </a:r>
            <a:r>
              <a:rPr lang="pl-PL" sz="2000" dirty="0"/>
              <a:t> </a:t>
            </a:r>
            <a:r>
              <a:rPr lang="pl-PL" sz="2000" dirty="0" err="1"/>
              <a:t>should</a:t>
            </a:r>
            <a:r>
              <a:rPr lang="pl-PL" sz="2000" dirty="0"/>
              <a:t> be 30.7 </a:t>
            </a:r>
            <a:r>
              <a:rPr lang="pl-PL" sz="2000" dirty="0" err="1"/>
              <a:t>Hz</a:t>
            </a:r>
            <a:r>
              <a:rPr lang="pl-PL" sz="2000" dirty="0"/>
              <a:t>. The </a:t>
            </a:r>
            <a:r>
              <a:rPr lang="pl-PL" sz="2000" dirty="0" err="1"/>
              <a:t>carrier</a:t>
            </a:r>
            <a:r>
              <a:rPr lang="pl-PL" sz="2000" dirty="0"/>
              <a:t> </a:t>
            </a:r>
            <a:r>
              <a:rPr lang="pl-PL" sz="2000" dirty="0" err="1"/>
              <a:t>frequency</a:t>
            </a:r>
            <a:r>
              <a:rPr lang="pl-PL" sz="2000" dirty="0"/>
              <a:t> band </a:t>
            </a:r>
            <a:r>
              <a:rPr lang="pl-PL" sz="2000" dirty="0" err="1"/>
              <a:t>occupied</a:t>
            </a:r>
            <a:r>
              <a:rPr lang="pl-PL" sz="2000" dirty="0"/>
              <a:t> by the component of </a:t>
            </a:r>
            <a:r>
              <a:rPr lang="pl-PL" sz="2000" dirty="0" err="1"/>
              <a:t>interest</a:t>
            </a:r>
            <a:r>
              <a:rPr lang="pl-PL" sz="2000" dirty="0"/>
              <a:t> </a:t>
            </a:r>
            <a:r>
              <a:rPr lang="pl-PL" sz="2000" dirty="0" err="1"/>
              <a:t>should</a:t>
            </a:r>
            <a:r>
              <a:rPr lang="pl-PL" sz="2000" dirty="0"/>
              <a:t> be </a:t>
            </a:r>
            <a:r>
              <a:rPr lang="pl-PL" sz="2000" dirty="0" err="1"/>
              <a:t>separate</a:t>
            </a:r>
            <a:r>
              <a:rPr lang="pl-PL" sz="2000" dirty="0"/>
              <a:t> from the band </a:t>
            </a:r>
            <a:r>
              <a:rPr lang="pl-PL" sz="2000" dirty="0" err="1"/>
              <a:t>occupied</a:t>
            </a:r>
            <a:r>
              <a:rPr lang="pl-PL" sz="2000" dirty="0"/>
              <a:t> by non-</a:t>
            </a:r>
            <a:r>
              <a:rPr lang="pl-PL" sz="2000" dirty="0" err="1"/>
              <a:t>cyclic</a:t>
            </a:r>
            <a:r>
              <a:rPr lang="pl-PL" sz="2000" dirty="0"/>
              <a:t> </a:t>
            </a:r>
            <a:r>
              <a:rPr lang="pl-PL" sz="2000" dirty="0" err="1"/>
              <a:t>impulsive</a:t>
            </a:r>
            <a:r>
              <a:rPr lang="pl-PL" sz="2000" dirty="0"/>
              <a:t> </a:t>
            </a:r>
            <a:r>
              <a:rPr lang="pl-PL" sz="2000" dirty="0" err="1"/>
              <a:t>noise</a:t>
            </a:r>
            <a:r>
              <a:rPr lang="pl-PL" sz="2000" dirty="0"/>
              <a:t>. The </a:t>
            </a:r>
            <a:r>
              <a:rPr lang="pl-PL" sz="2000" dirty="0" err="1"/>
              <a:t>carrier</a:t>
            </a:r>
            <a:r>
              <a:rPr lang="pl-PL" sz="2000" dirty="0"/>
              <a:t> </a:t>
            </a:r>
            <a:r>
              <a:rPr lang="pl-PL" sz="2000" dirty="0" err="1"/>
              <a:t>frequency</a:t>
            </a:r>
            <a:r>
              <a:rPr lang="pl-PL" sz="2000" dirty="0"/>
              <a:t> band </a:t>
            </a:r>
            <a:r>
              <a:rPr lang="pl-PL" sz="2000" dirty="0" err="1"/>
              <a:t>occupied</a:t>
            </a:r>
            <a:r>
              <a:rPr lang="pl-PL" sz="2000" dirty="0"/>
              <a:t> by the component of </a:t>
            </a:r>
            <a:r>
              <a:rPr lang="pl-PL" sz="2000" dirty="0" err="1"/>
              <a:t>interest</a:t>
            </a:r>
            <a:r>
              <a:rPr lang="pl-PL" sz="2000" dirty="0"/>
              <a:t> </a:t>
            </a:r>
            <a:r>
              <a:rPr lang="pl-PL" sz="2000" dirty="0" err="1"/>
              <a:t>should</a:t>
            </a:r>
            <a:r>
              <a:rPr lang="pl-PL" sz="2000" dirty="0"/>
              <a:t> be </a:t>
            </a:r>
            <a:r>
              <a:rPr lang="pl-PL" sz="2000" dirty="0" err="1"/>
              <a:t>possible</a:t>
            </a:r>
            <a:r>
              <a:rPr lang="pl-PL" sz="2000" dirty="0"/>
              <a:t> to </a:t>
            </a:r>
            <a:r>
              <a:rPr lang="pl-PL" sz="2000" dirty="0" err="1"/>
              <a:t>observe</a:t>
            </a:r>
            <a:r>
              <a:rPr lang="pl-PL" sz="2000" dirty="0"/>
              <a:t> on </a:t>
            </a:r>
            <a:r>
              <a:rPr lang="pl-PL" sz="2000" dirty="0" err="1"/>
              <a:t>spectrogram</a:t>
            </a:r>
            <a:r>
              <a:rPr lang="pl-PL" sz="2000" dirty="0"/>
              <a:t> </a:t>
            </a:r>
            <a:r>
              <a:rPr lang="pl-PL" sz="2000" dirty="0" err="1"/>
              <a:t>or</a:t>
            </a:r>
            <a:r>
              <a:rPr lang="pl-PL" sz="2000" dirty="0"/>
              <a:t> </a:t>
            </a:r>
            <a:r>
              <a:rPr lang="pl-PL" sz="2000" dirty="0" err="1"/>
              <a:t>csc</a:t>
            </a:r>
            <a:r>
              <a:rPr lang="pl-PL" sz="2000" dirty="0"/>
              <a:t> map. </a:t>
            </a:r>
          </a:p>
          <a:p>
            <a:pPr marL="0" indent="0">
              <a:buNone/>
            </a:pPr>
            <a:endParaRPr lang="pl-PL" sz="2000" dirty="0"/>
          </a:p>
          <a:p>
            <a:pPr marL="0" indent="0">
              <a:buNone/>
            </a:pPr>
            <a:endParaRPr lang="pl-PL" sz="2000" dirty="0"/>
          </a:p>
          <a:p>
            <a:pPr marL="0" indent="0">
              <a:buNone/>
            </a:pPr>
            <a:endParaRPr lang="pl-PL" sz="2000" dirty="0"/>
          </a:p>
          <a:p>
            <a:pPr marL="0" indent="0">
              <a:buNone/>
            </a:pPr>
            <a:endParaRPr lang="pl-PL" sz="2000" dirty="0"/>
          </a:p>
        </p:txBody>
      </p:sp>
    </p:spTree>
    <p:extLst>
      <p:ext uri="{BB962C8B-B14F-4D97-AF65-F5344CB8AC3E}">
        <p14:creationId xmlns:p14="http://schemas.microsoft.com/office/powerpoint/2010/main" val="14353318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zawartości 3">
            <a:extLst>
              <a:ext uri="{FF2B5EF4-FFF2-40B4-BE49-F238E27FC236}">
                <a16:creationId xmlns:a16="http://schemas.microsoft.com/office/drawing/2014/main" id="{10FB72D7-D393-4C01-9126-1CD9DB63A24E}"/>
              </a:ext>
            </a:extLst>
          </p:cNvPr>
          <p:cNvSpPr>
            <a:spLocks noGrp="1"/>
          </p:cNvSpPr>
          <p:nvPr>
            <p:ph idx="1"/>
          </p:nvPr>
        </p:nvSpPr>
        <p:spPr>
          <a:xfrm>
            <a:off x="838200" y="232747"/>
            <a:ext cx="10515600" cy="5909926"/>
          </a:xfrm>
        </p:spPr>
        <p:txBody>
          <a:bodyPr>
            <a:normAutofit/>
          </a:bodyPr>
          <a:lstStyle/>
          <a:p>
            <a:pPr marL="0" indent="0">
              <a:buNone/>
            </a:pPr>
            <a:r>
              <a:rPr lang="pl-PL" sz="2000" dirty="0" err="1"/>
              <a:t>Lozysko_b</a:t>
            </a:r>
            <a:endParaRPr lang="pl-PL" sz="1400" dirty="0"/>
          </a:p>
          <a:p>
            <a:pPr marL="0" indent="0">
              <a:buNone/>
            </a:pPr>
            <a:endParaRPr lang="pl-PL" sz="1400" dirty="0"/>
          </a:p>
          <a:p>
            <a:pPr marL="0" indent="0">
              <a:buNone/>
            </a:pPr>
            <a:r>
              <a:rPr lang="pl-PL" sz="2000" dirty="0"/>
              <a:t>The </a:t>
            </a:r>
            <a:r>
              <a:rPr lang="pl-PL" sz="2000" dirty="0" err="1"/>
              <a:t>objective</a:t>
            </a:r>
            <a:r>
              <a:rPr lang="pl-PL" sz="2000" dirty="0"/>
              <a:t> </a:t>
            </a:r>
            <a:r>
              <a:rPr lang="pl-PL" sz="2000" dirty="0" err="1"/>
              <a:t>is</a:t>
            </a:r>
            <a:r>
              <a:rPr lang="pl-PL" sz="2000" dirty="0"/>
              <a:t> to </a:t>
            </a:r>
            <a:r>
              <a:rPr lang="pl-PL" sz="2000" dirty="0" err="1"/>
              <a:t>extract</a:t>
            </a:r>
            <a:r>
              <a:rPr lang="pl-PL" sz="2000" dirty="0"/>
              <a:t> the </a:t>
            </a:r>
            <a:r>
              <a:rPr lang="pl-PL" sz="2000" dirty="0" err="1"/>
              <a:t>cyclic</a:t>
            </a:r>
            <a:r>
              <a:rPr lang="pl-PL" sz="2000" dirty="0"/>
              <a:t> </a:t>
            </a:r>
            <a:r>
              <a:rPr lang="pl-PL" sz="2000" dirty="0" err="1"/>
              <a:t>impulsive</a:t>
            </a:r>
            <a:r>
              <a:rPr lang="pl-PL" sz="2000" dirty="0"/>
              <a:t> component </a:t>
            </a:r>
            <a:r>
              <a:rPr lang="pl-PL" sz="2000" dirty="0" err="1"/>
              <a:t>indicating</a:t>
            </a:r>
            <a:r>
              <a:rPr lang="pl-PL" sz="2000" dirty="0"/>
              <a:t> the </a:t>
            </a:r>
            <a:r>
              <a:rPr lang="pl-PL" sz="2000" dirty="0" err="1"/>
              <a:t>presence</a:t>
            </a:r>
            <a:r>
              <a:rPr lang="pl-PL" sz="2000" dirty="0"/>
              <a:t> of a </a:t>
            </a:r>
            <a:r>
              <a:rPr lang="pl-PL" sz="2000" dirty="0" err="1"/>
              <a:t>bearing</a:t>
            </a:r>
            <a:r>
              <a:rPr lang="pl-PL" sz="2000" dirty="0"/>
              <a:t> </a:t>
            </a:r>
            <a:r>
              <a:rPr lang="pl-PL" sz="2000" dirty="0" err="1"/>
              <a:t>local</a:t>
            </a:r>
            <a:r>
              <a:rPr lang="pl-PL" sz="2000" dirty="0"/>
              <a:t> </a:t>
            </a:r>
            <a:r>
              <a:rPr lang="pl-PL" sz="2000" dirty="0" err="1"/>
              <a:t>damage</a:t>
            </a:r>
            <a:r>
              <a:rPr lang="pl-PL" sz="2000" dirty="0"/>
              <a:t>, </a:t>
            </a:r>
            <a:r>
              <a:rPr lang="pl-PL" sz="2000" dirty="0" err="1"/>
              <a:t>or</a:t>
            </a:r>
            <a:r>
              <a:rPr lang="pl-PL" sz="2000" dirty="0"/>
              <a:t> </a:t>
            </a:r>
            <a:r>
              <a:rPr lang="pl-PL" sz="2000" dirty="0" err="1"/>
              <a:t>at</a:t>
            </a:r>
            <a:r>
              <a:rPr lang="pl-PL" sz="2000" dirty="0"/>
              <a:t> </a:t>
            </a:r>
            <a:r>
              <a:rPr lang="pl-PL" sz="2000" dirty="0" err="1"/>
              <a:t>least</a:t>
            </a:r>
            <a:r>
              <a:rPr lang="pl-PL" sz="2000" dirty="0"/>
              <a:t> </a:t>
            </a:r>
            <a:r>
              <a:rPr lang="pl-PL" sz="2000" dirty="0" err="1"/>
              <a:t>confirm</a:t>
            </a:r>
            <a:r>
              <a:rPr lang="pl-PL" sz="2000" dirty="0"/>
              <a:t> </a:t>
            </a:r>
            <a:r>
              <a:rPr lang="pl-PL" sz="2000" dirty="0" err="1"/>
              <a:t>its</a:t>
            </a:r>
            <a:r>
              <a:rPr lang="pl-PL" sz="2000" dirty="0"/>
              <a:t> </a:t>
            </a:r>
            <a:r>
              <a:rPr lang="pl-PL" sz="2000" dirty="0" err="1"/>
              <a:t>presence</a:t>
            </a:r>
            <a:r>
              <a:rPr lang="pl-PL" sz="2000" dirty="0"/>
              <a:t> by </a:t>
            </a:r>
            <a:r>
              <a:rPr lang="pl-PL" sz="2000" dirty="0" err="1"/>
              <a:t>clear</a:t>
            </a:r>
            <a:r>
              <a:rPr lang="pl-PL" sz="2000" dirty="0"/>
              <a:t> </a:t>
            </a:r>
            <a:r>
              <a:rPr lang="pl-PL" sz="2000" dirty="0" err="1"/>
              <a:t>visualization</a:t>
            </a:r>
            <a:r>
              <a:rPr lang="pl-PL" sz="2000" dirty="0"/>
              <a:t> of </a:t>
            </a:r>
            <a:r>
              <a:rPr lang="pl-PL" sz="2000" dirty="0" err="1"/>
              <a:t>relevant</a:t>
            </a:r>
            <a:r>
              <a:rPr lang="pl-PL" sz="2000" dirty="0"/>
              <a:t> </a:t>
            </a:r>
            <a:r>
              <a:rPr lang="pl-PL" sz="2000" dirty="0" err="1"/>
              <a:t>plots</a:t>
            </a:r>
            <a:r>
              <a:rPr lang="pl-PL" sz="2000" dirty="0"/>
              <a:t>. The </a:t>
            </a:r>
            <a:r>
              <a:rPr lang="pl-PL" sz="2000" dirty="0" err="1"/>
              <a:t>analysis</a:t>
            </a:r>
            <a:r>
              <a:rPr lang="pl-PL" sz="2000" dirty="0"/>
              <a:t> </a:t>
            </a:r>
            <a:r>
              <a:rPr lang="pl-PL" sz="2000" dirty="0" err="1"/>
              <a:t>can</a:t>
            </a:r>
            <a:r>
              <a:rPr lang="pl-PL" sz="2000" dirty="0"/>
              <a:t> stop </a:t>
            </a:r>
            <a:r>
              <a:rPr lang="pl-PL" sz="2000" dirty="0" err="1"/>
              <a:t>when</a:t>
            </a:r>
            <a:r>
              <a:rPr lang="pl-PL" sz="2000" dirty="0"/>
              <a:t> the </a:t>
            </a:r>
            <a:r>
              <a:rPr lang="pl-PL" sz="2000" dirty="0" err="1"/>
              <a:t>presence</a:t>
            </a:r>
            <a:r>
              <a:rPr lang="pl-PL" sz="2000" dirty="0"/>
              <a:t> of the component of </a:t>
            </a:r>
            <a:r>
              <a:rPr lang="pl-PL" sz="2000" dirty="0" err="1"/>
              <a:t>interest</a:t>
            </a:r>
            <a:r>
              <a:rPr lang="pl-PL" sz="2000" dirty="0"/>
              <a:t> </a:t>
            </a:r>
            <a:r>
              <a:rPr lang="pl-PL" sz="2000" dirty="0" err="1"/>
              <a:t>is</a:t>
            </a:r>
            <a:r>
              <a:rPr lang="pl-PL" sz="2000" dirty="0"/>
              <a:t> </a:t>
            </a:r>
            <a:r>
              <a:rPr lang="pl-PL" sz="2000" dirty="0" err="1"/>
              <a:t>confirmed</a:t>
            </a:r>
            <a:r>
              <a:rPr lang="pl-PL" sz="2000" dirty="0"/>
              <a:t> and </a:t>
            </a:r>
            <a:r>
              <a:rPr lang="pl-PL" sz="2000" dirty="0" err="1"/>
              <a:t>visualized</a:t>
            </a:r>
            <a:r>
              <a:rPr lang="pl-PL" sz="2000" dirty="0"/>
              <a:t>.</a:t>
            </a:r>
          </a:p>
          <a:p>
            <a:pPr marL="0" indent="0">
              <a:buNone/>
            </a:pPr>
            <a:endParaRPr lang="pl-PL" sz="2000" dirty="0"/>
          </a:p>
          <a:p>
            <a:pPr marL="0" indent="0">
              <a:buNone/>
            </a:pPr>
            <a:r>
              <a:rPr lang="pl-PL" sz="2000" dirty="0"/>
              <a:t> The data </a:t>
            </a:r>
            <a:r>
              <a:rPr lang="pl-PL" sz="2000" dirty="0" err="1"/>
              <a:t>is</a:t>
            </a:r>
            <a:r>
              <a:rPr lang="pl-PL" sz="2000" dirty="0"/>
              <a:t> a </a:t>
            </a:r>
            <a:r>
              <a:rPr lang="pl-PL" sz="2000" dirty="0" err="1"/>
              <a:t>vibration</a:t>
            </a:r>
            <a:r>
              <a:rPr lang="pl-PL" sz="2000" dirty="0"/>
              <a:t> </a:t>
            </a:r>
            <a:r>
              <a:rPr lang="pl-PL" sz="2000" dirty="0" err="1"/>
              <a:t>signal</a:t>
            </a:r>
            <a:r>
              <a:rPr lang="pl-PL" sz="2000" dirty="0"/>
              <a:t> </a:t>
            </a:r>
            <a:r>
              <a:rPr lang="pl-PL" sz="2000" dirty="0" err="1"/>
              <a:t>sampled</a:t>
            </a:r>
            <a:r>
              <a:rPr lang="pl-PL" sz="2000" dirty="0"/>
              <a:t> </a:t>
            </a:r>
            <a:r>
              <a:rPr lang="pl-PL" sz="2000" dirty="0" err="1"/>
              <a:t>at</a:t>
            </a:r>
            <a:r>
              <a:rPr lang="pl-PL" sz="2000" dirty="0"/>
              <a:t> 19.2 kHz, </a:t>
            </a:r>
            <a:r>
              <a:rPr lang="pl-PL" sz="2000" dirty="0" err="1"/>
              <a:t>measured</a:t>
            </a:r>
            <a:r>
              <a:rPr lang="pl-PL" sz="2000" dirty="0"/>
              <a:t> on the </a:t>
            </a:r>
            <a:r>
              <a:rPr lang="pl-PL" sz="2000" dirty="0" err="1"/>
              <a:t>casing</a:t>
            </a:r>
            <a:r>
              <a:rPr lang="pl-PL" sz="2000" dirty="0"/>
              <a:t> of the rolling element </a:t>
            </a:r>
            <a:r>
              <a:rPr lang="pl-PL" sz="2000" dirty="0" err="1"/>
              <a:t>bearing</a:t>
            </a:r>
            <a:r>
              <a:rPr lang="pl-PL" sz="2000" dirty="0"/>
              <a:t>. The </a:t>
            </a:r>
            <a:r>
              <a:rPr lang="pl-PL" sz="2000" dirty="0" err="1"/>
              <a:t>theoretical</a:t>
            </a:r>
            <a:r>
              <a:rPr lang="pl-PL" sz="2000" dirty="0"/>
              <a:t> </a:t>
            </a:r>
            <a:r>
              <a:rPr lang="pl-PL" sz="2000" dirty="0" err="1"/>
              <a:t>fault</a:t>
            </a:r>
            <a:r>
              <a:rPr lang="pl-PL" sz="2000" dirty="0"/>
              <a:t> </a:t>
            </a:r>
            <a:r>
              <a:rPr lang="pl-PL" sz="2000" dirty="0" err="1"/>
              <a:t>frequency</a:t>
            </a:r>
            <a:r>
              <a:rPr lang="pl-PL" sz="2000" dirty="0"/>
              <a:t> </a:t>
            </a:r>
            <a:r>
              <a:rPr lang="pl-PL" sz="2000" dirty="0" err="1"/>
              <a:t>should</a:t>
            </a:r>
            <a:r>
              <a:rPr lang="pl-PL" sz="2000" dirty="0"/>
              <a:t> be </a:t>
            </a:r>
            <a:r>
              <a:rPr lang="pl-PL" sz="2000" dirty="0" err="1"/>
              <a:t>about</a:t>
            </a:r>
            <a:r>
              <a:rPr lang="pl-PL" sz="2000" dirty="0"/>
              <a:t> 12.7 </a:t>
            </a:r>
            <a:r>
              <a:rPr lang="pl-PL" sz="2000" dirty="0" err="1"/>
              <a:t>Hz</a:t>
            </a:r>
            <a:r>
              <a:rPr lang="pl-PL" sz="2000" dirty="0"/>
              <a:t>. The </a:t>
            </a:r>
            <a:r>
              <a:rPr lang="pl-PL" sz="2000" dirty="0" err="1"/>
              <a:t>carrier</a:t>
            </a:r>
            <a:r>
              <a:rPr lang="pl-PL" sz="2000" dirty="0"/>
              <a:t> </a:t>
            </a:r>
            <a:r>
              <a:rPr lang="pl-PL" sz="2000" dirty="0" err="1"/>
              <a:t>frequency</a:t>
            </a:r>
            <a:r>
              <a:rPr lang="pl-PL" sz="2000" dirty="0"/>
              <a:t> band </a:t>
            </a:r>
            <a:r>
              <a:rPr lang="pl-PL" sz="2000" dirty="0" err="1"/>
              <a:t>occupied</a:t>
            </a:r>
            <a:r>
              <a:rPr lang="pl-PL" sz="2000" dirty="0"/>
              <a:t> by the component of </a:t>
            </a:r>
            <a:r>
              <a:rPr lang="pl-PL" sz="2000" dirty="0" err="1"/>
              <a:t>interest</a:t>
            </a:r>
            <a:r>
              <a:rPr lang="pl-PL" sz="2000" dirty="0"/>
              <a:t> </a:t>
            </a:r>
            <a:r>
              <a:rPr lang="pl-PL" sz="2000" dirty="0" err="1"/>
              <a:t>should</a:t>
            </a:r>
            <a:r>
              <a:rPr lang="pl-PL" sz="2000" dirty="0"/>
              <a:t> be </a:t>
            </a:r>
            <a:r>
              <a:rPr lang="pl-PL" sz="2000" dirty="0" err="1"/>
              <a:t>possible</a:t>
            </a:r>
            <a:r>
              <a:rPr lang="pl-PL" sz="2000" dirty="0"/>
              <a:t> to </a:t>
            </a:r>
            <a:r>
              <a:rPr lang="pl-PL" sz="2000" dirty="0" err="1"/>
              <a:t>observe</a:t>
            </a:r>
            <a:r>
              <a:rPr lang="pl-PL" sz="2000" dirty="0"/>
              <a:t> on </a:t>
            </a:r>
            <a:r>
              <a:rPr lang="pl-PL" sz="2000" dirty="0" err="1"/>
              <a:t>spectrogram</a:t>
            </a:r>
            <a:r>
              <a:rPr lang="pl-PL" sz="2000" dirty="0"/>
              <a:t> </a:t>
            </a:r>
            <a:r>
              <a:rPr lang="pl-PL" sz="2000" dirty="0" err="1"/>
              <a:t>or</a:t>
            </a:r>
            <a:r>
              <a:rPr lang="pl-PL" sz="2000" dirty="0"/>
              <a:t> </a:t>
            </a:r>
            <a:r>
              <a:rPr lang="pl-PL" sz="2000" dirty="0" err="1"/>
              <a:t>csc</a:t>
            </a:r>
            <a:r>
              <a:rPr lang="pl-PL" sz="2000" dirty="0"/>
              <a:t> map.</a:t>
            </a:r>
          </a:p>
          <a:p>
            <a:pPr marL="0" indent="0">
              <a:buNone/>
            </a:pPr>
            <a:endParaRPr lang="pl-PL" sz="2000" dirty="0"/>
          </a:p>
          <a:p>
            <a:pPr marL="0" indent="0">
              <a:buNone/>
            </a:pPr>
            <a:endParaRPr lang="pl-PL" sz="2000" dirty="0"/>
          </a:p>
          <a:p>
            <a:pPr marL="0" indent="0">
              <a:buNone/>
            </a:pPr>
            <a:endParaRPr lang="pl-PL" sz="2000" dirty="0"/>
          </a:p>
          <a:p>
            <a:pPr marL="0" indent="0">
              <a:buNone/>
            </a:pPr>
            <a:endParaRPr lang="pl-PL" sz="2000" dirty="0"/>
          </a:p>
        </p:txBody>
      </p:sp>
    </p:spTree>
    <p:extLst>
      <p:ext uri="{BB962C8B-B14F-4D97-AF65-F5344CB8AC3E}">
        <p14:creationId xmlns:p14="http://schemas.microsoft.com/office/powerpoint/2010/main" val="1242750161"/>
      </p:ext>
    </p:extLst>
  </p:cSld>
  <p:clrMapOvr>
    <a:masterClrMapping/>
  </p:clrMapOvr>
</p:sld>
</file>

<file path=ppt/theme/theme1.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akiet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4922</TotalTime>
  <Words>6259</Words>
  <Application>Microsoft Office PowerPoint</Application>
  <PresentationFormat>Panoramiczny</PresentationFormat>
  <Paragraphs>387</Paragraphs>
  <Slides>34</Slides>
  <Notes>0</Notes>
  <HiddenSlides>0</HiddenSlides>
  <MMClips>0</MMClips>
  <ScaleCrop>false</ScaleCrop>
  <HeadingPairs>
    <vt:vector size="6" baseType="variant">
      <vt:variant>
        <vt:lpstr>Używane czcionki</vt:lpstr>
      </vt:variant>
      <vt:variant>
        <vt:i4>6</vt:i4>
      </vt:variant>
      <vt:variant>
        <vt:lpstr>Motyw</vt:lpstr>
      </vt:variant>
      <vt:variant>
        <vt:i4>1</vt:i4>
      </vt:variant>
      <vt:variant>
        <vt:lpstr>Tytuły slajdów</vt:lpstr>
      </vt:variant>
      <vt:variant>
        <vt:i4>34</vt:i4>
      </vt:variant>
    </vt:vector>
  </HeadingPairs>
  <TitlesOfParts>
    <vt:vector size="41" baseType="lpstr">
      <vt:lpstr>Arial</vt:lpstr>
      <vt:lpstr>Calibri</vt:lpstr>
      <vt:lpstr>Calibri Light</vt:lpstr>
      <vt:lpstr>Courier New</vt:lpstr>
      <vt:lpstr>Google Sans</vt:lpstr>
      <vt:lpstr>Google Sans Text</vt:lpstr>
      <vt:lpstr>Motyw pakietu Office</vt:lpstr>
      <vt:lpstr>AIDA – AI-Driven Analyzer   Alternative titles: LORA – LLM-Orchestrated Research Agent ALOHA - Autonomous LRM-Orchestrated Heuristic Analyzer DUMBASS – Data Understanding &amp; Modeling By Autonomous Script Synthesizer LOOPER – LRM-Orchestrated Pipeline Execution and Refinement TIDAL-WAVE - The Iterative Data Analysis Workflow with Automated Validation &amp; Evaluation STUPID – Self-Tuning Unsupervised Pipeline with Iterative Decisions CRINGE – Contextual Reasoning for Iterative Next-step Generation and Evaluation</vt:lpstr>
      <vt:lpstr>Agenda</vt:lpstr>
      <vt:lpstr>Main idea</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Prezentacja programu PowerPoint</dc:title>
  <dc:creator>jacek.wodecki@pwr.edu.pl</dc:creator>
  <cp:lastModifiedBy>jacek.wodecki@pwr.edu.pl</cp:lastModifiedBy>
  <cp:revision>293</cp:revision>
  <dcterms:created xsi:type="dcterms:W3CDTF">2025-06-09T20:50:35Z</dcterms:created>
  <dcterms:modified xsi:type="dcterms:W3CDTF">2025-07-29T12:58:55Z</dcterms:modified>
</cp:coreProperties>
</file>